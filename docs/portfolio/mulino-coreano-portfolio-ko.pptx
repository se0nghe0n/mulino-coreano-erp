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7c2cc8cd06845d5" /><Relationship Type="http://schemas.openxmlformats.org/officeDocument/2006/relationships/extended-properties" Target="/docProps/app.xml" Id="Rcd6d5dd1ca7e400c" /><Relationship Type="http://schemas.openxmlformats.org/officeDocument/2006/relationships/officeDocument" Target="/ppt/presentation.xml" Id="Rf3fb4a8ad43e43d4" /></Relationships>
</file>

<file path=ppt/presentation.xml><?xml version="1.0" encoding="utf-8"?>
<p:presentation xmlns:p="http://schemas.openxmlformats.org/presentationml/2006/main">
  <p:sldMasterIdLst>
    <p:sldMasterId xmlns:r="http://schemas.openxmlformats.org/officeDocument/2006/relationships" id="2147483648" r:id="R43a872d2731a4ff9"/>
  </p:sldMasterIdLst>
  <p:notesMasterIdLst>
    <p:notesMasterId xmlns:r="http://schemas.openxmlformats.org/officeDocument/2006/relationships" r:id="R5306ee921b094eb6"/>
  </p:notesMasterIdLst>
  <p:sldIdLst>
    <p:sldId xmlns:r="http://schemas.openxmlformats.org/officeDocument/2006/relationships" id="256" r:id="Ra8335e60e58740a2"/>
    <p:sldId xmlns:r="http://schemas.openxmlformats.org/officeDocument/2006/relationships" id="257" r:id="Rc52aee1918e349be"/>
    <p:sldId xmlns:r="http://schemas.openxmlformats.org/officeDocument/2006/relationships" id="258" r:id="R242709a248f248ba"/>
    <p:sldId xmlns:r="http://schemas.openxmlformats.org/officeDocument/2006/relationships" id="259" r:id="R806b9504bc1b4a83"/>
    <p:sldId xmlns:r="http://schemas.openxmlformats.org/officeDocument/2006/relationships" id="260" r:id="R831b208115734db8"/>
    <p:sldId xmlns:r="http://schemas.openxmlformats.org/officeDocument/2006/relationships" id="261" r:id="R4c70e7aa67b64b9c"/>
    <p:sldId xmlns:r="http://schemas.openxmlformats.org/officeDocument/2006/relationships" id="262" r:id="R5ae255de49564c62"/>
    <p:sldId xmlns:r="http://schemas.openxmlformats.org/officeDocument/2006/relationships" id="263" r:id="Rff6ba0ebea524d7d"/>
    <p:sldId xmlns:r="http://schemas.openxmlformats.org/officeDocument/2006/relationships" id="264" r:id="Rddc72d8aed3b404f"/>
    <p:sldId xmlns:r="http://schemas.openxmlformats.org/officeDocument/2006/relationships" id="265" r:id="R2225d18a50304b51"/>
    <p:sldId xmlns:r="http://schemas.openxmlformats.org/officeDocument/2006/relationships" id="266" r:id="R0ebf1e0bc29545d0"/>
    <p:sldId xmlns:r="http://schemas.openxmlformats.org/officeDocument/2006/relationships" id="267" r:id="R8eac31e9d5904b9c"/>
    <p:sldId xmlns:r="http://schemas.openxmlformats.org/officeDocument/2006/relationships" id="268" r:id="R0ab59e605f7c4aa8"/>
    <p:sldId xmlns:r="http://schemas.openxmlformats.org/officeDocument/2006/relationships" id="269" r:id="Ra63f2d94e6724be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130804f3d24407a" /><Relationship Type="http://schemas.openxmlformats.org/officeDocument/2006/relationships/slideMaster" Target="/ppt/slideMasters/slideMaster1.xml" Id="R43a872d2731a4ff9" /><Relationship Type="http://schemas.openxmlformats.org/officeDocument/2006/relationships/notesMaster" Target="/ppt/notesMasters/notesMaster1.xml" Id="R5306ee921b094eb6" /><Relationship Type="http://schemas.openxmlformats.org/officeDocument/2006/relationships/presProps" Target="/ppt/presProps.xml" Id="Re3d648e336f143dd" /><Relationship Type="http://schemas.openxmlformats.org/officeDocument/2006/relationships/tableStyles" Target="/ppt/tableStyles.xml" Id="Rf51fe4beaaec4d43" /><Relationship Type="http://schemas.openxmlformats.org/officeDocument/2006/relationships/slide" Target="/ppt/slides/slide1.xml" Id="Ra8335e60e58740a2" /><Relationship Type="http://schemas.openxmlformats.org/officeDocument/2006/relationships/slide" Target="/ppt/slides/slide2.xml" Id="Rc52aee1918e349be" /><Relationship Type="http://schemas.openxmlformats.org/officeDocument/2006/relationships/slide" Target="/ppt/slides/slide3.xml" Id="R242709a248f248ba" /><Relationship Type="http://schemas.openxmlformats.org/officeDocument/2006/relationships/slide" Target="/ppt/slides/slide4.xml" Id="R806b9504bc1b4a83" /><Relationship Type="http://schemas.openxmlformats.org/officeDocument/2006/relationships/slide" Target="/ppt/slides/slide5.xml" Id="R831b208115734db8" /><Relationship Type="http://schemas.openxmlformats.org/officeDocument/2006/relationships/slide" Target="/ppt/slides/slide6.xml" Id="R4c70e7aa67b64b9c" /><Relationship Type="http://schemas.openxmlformats.org/officeDocument/2006/relationships/slide" Target="/ppt/slides/slide7.xml" Id="R5ae255de49564c62" /><Relationship Type="http://schemas.openxmlformats.org/officeDocument/2006/relationships/slide" Target="/ppt/slides/slide8.xml" Id="Rff6ba0ebea524d7d" /><Relationship Type="http://schemas.openxmlformats.org/officeDocument/2006/relationships/slide" Target="/ppt/slides/slide9.xml" Id="Rddc72d8aed3b404f" /><Relationship Type="http://schemas.openxmlformats.org/officeDocument/2006/relationships/slide" Target="/ppt/slides/slide10.xml" Id="R2225d18a50304b51" /><Relationship Type="http://schemas.openxmlformats.org/officeDocument/2006/relationships/slide" Target="/ppt/slides/slide11.xml" Id="R0ebf1e0bc29545d0" /><Relationship Type="http://schemas.openxmlformats.org/officeDocument/2006/relationships/slide" Target="/ppt/slides/slide12.xml" Id="R8eac31e9d5904b9c" /><Relationship Type="http://schemas.openxmlformats.org/officeDocument/2006/relationships/slide" Target="/ppt/slides/slide13.xml" Id="R0ab59e605f7c4aa8" /><Relationship Type="http://schemas.openxmlformats.org/officeDocument/2006/relationships/slide" Target="/ppt/slides/slide14.xml" Id="Ra63f2d94e6724be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d7d9a02375840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569410346d34a8a" /><Relationship Type="http://schemas.openxmlformats.org/officeDocument/2006/relationships/notesMaster" Target="/ppt/notesMasters/notesMaster1.xml" Id="Ra7168d3d9d3841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c768049423ef4a37" /><Relationship Type="http://schemas.openxmlformats.org/officeDocument/2006/relationships/notesMaster" Target="/ppt/notesMasters/notesMaster1.xml" Id="Re833a3714475432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9b0c131bae04d62" /><Relationship Type="http://schemas.openxmlformats.org/officeDocument/2006/relationships/notesMaster" Target="/ppt/notesMasters/notesMaster1.xml" Id="Rd1fe5a92eba340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1c74ffa1c0394c5e" /><Relationship Type="http://schemas.openxmlformats.org/officeDocument/2006/relationships/notesMaster" Target="/ppt/notesMasters/notesMaster1.xml" Id="R32ce0a83421a4d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8d2ac7d0a4944fdd" /><Relationship Type="http://schemas.openxmlformats.org/officeDocument/2006/relationships/notesMaster" Target="/ppt/notesMasters/notesMaster1.xml" Id="Re9044d6b17964ac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d4f612f124e4e6d" /><Relationship Type="http://schemas.openxmlformats.org/officeDocument/2006/relationships/notesMaster" Target="/ppt/notesMasters/notesMaster1.xml" Id="R12e2e2048ed743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dc07b0958b443f" /><Relationship Type="http://schemas.openxmlformats.org/officeDocument/2006/relationships/notesMaster" Target="/ppt/notesMasters/notesMaster1.xml" Id="R693138e3f21946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36bddde61d4eb3" /><Relationship Type="http://schemas.openxmlformats.org/officeDocument/2006/relationships/notesMaster" Target="/ppt/notesMasters/notesMaster1.xml" Id="R4dcc357fb0c045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16e01a56ca9347a0" /><Relationship Type="http://schemas.openxmlformats.org/officeDocument/2006/relationships/notesMaster" Target="/ppt/notesMasters/notesMaster1.xml" Id="R81241bfedead471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7ebc1d376354f0b" /><Relationship Type="http://schemas.openxmlformats.org/officeDocument/2006/relationships/notesMaster" Target="/ppt/notesMasters/notesMaster1.xml" Id="R8750ff306f3f4bf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75209381af844c8" /><Relationship Type="http://schemas.openxmlformats.org/officeDocument/2006/relationships/notesMaster" Target="/ppt/notesMasters/notesMaster1.xml" Id="R9592b161168b4d1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57baaa2f2544bcd" /><Relationship Type="http://schemas.openxmlformats.org/officeDocument/2006/relationships/notesMaster" Target="/ppt/notesMasters/notesMaster1.xml" Id="R44ee249c5cd6463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681a4f94f8e4eb3" /><Relationship Type="http://schemas.openxmlformats.org/officeDocument/2006/relationships/notesMaster" Target="/ppt/notesMasters/notesMaster1.xml" Id="Rc0abfd0e2262445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243ea102ec64441" /><Relationship Type="http://schemas.openxmlformats.org/officeDocument/2006/relationships/notesMaster" Target="/ppt/notesMasters/notesMaster1.xml" Id="R36ac81165d5244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가상 식품 제조 ERP 포트폴리오. 실제 Mulino Bianco 프로젝트나 SAP 제품 구현이 아니다. 기본 독자는 SAP/ERP 면접 평가자, 발표 시간은 10–15분이다. 2026-10-06 source 0132e0a. 출처: README.md, docs/portfolio/evidence.json.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원래 비교표는 설계 가정이다. 법적 적합성 인증을 주장하지 않는다. 22개 allergen master를 19개 법정군으로 매핑한다. 필수 인증서 유형 전체와 자동 30일 알림 갭은 미등록 이슈 대기 상태다. 실제 MFDS 전송·법정 양식 검증은 수행하지 않았다. 출처: https://github.com/se0nghe0n/mulino-coreano-erp/blob/0132e0a62ad9f086e5c70c5c857d4546f5921ef9/README.md, https://github.com/se0nghe0n/mulino-coreano-erp/blob/0132e0a62ad9f086e5c70c5c857d4546f5921ef9/database/seed/allergens.sql, docs/16_decisions.md.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SAP 업무 개념과 가상 ERP 테이블의 대응이다. 실제 SAP 연동, SAP 표준 전체 기능 구현, FI 전표 처리를 주장하지 않는다. 출처: https://github.com/se0nghe0n/mulino-coreano-erp/blob/0132e0a62ad9f086e5c70c5c857d4546f5921ef9/README.md, https://github.com/se0nghe0n/mulino-coreano-erp/blob/0132e0a62ad9f086e5c70c5c857d4546f5921ef9/docs/01_project_overview.txt, https://github.com/se0nghe0n/mulino-coreano-erp/blob/0132e0a62ad9f086e5c70c5c857d4546f5921ef9/docs/03_erd.md.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baseline 0132e0a62ad9f086e5c70c5c857d4546f5921ef9. DDL 61개 CREATE TABLE: 원래 ERP 30 + interface 13 + 후속 18. 별도 governance/는 scaffold이며 승인 게이트는 backend에 구현한다. MONITOR reads는 ERP 승인 없이 진행하되 채널 인증과 Case scope를 적용한다. 공유 local role/key는 개인별 운영 IAM이 아니다. #36 결정은 #24/#25 current UAT와 #35 client 인수 전까지 설계 판단이다. 출처: docs/16_decisions.md, https://github.com/se0nghe0n/mulino-coreano-erp/blob/0132e0a62ad9f086e5c70c5c857d4546f5921ef9/mcp-server/src/tools.js, https://github.com/se0nghe0n/mulino-coreano-erp/blob/0132e0a62ad9f086e5c70c5c857d4546f5921ef9/backend/src/main/java/com/mulinocoreano/backend/security/LocalSecurityConfiguration.java, https://github.com/se0nghe0n/mulino-coreano-erp/blob/0132e0a62ad9f086e5c70c5c857d4546f5921ef9/agents/cli/README.md.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요청한 편집 가능한 업무 흐름도. Case·Work Item·Run을 별도로 영속화하며 대기 중 모델을 유지하지 않는다. 승인 이벤트 payload 자체를 권위로 믿지 않고 DB 인간 결정과 scope를 재검증한다. 조회에 ERP approval은 요구하지 않지만 local 인증과 scope를 적용한다. 출처: https://github.com/se0nghe0n/mulino-coreano-erp/blob/0132e0a62ad9f086e5c70c5c857d4546f5921ef9/docs/08_interface_overview.md, https://github.com/se0nghe0n/mulino-coreano-erp/blob/0132e0a62ad9f086e5c70c5c857d4546f5921ef9/docs/14_human_purchase_api.md, https://github.com/se0nghe0n/mulino-coreano-erp/blob/0132e0a62ad9f086e5c70c5c857d4546f5921ef9/docs/14_cli_and_runtime.md.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d7ce2d8의 #34 demo 5/5 기록. 최신 Supplier 통합 SIT의 P2P 6개와 별도 증거다. 실제 human stdio MCP, scripted agent와 현재 native UAT를 혼동하지 않는다. 출처: docs/reviews/2026-10-05-purchase-acceptance.md, docs/15_demo_runbook.md, docs/16_scenario_tests.md, https://github.com/se0nghe0n/mulino-coreano-erp/blob/0132e0a62ad9f086e5c70c5c857d4546f5921ef9/docs/14_human_purchase_api.md.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scripted SIT QM 6건: 승인·반려·잘못된 역할·인증서/알레르겐·온도/Case 경계를 실제 business state로 확인한다. canonical 22 master / 19 legal categories. Certificate all-required-type and automatic 30-day notices remain gap; don't claim Goal6 complete. 출처: https://github.com/se0nghe0n/mulino-coreano-erp/blob/0132e0a62ad9f086e5c70c5c857d4546f5921ef9/docs/18_inbound_quality_api.md, https://github.com/se0nghe0n/mulino-coreano-erp/blob/0132e0a62ad9f086e5c70c5c857d4546f5921ef9/backend/src/test/resources/scenarios/qm-inbound-inspection.feature, https://github.com/se0nghe0n/mulino-coreano-erp/blob/0132e0a62ad9f086e5c70c5c857d4546f5921ef9/database/seed/allergens.sql.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JAR proof, source 5911721de4cfb53fa65fc82518df326bd9c49a3a, JAR SHA b0dd6ea0f3c9ebfd1af635fa795b1d4852ef0700e7b770a9b0ea286a687a4b11. 실제 trace: production LOT 10, incident roots 2, evidence raw LOT 3, customer 2, outbound shipments 115. Third raw lot is traced evidence, not third incident root. Unrelated production LOT stays active. Approval replay stable. Report PENDING/OFFLINE with submittedAt null, no MFDS transmission. 출처: https://github.com/se0nghe0n/mulino-coreano-erp/blob/5911721de4cfb53fa65fc82518df326bd9c49a3a/docs/02_flow.md, https://github.com/se0nghe0n/mulino-coreano-erp/blob/5911721de4cfb53fa65fc82518df326bd9c49a3a/database/ddl/22_recall_trace.sql, evidence.json의 recall 및 ownerReport provenance.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0ee144c08a941c679cedcca92b821ed992398c85, JAR SHA 6a59edb9a6801720f6018c49bf7e32af65b7f45e6da2a1e50a26b73e87c9602a. current JAR + Zig CLI + SDK human stdio proof: source 3, judgment 7, ERP writes 0. Support relation does not verify. Human explicit attestation sets VERIFIED; new link/correction stales judgment, history append-only. Explicit successor keeps original conflicted claim. 출처: https://github.com/se0nghe0n/mulino-coreano-erp/blob/0ee144c08a941c679cedcca92b821ed992398c85/docs/19_evidence_claim_api.md, 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0132e0a62ad9f086e5c70c5c857d4546f5921ef9, JAR SHA 4cc3ed1977f72538b51e025b09937f4b122a19e6305f4d0f5a939d82cfbb3369. Current built JAR CRUD5/Swagger5, auditCount 3, canonicalReplay, version SUP002, missing SUP001, human-role checks. Soft delete preserves planning references/history; backend immutable audit. Fresh DDL/Flyway structural match 756 constraints /124 triggers. 출처: https://github.com/se0nghe0n/mulino-coreano-erp/blob/0132e0a62ad9f086e5c70c5c857d4546f5921ef9/docs/21_supplier_master_api.md, https://github.com/se0nghe0n/mulino-coreano-erp/blob/0132e0a62ad9f086e5c70c5c857d4546f5921ef9/database/ddl/24_supplier_master.sql, evidence.json의 supplier.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검증량은 업무 인수/규제 완전성을 뜻하지 않는다. Supplier 567 discovered -18 scenario discovery skips =549 executable passed, failures0 errors0. SIT current20=P2P6+QM6+RC6+restart2. Separate #44 source tooling checks: MCP26 runner57 Zig7 CLI smoke32. Native model acceptance separate. 출처: evidence.json 및 해시로 식별한 supplier/final-report.json, evidence/result.json. 원본 전체 로그는 coordinator 비공개 인수 bundle에 보존한다.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과거 2026-10-03 source cb04403 actual Claude UAT3 pass. 최신 source 0132e0a에 대한 5개 native UAT는 작성 시점에 진행 중. 비용과 token 모르면 null/unknown 유지. #35 actual client pending. 최신 기록은 coordinator 통합 시 docs15/16/17에 추가한다. 출처: docs/14_cli_and_runtime.md, docs/16_scenario_tests.md, docs/17_test_classification.md, evidence.json의 nativeUat.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명시한 limits는 source의 의미를 바꾸는 material caveats다. 범위 제외: OAuth and dedicated dashboard. No planned future OAuth promise. Local role/key not individual production IAM. Goal6 gap not issue implemented. MFDS no transmission/form validation. #35 current pending. 출처: docs/16_decisions.md, docs/portfolio/README.md, 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10–15분 발표 제안. 구매에서 원료 품질과 추적을 연결하고 마지막에 증거/monitor로 같은Case responsibility를 보여준다. 실제 명령과 고정 business clock은 docs15/16, 분류 docs17. Current native UAT in flight; integration gate owned by coordinator. 출처: docs/15_demo_runbook.md, docs/16_scenario_tests.md, docs/17_test_classification.md, docs/portfolio/README.md. 발표 목적은 한국 현지화/인간 승인/지속 Case의 설계와 실제 local proof를 설명하는 것이다.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c8ae88ab1774f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acd2ef350bc4838" /><Relationship Type="http://schemas.openxmlformats.org/officeDocument/2006/relationships/slideLayout" Target="/ppt/slideLayouts/slideLayout1.xml" Id="R55b7070ad0464b3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b7070ad0464b3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237cb4464c44922" /><Relationship Type="http://schemas.openxmlformats.org/officeDocument/2006/relationships/notesSlide" Target="/ppt/notesSlides/notesSlide1.xml" Id="R2f721ae82a134b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57026b9f6cd486c" /><Relationship Type="http://schemas.openxmlformats.org/officeDocument/2006/relationships/notesSlide" Target="/ppt/notesSlides/notesSlide2.xml" Id="R6250166fcaae405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4ae5f89dcdc4157" /><Relationship Type="http://schemas.openxmlformats.org/officeDocument/2006/relationships/notesSlide" Target="/ppt/notesSlides/notesSlide3.xml" Id="Ra5dcfad6c5a54a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b771ef31ca34d9a" /><Relationship Type="http://schemas.openxmlformats.org/officeDocument/2006/relationships/notesSlide" Target="/ppt/notesSlides/notesSlide4.xml" Id="Radad350067bb4e7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b1d5ff411bc452a" /><Relationship Type="http://schemas.openxmlformats.org/officeDocument/2006/relationships/notesSlide" Target="/ppt/notesSlides/notesSlide5.xml" Id="R86a43359621a48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9c25b68d5944b3b" /><Relationship Type="http://schemas.openxmlformats.org/officeDocument/2006/relationships/notesSlide" Target="/ppt/notesSlides/notesSlide6.xml" Id="R2850aed9d1d14d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65f3098613a4768" /><Relationship Type="http://schemas.openxmlformats.org/officeDocument/2006/relationships/notesSlide" Target="/ppt/notesSlides/notesSlide7.xml" Id="R8d1cb0258677453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aa7d7d90fb84fce" /><Relationship Type="http://schemas.openxmlformats.org/officeDocument/2006/relationships/notesSlide" Target="/ppt/notesSlides/notesSlide8.xml" Id="R1e12371a609947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40d8c883006464b" /><Relationship Type="http://schemas.openxmlformats.org/officeDocument/2006/relationships/notesSlide" Target="/ppt/notesSlides/notesSlide9.xml" Id="Rcb4259e3296c40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a80a674f0d04cc7" /><Relationship Type="http://schemas.openxmlformats.org/officeDocument/2006/relationships/notesSlide" Target="/ppt/notesSlides/notesSlide10.xml" Id="Re63af44b316b499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851f51cfbae45ae" /><Relationship Type="http://schemas.openxmlformats.org/officeDocument/2006/relationships/chart" Target="/ppt/slides/charts/chart1.xml" Id="R9f3a6447f70146b9" /><Relationship Type="http://schemas.openxmlformats.org/officeDocument/2006/relationships/notesSlide" Target="/ppt/notesSlides/notesSlide11.xml" Id="Rcdd5c003e907440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aa7f37828da4456" /><Relationship Type="http://schemas.openxmlformats.org/officeDocument/2006/relationships/notesSlide" Target="/ppt/notesSlides/notesSlide12.xml" Id="Rd20f3d33621147e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d2d3ef9249e4a97" /><Relationship Type="http://schemas.openxmlformats.org/officeDocument/2006/relationships/notesSlide" Target="/ppt/notesSlides/notesSlide13.xml" Id="Ree8a30511593474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3574994def04322" /><Relationship Type="http://schemas.openxmlformats.org/officeDocument/2006/relationships/notesSlide" Target="/ppt/notesSlides/notesSlide14.xml" Id="Rb78a60f3bfa043e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scripted SIT 통과</c:v>
          </c:tx>
          <c:spPr>
            <a:solidFill xmlns:a="http://schemas.openxmlformats.org/drawingml/2006/main">
              <a:srgbClr val="176957"/>
            </a:solidFill>
          </c:spPr>
          <c:cat>
            <c:strRef>
              <c:f>'Chart Data'!$A$2:$A$5</c:f>
              <c:strCache>
                <c:ptCount val="4"/>
                <c:pt idx="0">
                  <c:v>P2P</c:v>
                </c:pt>
                <c:pt idx="1">
                  <c:v>QM</c:v>
                </c:pt>
                <c:pt idx="2">
                  <c:v>RC</c:v>
                </c:pt>
                <c:pt idx="3">
                  <c:v>재시작</c:v>
                </c:pt>
              </c:strCache>
            </c:strRef>
          </c:cat>
          <c:val>
            <c:numRef>
              <c:f>'Chart Data'!$B$2:$B$5</c:f>
              <c:numCache>
                <c:formatCode>0</c:formatCode>
                <c:ptCount val="4"/>
                <c:pt idx="0">
                  <c:v>6</c:v>
                </c:pt>
                <c:pt idx="1">
                  <c:v>6</c:v>
                </c:pt>
                <c:pt idx="2">
                  <c:v>6</c:v>
                </c:pt>
                <c:pt idx="3">
                  <c:v>2</c:v>
                </c:pt>
              </c:numCache>
            </c:numRef>
          </c:val>
        </c:ser>
        <c:dLbls>
          <c:txPr>
            <a:bodyPr xmlns:a="http://schemas.openxmlformats.org/drawingml/2006/main" anchorCtr="1"/>
            <a:lstStyle xmlns:a="http://schemas.openxmlformats.org/drawingml/2006/main"/>
            <a:p xmlns:a="http://schemas.openxmlformats.org/drawingml/2006/main">
              <a:pPr>
                <a:defRPr sz="1800">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pple SD Gothic Neo"/>
                <a:ea typeface="Apple SD Gothic Neo"/>
                <a:cs typeface="Apple SD Gothic Neo"/>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pple SD Gothic Neo"/>
                <a:ea typeface="Apple SD Gothic Neo"/>
                <a:cs typeface="Apple SD Gothic Neo"/>
              </a:defRPr>
            </a:pPr>
          </a:p>
        </c:txPr>
        <c:crossAx val="48650112"/>
        <c:crossBetween val="between"/>
        <c:majorUnit val="2"/>
      </c:valAx>
      <c:spPr>
        <a:solidFill xmlns:a="http://schemas.openxmlformats.org/drawingml/2006/main">
          <a:srgbClr val="FAFAF6"/>
        </a:solidFill>
      </c:spPr>
    </c:plotArea>
    <c:plotVisOnly val="1"/>
  </c:chart>
  <c:spPr>
    <a:solidFill xmlns:a="http://schemas.openxmlformats.org/drawingml/2006/main">
      <a:srgbClr val="FAFAF6"/>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6B217DD-6D33-4F71-AB22-E5A5A5260F93}"/>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MULINO COREANO</a:t>
            </a:r>
          </a:p>
        </p:txBody>
      </p:sp>
      <p:sp>
        <p:nvSpPr>
          <p:cNvPr id="2" name="">
            <a:extLst xmlns:a="http://schemas.openxmlformats.org/drawingml/2006/main">
              <a:ext uri="{FF2B5EF4-FFF2-40B4-BE49-F238E27FC236}">
                <a16:creationId xmlns:a16="http://schemas.microsoft.com/office/drawing/2014/main" id="{2CBACB05-3817-4DBE-8B39-5B405CC8C561}"/>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01</a:t>
            </a:r>
          </a:p>
        </p:txBody>
      </p:sp>
      <p:sp>
        <p:nvSpPr>
          <p:cNvPr id="3" name="">
            <a:extLst xmlns:a="http://schemas.openxmlformats.org/drawingml/2006/main">
              <a:ext uri="{FF2B5EF4-FFF2-40B4-BE49-F238E27FC236}">
                <a16:creationId xmlns:a16="http://schemas.microsoft.com/office/drawing/2014/main" id="{5ACB0753-A267-47C6-BCBC-1BB9ABBAA023}"/>
              </a:ext>
            </a:extLst>
          </p:cNvPr>
          <p:cNvSpPr>
            <a:spLocks xmlns:a="http://schemas.openxmlformats.org/drawingml/2006/main" noGrp="1"/>
          </p:cNvSpPr>
          <p:nvPr/>
        </p:nvSpPr>
        <p:spPr>
          <a:xfrm xmlns:a="http://schemas.openxmlformats.org/drawingml/2006/main">
            <a:off x="685800" y="1733550"/>
            <a:ext cx="108204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142B2C"/>
                </a:solidFill>
                <a:latin typeface="Apple SD Gothic Neo"/>
                <a:ea typeface="Apple SD Gothic Neo"/>
                <a:cs typeface="Apple SD Gothic Neo"/>
              </a:defRPr>
            </a:pPr>
            <a:r>
              <a:rPr sz="4050" b="1">
                <a:solidFill>
                  <a:srgbClr val="142B2C"/>
                </a:solidFill>
                <a:latin typeface="Apple SD Gothic Neo"/>
                <a:ea typeface="Apple SD Gothic Neo"/>
                <a:cs typeface="Apple SD Gothic Neo"/>
              </a:rPr>
              <a:t>한국 진출을 가정한 식품 ERP와</a:t>
            </a:r>
          </a:p>
          <a:p xmlns:a="http://schemas.openxmlformats.org/drawingml/2006/main">
            <a:pPr>
              <a:defRPr sz="4050" b="1">
                <a:solidFill>
                  <a:srgbClr val="142B2C"/>
                </a:solidFill>
                <a:latin typeface="Apple SD Gothic Neo"/>
                <a:ea typeface="Apple SD Gothic Neo"/>
                <a:cs typeface="Apple SD Gothic Neo"/>
              </a:defRPr>
            </a:pPr>
            <a:r>
              <a:rPr sz="4050" b="1">
                <a:solidFill>
                  <a:srgbClr val="142B2C"/>
                </a:solidFill>
                <a:latin typeface="Apple SD Gothic Neo"/>
                <a:ea typeface="Apple SD Gothic Neo"/>
                <a:cs typeface="Apple SD Gothic Neo"/>
              </a:rPr>
              <a:t>인간 승인 기반 AI 업무 실행</a:t>
            </a:r>
          </a:p>
        </p:txBody>
      </p:sp>
      <p:sp>
        <p:nvSpPr>
          <p:cNvPr id="4" name="">
            <a:extLst xmlns:a="http://schemas.openxmlformats.org/drawingml/2006/main">
              <a:ext uri="{FF2B5EF4-FFF2-40B4-BE49-F238E27FC236}">
                <a16:creationId xmlns:a16="http://schemas.microsoft.com/office/drawing/2014/main" id="{878FF910-AFEB-4D11-865A-12A732EAB14B}"/>
              </a:ext>
            </a:extLst>
          </p:cNvPr>
          <p:cNvSpPr>
            <a:spLocks xmlns:a="http://schemas.openxmlformats.org/drawingml/2006/main" noGrp="1"/>
          </p:cNvSpPr>
          <p:nvPr/>
        </p:nvSpPr>
        <p:spPr>
          <a:xfrm xmlns:a="http://schemas.openxmlformats.org/drawingml/2006/main">
            <a:off x="685800" y="38385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6957"/>
                </a:solidFill>
                <a:latin typeface="Apple SD Gothic Neo"/>
                <a:ea typeface="Apple SD Gothic Neo"/>
                <a:cs typeface="Apple SD Gothic Neo"/>
              </a:defRPr>
            </a:pPr>
            <a:r>
              <a:rPr sz="2400" b="0">
                <a:solidFill>
                  <a:srgbClr val="176957"/>
                </a:solidFill>
                <a:latin typeface="Apple SD Gothic Neo"/>
                <a:ea typeface="Apple SD Gothic Neo"/>
                <a:cs typeface="Apple SD Gothic Neo"/>
              </a:rPr>
              <a:t>분석 · 설계 · 구현 · 검증</a:t>
            </a:r>
          </a:p>
        </p:txBody>
      </p:sp>
      <p:sp>
        <p:nvSpPr>
          <p:cNvPr id="5" name="">
            <a:extLst xmlns:a="http://schemas.openxmlformats.org/drawingml/2006/main">
              <a:ext uri="{FF2B5EF4-FFF2-40B4-BE49-F238E27FC236}">
                <a16:creationId xmlns:a16="http://schemas.microsoft.com/office/drawing/2014/main" id="{EBE6E9E1-9385-432F-9732-75E963669AEC}"/>
              </a:ext>
            </a:extLst>
          </p:cNvPr>
          <p:cNvSpPr>
            <a:spLocks xmlns:a="http://schemas.openxmlformats.org/drawingml/2006/main" noGrp="1"/>
          </p:cNvSpPr>
          <p:nvPr/>
        </p:nvSpPr>
        <p:spPr>
          <a:xfrm xmlns:a="http://schemas.openxmlformats.org/drawingml/2006/main">
            <a:off x="685800" y="4943475"/>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667"/>
                </a:solidFill>
                <a:latin typeface="Apple SD Gothic Neo"/>
                <a:ea typeface="Apple SD Gothic Neo"/>
                <a:cs typeface="Apple SD Gothic Neo"/>
              </a:defRPr>
            </a:pPr>
            <a:r>
              <a:rPr sz="2025" b="0">
                <a:solidFill>
                  <a:srgbClr val="526667"/>
                </a:solidFill>
                <a:latin typeface="Apple SD Gothic Neo"/>
                <a:ea typeface="Apple SD Gothic Neo"/>
                <a:cs typeface="Apple SD Gothic Neo"/>
              </a:rPr>
              <a:t>로컬 PoC  /  2026-10-06</a:t>
            </a:r>
          </a:p>
        </p:txBody>
      </p:sp>
    </p:spTree>
    <p:extLst>
      <p:ext uri="{BB962C8B-B14F-4D97-AF65-F5344CB8AC3E}">
        <p14:creationId xmlns:p14="http://schemas.microsoft.com/office/powerpoint/2010/main" val="207729975"/>
      </p:ext>
    </p:extLst>
  </p:cSld>
</p:sld>
</file>

<file path=ppt/slides/slide2.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7A1E066-22B0-4C23-B9BF-ADAD14F6475E}"/>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As-Is / To-Be: 한국 현지화</a:t>
            </a:r>
          </a:p>
        </p:txBody>
      </p:sp>
      <p:sp>
        <p:nvSpPr>
          <p:cNvPr id="2" name="">
            <a:extLst xmlns:a="http://schemas.openxmlformats.org/drawingml/2006/main">
              <a:ext uri="{FF2B5EF4-FFF2-40B4-BE49-F238E27FC236}">
                <a16:creationId xmlns:a16="http://schemas.microsoft.com/office/drawing/2014/main" id="{792ED277-CB23-4F8A-96CD-A8EB460E42E1}"/>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02</a:t>
            </a:r>
          </a:p>
        </p:txBody>
      </p:sp>
      <p:graphicFrame>
        <p:nvGraphicFramePr>
          <p:cNvPr id="7" name=""/>
          <p:cNvGraphicFramePr/>
          <p:nvPr/>
        </p:nvGraphicFramePr>
        <p:xfrm>
          <a:off xmlns:a="http://schemas.openxmlformats.org/drawingml/2006/main" x="685800" y="1381125"/>
          <a:ext xmlns:a="http://schemas.openxmlformats.org/drawingml/2006/main" cx="10820400" cy="4019550"/>
        </p:xfrm>
        <a:graphic xmlns:a="http://schemas.openxmlformats.org/drawingml/2006/main">
          <a:graphicData uri="http://schemas.openxmlformats.org/drawingml/2006/table">
            <a:tbl>
              <a:tblPr/>
              <a:tblGrid>
                <a:gridCol w="2190750"/>
                <a:gridCol w="3714750"/>
                <a:gridCol w="4914900"/>
              </a:tblGrid>
              <a:tr h="669925">
                <a:tc>
                  <a:txBody>
                    <a:bodyPr/>
                    <a:lstStyle/>
                    <a:p>
                      <a:r>
                        <a:rPr sz="1875" b="1">
                          <a:solidFill>
                            <a:srgbClr val="FFFFFF"/>
                          </a:solidFill>
                          <a:latin typeface="Apple SD Gothic Neo"/>
                          <a:ea typeface="Apple SD Gothic Neo"/>
                          <a:cs typeface="Apple SD Gothic Neo"/>
                        </a:rPr>
                        <a:t>설계 항목</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As-Is: EU 기준 가정</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To-Be: 한국 PoC</a:t>
                      </a:r>
                    </a:p>
                  </a:txBody>
                  <a:tcPr marL="91440" marR="91440" marT="45720" marB="45720">
                    <a:solidFill>
                      <a:srgbClr val="176957"/>
                    </a:solidFill>
                  </a:tcPr>
                </a:tc>
              </a:tr>
              <a:tr h="669925">
                <a:tc>
                  <a:txBody>
                    <a:bodyPr/>
                    <a:lstStyle/>
                    <a:p>
                      <a:r>
                        <a:rPr sz="1875" b="0">
                          <a:solidFill>
                            <a:srgbClr val="142B2C"/>
                          </a:solidFill>
                          <a:latin typeface="Apple SD Gothic Neo"/>
                          <a:ea typeface="Apple SD Gothic Neo"/>
                          <a:cs typeface="Apple SD Gothic Neo"/>
                        </a:rPr>
                        <a:t>알레르겐</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EU 14종 기준</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22개 master / 19개 법정군</a:t>
                      </a:r>
                    </a:p>
                  </a:txBody>
                  <a:tcPr marL="91440" marR="91440" marT="45720" marB="45720">
                    <a:solidFill>
                      <a:srgbClr val="FAFAF6"/>
                    </a:solidFill>
                  </a:tcPr>
                </a:tc>
              </a:tr>
              <a:tr h="669925">
                <a:tc>
                  <a:txBody>
                    <a:bodyPr/>
                    <a:lstStyle/>
                    <a:p>
                      <a:r>
                        <a:rPr sz="1875" b="0">
                          <a:solidFill>
                            <a:srgbClr val="142B2C"/>
                          </a:solidFill>
                          <a:latin typeface="Apple SD Gothic Neo"/>
                          <a:ea typeface="Apple SD Gothic Neo"/>
                          <a:cs typeface="Apple SD Gothic Neo"/>
                        </a:rPr>
                        <a:t>인증서</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HACCP / BRC / IFS</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HACCP / GMP / 이력추적등록</a:t>
                      </a:r>
                    </a:p>
                  </a:txBody>
                  <a:tcPr marL="91440" marR="91440" marT="45720" marB="45720">
                    <a:solidFill>
                      <a:srgbClr val="EAF0EA"/>
                    </a:solidFill>
                  </a:tcPr>
                </a:tc>
              </a:tr>
              <a:tr h="669925">
                <a:tc>
                  <a:txBody>
                    <a:bodyPr/>
                    <a:lstStyle/>
                    <a:p>
                      <a:r>
                        <a:rPr sz="1875" b="0">
                          <a:solidFill>
                            <a:srgbClr val="142B2C"/>
                          </a:solidFill>
                          <a:latin typeface="Apple SD Gothic Neo"/>
                          <a:ea typeface="Apple SD Gothic Neo"/>
                          <a:cs typeface="Apple SD Gothic Neo"/>
                        </a:rPr>
                        <a:t>리콜 보고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EU 기반 보고 절차</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즉시 보고용 OFFLINE 초안</a:t>
                      </a:r>
                    </a:p>
                  </a:txBody>
                  <a:tcPr marL="91440" marR="91440" marT="45720" marB="45720">
                    <a:solidFill>
                      <a:srgbClr val="FAFAF6"/>
                    </a:solidFill>
                  </a:tcPr>
                </a:tc>
              </a:tr>
              <a:tr h="669925">
                <a:tc>
                  <a:txBody>
                    <a:bodyPr/>
                    <a:lstStyle/>
                    <a:p>
                      <a:r>
                        <a:rPr sz="1875" b="0">
                          <a:solidFill>
                            <a:srgbClr val="142B2C"/>
                          </a:solidFill>
                          <a:latin typeface="Apple SD Gothic Neo"/>
                          <a:ea typeface="Apple SD Gothic Neo"/>
                          <a:cs typeface="Apple SD Gothic Neo"/>
                        </a:rPr>
                        <a:t>보관 정책</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EU 기반 보관 기간</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소비기한 + 2년 보관 모델</a:t>
                      </a:r>
                    </a:p>
                  </a:txBody>
                  <a:tcPr marL="91440" marR="91440" marT="45720" marB="45720">
                    <a:solidFill>
                      <a:srgbClr val="EAF0EA"/>
                    </a:solidFill>
                  </a:tcPr>
                </a:tc>
              </a:tr>
              <a:tr h="669925">
                <a:tc>
                  <a:txBody>
                    <a:bodyPr/>
                    <a:lstStyle/>
                    <a:p>
                      <a:r>
                        <a:rPr sz="1875" b="0">
                          <a:solidFill>
                            <a:srgbClr val="142B2C"/>
                          </a:solidFill>
                          <a:latin typeface="Apple SD Gothic Neo"/>
                          <a:ea typeface="Apple SD Gothic Neo"/>
                          <a:cs typeface="Apple SD Gothic Neo"/>
                        </a:rPr>
                        <a:t>세금계산서</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기존 EU 설계</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번호·날짜 컬럼</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791589FA-BB39-433A-94CC-C4263EC13893}"/>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규제 설계와 실제 신고·법적 적합성 검증은 별도다. 인증서 자동화 갭이 남아 있다.</a:t>
            </a:r>
          </a:p>
        </p:txBody>
      </p:sp>
    </p:spTree>
    <p:extLst>
      <p:ext uri="{BB962C8B-B14F-4D97-AF65-F5344CB8AC3E}">
        <p14:creationId xmlns:p14="http://schemas.microsoft.com/office/powerpoint/2010/main" val="934768137"/>
      </p:ext>
    </p:extLst>
  </p:cSld>
</p:sld>
</file>

<file path=ppt/slides/slide3.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E2B5AE9-529D-49D9-902F-EA9EB7834A73}"/>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SAP 모듈 대응</a:t>
            </a:r>
          </a:p>
        </p:txBody>
      </p:sp>
      <p:sp>
        <p:nvSpPr>
          <p:cNvPr id="2" name="">
            <a:extLst xmlns:a="http://schemas.openxmlformats.org/drawingml/2006/main">
              <a:ext uri="{FF2B5EF4-FFF2-40B4-BE49-F238E27FC236}">
                <a16:creationId xmlns:a16="http://schemas.microsoft.com/office/drawing/2014/main" id="{ADB747EA-479A-42BF-AA14-672945476F50}"/>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03</a:t>
            </a:r>
          </a:p>
        </p:txBody>
      </p:sp>
      <p:graphicFrame>
        <p:nvGraphicFramePr>
          <p:cNvPr id="7" name=""/>
          <p:cNvGraphicFramePr/>
          <p:nvPr/>
        </p:nvGraphicFramePr>
        <p:xfrm>
          <a:off xmlns:a="http://schemas.openxmlformats.org/drawingml/2006/main" x="685800" y="1381125"/>
          <a:ext xmlns:a="http://schemas.openxmlformats.org/drawingml/2006/main" cx="10820400" cy="4114800"/>
        </p:xfrm>
        <a:graphic xmlns:a="http://schemas.openxmlformats.org/drawingml/2006/main">
          <a:graphicData uri="http://schemas.openxmlformats.org/drawingml/2006/table">
            <a:tbl>
              <a:tblPr/>
              <a:tblGrid>
                <a:gridCol w="2095500"/>
                <a:gridCol w="3524250"/>
                <a:gridCol w="5200650"/>
              </a:tblGrid>
              <a:tr h="587829">
                <a:tc>
                  <a:txBody>
                    <a:bodyPr/>
                    <a:lstStyle/>
                    <a:p>
                      <a:r>
                        <a:rPr sz="1875" b="1">
                          <a:solidFill>
                            <a:srgbClr val="FFFFFF"/>
                          </a:solidFill>
                          <a:latin typeface="Apple SD Gothic Neo"/>
                          <a:ea typeface="Apple SD Gothic Neo"/>
                          <a:cs typeface="Apple SD Gothic Neo"/>
                        </a:rPr>
                        <a:t>업무</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SAP 개념</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구현 데이터·경계</a:t>
                      </a:r>
                    </a:p>
                  </a:txBody>
                  <a:tcPr marL="91440" marR="91440" marT="45720" marB="45720">
                    <a:solidFill>
                      <a:srgbClr val="176957"/>
                    </a:solidFill>
                  </a:tcPr>
                </a:tc>
              </a:tr>
              <a:tr h="587829">
                <a:tc>
                  <a:txBody>
                    <a:bodyPr/>
                    <a:lstStyle/>
                    <a:p>
                      <a:r>
                        <a:rPr sz="1875" b="0">
                          <a:solidFill>
                            <a:srgbClr val="142B2C"/>
                          </a:solidFill>
                          <a:latin typeface="Apple SD Gothic Neo"/>
                          <a:ea typeface="Apple SD Gothic Neo"/>
                          <a:cs typeface="Apple SD Gothic Neo"/>
                        </a:rPr>
                        <a:t>구매·입고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MM: ME21N / MIGO</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suppliers, purchase_orders, inbound</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창고·LOT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EWM / Batch Management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warehouses, stock, raw_material_lots</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생산·BOM</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PP</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production_lots, bom_versions</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수주·출고</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SD: VA01</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orders, outbound, outbound_lots</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품질·리콜</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QM</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inbound_inspections, recalls</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승인·감사</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GRC</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governance_actions, audit logs</a:t>
                      </a:r>
                    </a:p>
                  </a:txBody>
                  <a:tcPr marL="91440" marR="91440" marT="45720" marB="45720">
                    <a:solidFill>
                      <a:srgbClr val="EAF0EA"/>
                    </a:solidFill>
                  </a:tcPr>
                </a:tc>
              </a:tr>
            </a:tbl>
          </a:graphicData>
        </a:graphic>
      </p:graphicFrame>
      <p:sp>
        <p:nvSpPr>
          <p:cNvPr id="4" name="">
            <a:extLst xmlns:a="http://schemas.openxmlformats.org/drawingml/2006/main">
              <a:ext uri="{FF2B5EF4-FFF2-40B4-BE49-F238E27FC236}">
                <a16:creationId xmlns:a16="http://schemas.microsoft.com/office/drawing/2014/main" id="{500FB7A4-E827-4AF4-9F6C-E3EEE8871E00}"/>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SAP 모듈 개념을 설계에 대응했다. 실제 SAP 연동 및 전체 모듈 구현 범위는 아니다.</a:t>
            </a:r>
          </a:p>
        </p:txBody>
      </p:sp>
    </p:spTree>
    <p:extLst>
      <p:ext uri="{BB962C8B-B14F-4D97-AF65-F5344CB8AC3E}">
        <p14:creationId xmlns:p14="http://schemas.microsoft.com/office/powerpoint/2010/main" val="775929643"/>
      </p:ext>
    </p:extLst>
  </p:cSld>
</p:sld>
</file>

<file path=ppt/slides/slide4.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1E0A8B-21BD-4F45-A777-EDDF249513EA}"/>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구현 아키텍처와 MONITOR 표면</a:t>
            </a:r>
          </a:p>
        </p:txBody>
      </p:sp>
      <p:sp>
        <p:nvSpPr>
          <p:cNvPr id="2" name="">
            <a:extLst xmlns:a="http://schemas.openxmlformats.org/drawingml/2006/main">
              <a:ext uri="{FF2B5EF4-FFF2-40B4-BE49-F238E27FC236}">
                <a16:creationId xmlns:a16="http://schemas.microsoft.com/office/drawing/2014/main" id="{45B636D2-05A2-45B1-BCC5-D7C5B09B6CFC}"/>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04</a:t>
            </a:r>
          </a:p>
        </p:txBody>
      </p:sp>
      <p:sp>
        <p:nvSpPr>
          <p:cNvPr id="3" name="">
            <a:extLst xmlns:a="http://schemas.openxmlformats.org/drawingml/2006/main">
              <a:ext uri="{FF2B5EF4-FFF2-40B4-BE49-F238E27FC236}">
                <a16:creationId xmlns:a16="http://schemas.microsoft.com/office/drawing/2014/main" id="{1DF7D2F3-8AB4-4E09-9D04-03DC91D91971}"/>
              </a:ext>
            </a:extLst>
          </p:cNvPr>
          <p:cNvSpPr>
            <a:spLocks xmlns:a="http://schemas.openxmlformats.org/drawingml/2006/main" noGrp="1"/>
          </p:cNvSpPr>
          <p:nvPr/>
        </p:nvSpPr>
        <p:spPr>
          <a:xfrm xmlns:a="http://schemas.openxmlformats.org/drawingml/2006/main">
            <a:off x="68580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대화 MCP</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ASK / ACT / MONITOR</a:t>
            </a:r>
          </a:p>
        </p:txBody>
      </p:sp>
      <p:sp>
        <p:nvSpPr>
          <p:cNvPr id="4" name="">
            <a:extLst xmlns:a="http://schemas.openxmlformats.org/drawingml/2006/main">
              <a:ext uri="{FF2B5EF4-FFF2-40B4-BE49-F238E27FC236}">
                <a16:creationId xmlns:a16="http://schemas.microsoft.com/office/drawing/2014/main" id="{08150DA8-8BA7-47BA-BAE4-FAF2F5DDAD48}"/>
              </a:ext>
            </a:extLst>
          </p:cNvPr>
          <p:cNvSpPr>
            <a:spLocks xmlns:a="http://schemas.openxmlformats.org/drawingml/2006/main" noGrp="1"/>
          </p:cNvSpPr>
          <p:nvPr/>
        </p:nvSpPr>
        <p:spPr>
          <a:xfrm xmlns:a="http://schemas.openxmlformats.org/drawingml/2006/main">
            <a:off x="440055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native runner</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Claude Code / Codex</a:t>
            </a:r>
          </a:p>
        </p:txBody>
      </p:sp>
      <p:sp>
        <p:nvSpPr>
          <p:cNvPr id="5" name="">
            <a:extLst xmlns:a="http://schemas.openxmlformats.org/drawingml/2006/main">
              <a:ext uri="{FF2B5EF4-FFF2-40B4-BE49-F238E27FC236}">
                <a16:creationId xmlns:a16="http://schemas.microsoft.com/office/drawing/2014/main" id="{7CFD9AA4-441F-4CA1-86C9-8FA214B30EA8}"/>
              </a:ext>
            </a:extLst>
          </p:cNvPr>
          <p:cNvSpPr>
            <a:spLocks xmlns:a="http://schemas.openxmlformats.org/drawingml/2006/main" noGrp="1"/>
          </p:cNvSpPr>
          <p:nvPr/>
        </p:nvSpPr>
        <p:spPr>
          <a:xfrm xmlns:a="http://schemas.openxmlformats.org/drawingml/2006/main">
            <a:off x="811530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Zig CLI</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mulino</a:t>
            </a:r>
          </a:p>
        </p:txBody>
      </p:sp>
      <p:sp>
        <p:nvSpPr>
          <p:cNvPr id="6" name="">
            <a:extLst xmlns:a="http://schemas.openxmlformats.org/drawingml/2006/main">
              <a:ext uri="{FF2B5EF4-FFF2-40B4-BE49-F238E27FC236}">
                <a16:creationId xmlns:a16="http://schemas.microsoft.com/office/drawing/2014/main" id="{A584D320-9178-4524-BDF1-482A1E3EB89F}"/>
              </a:ext>
            </a:extLst>
          </p:cNvPr>
          <p:cNvSpPr>
            <a:spLocks xmlns:a="http://schemas.openxmlformats.org/drawingml/2006/main" noGrp="1"/>
          </p:cNvSpPr>
          <p:nvPr/>
        </p:nvSpPr>
        <p:spPr>
          <a:xfrm xmlns:a="http://schemas.openxmlformats.org/drawingml/2006/main">
            <a:off x="235267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7" name="">
            <a:extLst xmlns:a="http://schemas.openxmlformats.org/drawingml/2006/main">
              <a:ext uri="{FF2B5EF4-FFF2-40B4-BE49-F238E27FC236}">
                <a16:creationId xmlns:a16="http://schemas.microsoft.com/office/drawing/2014/main" id="{74A75959-91E6-4C3E-883B-2C9DF8DD3B4D}"/>
              </a:ext>
            </a:extLst>
          </p:cNvPr>
          <p:cNvSpPr>
            <a:spLocks xmlns:a="http://schemas.openxmlformats.org/drawingml/2006/main" noGrp="1"/>
          </p:cNvSpPr>
          <p:nvPr/>
        </p:nvSpPr>
        <p:spPr>
          <a:xfrm xmlns:a="http://schemas.openxmlformats.org/drawingml/2006/main">
            <a:off x="606742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8" name="">
            <a:extLst xmlns:a="http://schemas.openxmlformats.org/drawingml/2006/main">
              <a:ext uri="{FF2B5EF4-FFF2-40B4-BE49-F238E27FC236}">
                <a16:creationId xmlns:a16="http://schemas.microsoft.com/office/drawing/2014/main" id="{F1996565-2440-4D75-BFCE-337A6E8B96BF}"/>
              </a:ext>
            </a:extLst>
          </p:cNvPr>
          <p:cNvSpPr>
            <a:spLocks xmlns:a="http://schemas.openxmlformats.org/drawingml/2006/main" noGrp="1"/>
          </p:cNvSpPr>
          <p:nvPr/>
        </p:nvSpPr>
        <p:spPr>
          <a:xfrm xmlns:a="http://schemas.openxmlformats.org/drawingml/2006/main">
            <a:off x="978217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9" name="">
            <a:extLst xmlns:a="http://schemas.openxmlformats.org/drawingml/2006/main">
              <a:ext uri="{FF2B5EF4-FFF2-40B4-BE49-F238E27FC236}">
                <a16:creationId xmlns:a16="http://schemas.microsoft.com/office/drawing/2014/main" id="{79844184-B84B-4DBE-8155-1C2957F54BDC}"/>
              </a:ext>
            </a:extLst>
          </p:cNvPr>
          <p:cNvSpPr>
            <a:spLocks xmlns:a="http://schemas.openxmlformats.org/drawingml/2006/main" noGrp="1"/>
          </p:cNvSpPr>
          <p:nvPr/>
        </p:nvSpPr>
        <p:spPr>
          <a:xfrm xmlns:a="http://schemas.openxmlformats.org/drawingml/2006/main">
            <a:off x="685800" y="3048000"/>
            <a:ext cx="10763250" cy="828675"/>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L1  백엔드 도메인 승인·불변 감사</a:t>
            </a:r>
          </a:p>
        </p:txBody>
      </p:sp>
      <p:sp>
        <p:nvSpPr>
          <p:cNvPr id="10" name="">
            <a:extLst xmlns:a="http://schemas.openxmlformats.org/drawingml/2006/main">
              <a:ext uri="{FF2B5EF4-FFF2-40B4-BE49-F238E27FC236}">
                <a16:creationId xmlns:a16="http://schemas.microsoft.com/office/drawing/2014/main" id="{23A2FA32-2589-408D-B54F-E6F29A7635E6}"/>
              </a:ext>
            </a:extLst>
          </p:cNvPr>
          <p:cNvSpPr>
            <a:spLocks xmlns:a="http://schemas.openxmlformats.org/drawingml/2006/main" noGrp="1"/>
          </p:cNvSpPr>
          <p:nvPr/>
        </p:nvSpPr>
        <p:spPr>
          <a:xfrm xmlns:a="http://schemas.openxmlformats.org/drawingml/2006/main">
            <a:off x="6067425" y="3876675"/>
            <a:ext cx="0" cy="447675"/>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11" name="">
            <a:extLst xmlns:a="http://schemas.openxmlformats.org/drawingml/2006/main">
              <a:ext uri="{FF2B5EF4-FFF2-40B4-BE49-F238E27FC236}">
                <a16:creationId xmlns:a16="http://schemas.microsoft.com/office/drawing/2014/main" id="{A669C103-F3D6-4257-BDF2-D326AA7BB33A}"/>
              </a:ext>
            </a:extLst>
          </p:cNvPr>
          <p:cNvSpPr>
            <a:spLocks xmlns:a="http://schemas.openxmlformats.org/drawingml/2006/main" noGrp="1"/>
          </p:cNvSpPr>
          <p:nvPr/>
        </p:nvSpPr>
        <p:spPr>
          <a:xfrm xmlns:a="http://schemas.openxmlformats.org/drawingml/2006/main">
            <a:off x="685800" y="4324350"/>
            <a:ext cx="10763250" cy="828675"/>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L0  Spring Boot REST API · PostgreSQL 18 · 61개 테이블</a:t>
            </a:r>
          </a:p>
        </p:txBody>
      </p:sp>
      <p:sp>
        <p:nvSpPr>
          <p:cNvPr id="12" name="">
            <a:extLst xmlns:a="http://schemas.openxmlformats.org/drawingml/2006/main">
              <a:ext uri="{FF2B5EF4-FFF2-40B4-BE49-F238E27FC236}">
                <a16:creationId xmlns:a16="http://schemas.microsoft.com/office/drawing/2014/main" id="{F784AA92-055C-4F50-A6E6-EC7B478C12F8}"/>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L2는 동일 API를 호출한다. 전용 화면·OAuth 제외. 능동 알림·실제 클라이언트 인수는 남아 있다.</a:t>
            </a:r>
          </a:p>
        </p:txBody>
      </p:sp>
    </p:spTree>
    <p:extLst>
      <p:ext uri="{BB962C8B-B14F-4D97-AF65-F5344CB8AC3E}">
        <p14:creationId xmlns:p14="http://schemas.microsoft.com/office/powerpoint/2010/main" val="1307289512"/>
      </p:ext>
    </p:extLst>
  </p:cSld>
</p:sld>
</file>

<file path=ppt/slides/slide5.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99858B-2039-4C3C-8BE3-628FF32ECE85}"/>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지속하는 Case와 인간 승인</a:t>
            </a:r>
          </a:p>
        </p:txBody>
      </p:sp>
      <p:sp>
        <p:nvSpPr>
          <p:cNvPr id="2" name="">
            <a:extLst xmlns:a="http://schemas.openxmlformats.org/drawingml/2006/main">
              <a:ext uri="{FF2B5EF4-FFF2-40B4-BE49-F238E27FC236}">
                <a16:creationId xmlns:a16="http://schemas.microsoft.com/office/drawing/2014/main" id="{0A581BC5-97CE-4413-84CB-F14E865EDB2F}"/>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05</a:t>
            </a:r>
          </a:p>
        </p:txBody>
      </p:sp>
      <p:sp>
        <p:nvSpPr>
          <p:cNvPr id="3" name="">
            <a:extLst xmlns:a="http://schemas.openxmlformats.org/drawingml/2006/main">
              <a:ext uri="{FF2B5EF4-FFF2-40B4-BE49-F238E27FC236}">
                <a16:creationId xmlns:a16="http://schemas.microsoft.com/office/drawing/2014/main" id="{5348F13F-66CC-4DD2-8A58-D367F5DEE6B6}"/>
              </a:ext>
            </a:extLst>
          </p:cNvPr>
          <p:cNvSpPr>
            <a:spLocks xmlns:a="http://schemas.openxmlformats.org/drawingml/2006/main" noGrp="1"/>
          </p:cNvSpPr>
          <p:nvPr/>
        </p:nvSpPr>
        <p:spPr>
          <a:xfrm xmlns:a="http://schemas.openxmlformats.org/drawingml/2006/main">
            <a:off x="685800"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ACT 목표</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Case 생성</a:t>
            </a:r>
          </a:p>
        </p:txBody>
      </p:sp>
      <p:sp>
        <p:nvSpPr>
          <p:cNvPr id="4" name="">
            <a:extLst xmlns:a="http://schemas.openxmlformats.org/drawingml/2006/main">
              <a:ext uri="{FF2B5EF4-FFF2-40B4-BE49-F238E27FC236}">
                <a16:creationId xmlns:a16="http://schemas.microsoft.com/office/drawing/2014/main" id="{7FC50041-3407-4DB5-BED7-3E6B37FD5C52}"/>
              </a:ext>
            </a:extLst>
          </p:cNvPr>
          <p:cNvSpPr>
            <a:spLocks xmlns:a="http://schemas.openxmlformats.org/drawingml/2006/main" noGrp="1"/>
          </p:cNvSpPr>
          <p:nvPr/>
        </p:nvSpPr>
        <p:spPr>
          <a:xfrm xmlns:a="http://schemas.openxmlformats.org/drawingml/2006/main">
            <a:off x="3009900"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5" name="">
            <a:extLst xmlns:a="http://schemas.openxmlformats.org/drawingml/2006/main">
              <a:ext uri="{FF2B5EF4-FFF2-40B4-BE49-F238E27FC236}">
                <a16:creationId xmlns:a16="http://schemas.microsoft.com/office/drawing/2014/main" id="{FD220F1D-4F66-4B80-B674-375B302C1D8D}"/>
              </a:ext>
            </a:extLst>
          </p:cNvPr>
          <p:cNvSpPr>
            <a:spLocks xmlns:a="http://schemas.openxmlformats.org/drawingml/2006/main" noGrp="1"/>
          </p:cNvSpPr>
          <p:nvPr/>
        </p:nvSpPr>
        <p:spPr>
          <a:xfrm xmlns:a="http://schemas.openxmlformats.org/drawingml/2006/main">
            <a:off x="3476625"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담당 Work Item</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Run 실행</a:t>
            </a:r>
          </a:p>
        </p:txBody>
      </p:sp>
      <p:sp>
        <p:nvSpPr>
          <p:cNvPr id="6" name="">
            <a:extLst xmlns:a="http://schemas.openxmlformats.org/drawingml/2006/main">
              <a:ext uri="{FF2B5EF4-FFF2-40B4-BE49-F238E27FC236}">
                <a16:creationId xmlns:a16="http://schemas.microsoft.com/office/drawing/2014/main" id="{374BBD55-C7E8-427D-A9C8-FD05C3A44AA2}"/>
              </a:ext>
            </a:extLst>
          </p:cNvPr>
          <p:cNvSpPr>
            <a:spLocks xmlns:a="http://schemas.openxmlformats.org/drawingml/2006/main" noGrp="1"/>
          </p:cNvSpPr>
          <p:nvPr/>
        </p:nvSpPr>
        <p:spPr>
          <a:xfrm xmlns:a="http://schemas.openxmlformats.org/drawingml/2006/main">
            <a:off x="5800725"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7" name="">
            <a:extLst xmlns:a="http://schemas.openxmlformats.org/drawingml/2006/main">
              <a:ext uri="{FF2B5EF4-FFF2-40B4-BE49-F238E27FC236}">
                <a16:creationId xmlns:a16="http://schemas.microsoft.com/office/drawing/2014/main" id="{95AEF907-3C69-4B69-A217-AF8009C47070}"/>
              </a:ext>
            </a:extLst>
          </p:cNvPr>
          <p:cNvSpPr>
            <a:spLocks xmlns:a="http://schemas.openxmlformats.org/drawingml/2006/main" noGrp="1"/>
          </p:cNvSpPr>
          <p:nvPr/>
        </p:nvSpPr>
        <p:spPr>
          <a:xfrm xmlns:a="http://schemas.openxmlformats.org/drawingml/2006/main">
            <a:off x="6267450"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인간 판단 필요</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Attention 대기</a:t>
            </a:r>
          </a:p>
        </p:txBody>
      </p:sp>
      <p:sp>
        <p:nvSpPr>
          <p:cNvPr id="8" name="">
            <a:extLst xmlns:a="http://schemas.openxmlformats.org/drawingml/2006/main">
              <a:ext uri="{FF2B5EF4-FFF2-40B4-BE49-F238E27FC236}">
                <a16:creationId xmlns:a16="http://schemas.microsoft.com/office/drawing/2014/main" id="{CAA93B54-2E98-43CF-84FE-A572B32515AF}"/>
              </a:ext>
            </a:extLst>
          </p:cNvPr>
          <p:cNvSpPr>
            <a:spLocks xmlns:a="http://schemas.openxmlformats.org/drawingml/2006/main" noGrp="1"/>
          </p:cNvSpPr>
          <p:nvPr/>
        </p:nvSpPr>
        <p:spPr>
          <a:xfrm xmlns:a="http://schemas.openxmlformats.org/drawingml/2006/main">
            <a:off x="8591550"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9" name="">
            <a:extLst xmlns:a="http://schemas.openxmlformats.org/drawingml/2006/main">
              <a:ext uri="{FF2B5EF4-FFF2-40B4-BE49-F238E27FC236}">
                <a16:creationId xmlns:a16="http://schemas.microsoft.com/office/drawing/2014/main" id="{CE62DE45-632B-4CF7-8E8B-FBF28673DEA9}"/>
              </a:ext>
            </a:extLst>
          </p:cNvPr>
          <p:cNvSpPr>
            <a:spLocks xmlns:a="http://schemas.openxmlformats.org/drawingml/2006/main" noGrp="1"/>
          </p:cNvSpPr>
          <p:nvPr/>
        </p:nvSpPr>
        <p:spPr>
          <a:xfrm xmlns:a="http://schemas.openxmlformats.org/drawingml/2006/main">
            <a:off x="9058275"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답변·승인</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Event 기록</a:t>
            </a:r>
          </a:p>
        </p:txBody>
      </p:sp>
      <p:sp>
        <p:nvSpPr>
          <p:cNvPr id="10" name="">
            <a:extLst xmlns:a="http://schemas.openxmlformats.org/drawingml/2006/main">
              <a:ext uri="{FF2B5EF4-FFF2-40B4-BE49-F238E27FC236}">
                <a16:creationId xmlns:a16="http://schemas.microsoft.com/office/drawing/2014/main" id="{C8B0ECD5-AB4B-4196-AB28-3377679D49FF}"/>
              </a:ext>
            </a:extLst>
          </p:cNvPr>
          <p:cNvSpPr>
            <a:spLocks xmlns:a="http://schemas.openxmlformats.org/drawingml/2006/main" noGrp="1"/>
          </p:cNvSpPr>
          <p:nvPr/>
        </p:nvSpPr>
        <p:spPr>
          <a:xfrm xmlns:a="http://schemas.openxmlformats.org/drawingml/2006/main">
            <a:off x="685800" y="3267075"/>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42B2C"/>
                </a:solidFill>
                <a:latin typeface="Apple SD Gothic Neo"/>
                <a:ea typeface="Apple SD Gothic Neo"/>
                <a:cs typeface="Apple SD Gothic Neo"/>
              </a:defRPr>
            </a:pPr>
            <a:r>
              <a:rPr sz="2700" b="1">
                <a:solidFill>
                  <a:srgbClr val="142B2C"/>
                </a:solidFill>
                <a:latin typeface="Apple SD Gothic Neo"/>
                <a:ea typeface="Apple SD Gothic Neo"/>
                <a:cs typeface="Apple SD Gothic Neo"/>
              </a:rPr>
              <a:t>모델 실행은 종료해도 업무 책임과 재개 근거는 DB에 남는다</a:t>
            </a:r>
          </a:p>
        </p:txBody>
      </p:sp>
      <p:sp>
        <p:nvSpPr>
          <p:cNvPr id="11" name="">
            <a:extLst xmlns:a="http://schemas.openxmlformats.org/drawingml/2006/main">
              <a:ext uri="{FF2B5EF4-FFF2-40B4-BE49-F238E27FC236}">
                <a16:creationId xmlns:a16="http://schemas.microsoft.com/office/drawing/2014/main" id="{34789BC6-BC6D-4FA3-A996-6B0A8DFF3577}"/>
              </a:ext>
            </a:extLst>
          </p:cNvPr>
          <p:cNvSpPr>
            <a:spLocks xmlns:a="http://schemas.openxmlformats.org/drawingml/2006/main" noGrp="1"/>
          </p:cNvSpPr>
          <p:nvPr/>
        </p:nvSpPr>
        <p:spPr>
          <a:xfrm xmlns:a="http://schemas.openxmlformats.org/drawingml/2006/main">
            <a:off x="685800" y="4371975"/>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6957"/>
                </a:solidFill>
                <a:latin typeface="Apple SD Gothic Neo"/>
                <a:ea typeface="Apple SD Gothic Neo"/>
                <a:cs typeface="Apple SD Gothic Neo"/>
              </a:defRPr>
            </a:pPr>
            <a:r>
              <a:rPr sz="2250" b="0">
                <a:solidFill>
                  <a:srgbClr val="176957"/>
                </a:solidFill>
                <a:latin typeface="Apple SD Gothic Neo"/>
                <a:ea typeface="Apple SD Gothic Neo"/>
                <a:cs typeface="Apple SD Gothic Neo"/>
              </a:rPr>
              <a:t>구매 MANAGER   /   입고 QC   /   리콜 ADMIN</a:t>
            </a:r>
          </a:p>
        </p:txBody>
      </p:sp>
      <p:sp>
        <p:nvSpPr>
          <p:cNvPr id="12" name="">
            <a:extLst xmlns:a="http://schemas.openxmlformats.org/drawingml/2006/main">
              <a:ext uri="{FF2B5EF4-FFF2-40B4-BE49-F238E27FC236}">
                <a16:creationId xmlns:a16="http://schemas.microsoft.com/office/drawing/2014/main" id="{A045818F-9A44-4487-AC52-72263ABC7107}"/>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조회는 Case를 만들지 않는다. 승인·반려·멱등 replay의 결과를 ERP 상태로 검증한다.</a:t>
            </a:r>
          </a:p>
        </p:txBody>
      </p:sp>
    </p:spTree>
    <p:extLst>
      <p:ext uri="{BB962C8B-B14F-4D97-AF65-F5344CB8AC3E}">
        <p14:creationId xmlns:p14="http://schemas.microsoft.com/office/powerpoint/2010/main" val="812572839"/>
      </p:ext>
    </p:extLst>
  </p:cSld>
</p:sld>
</file>

<file path=ppt/slides/slide6.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45F4C74-F291-42B6-A801-FF42E874C5A6}"/>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구매 데모: 제안과 발주 사이의 승인</a:t>
            </a:r>
          </a:p>
        </p:txBody>
      </p:sp>
      <p:sp>
        <p:nvSpPr>
          <p:cNvPr id="2" name="">
            <a:extLst xmlns:a="http://schemas.openxmlformats.org/drawingml/2006/main">
              <a:ext uri="{FF2B5EF4-FFF2-40B4-BE49-F238E27FC236}">
                <a16:creationId xmlns:a16="http://schemas.microsoft.com/office/drawing/2014/main" id="{192A1380-AF16-4BDA-B01A-AF60906D130F}"/>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06</a:t>
            </a:r>
          </a:p>
        </p:txBody>
      </p:sp>
      <p:sp>
        <p:nvSpPr>
          <p:cNvPr id="3" name="">
            <a:extLst xmlns:a="http://schemas.openxmlformats.org/drawingml/2006/main">
              <a:ext uri="{FF2B5EF4-FFF2-40B4-BE49-F238E27FC236}">
                <a16:creationId xmlns:a16="http://schemas.microsoft.com/office/drawing/2014/main" id="{E864D83B-DF63-44A1-AFE9-58B20A972818}"/>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1. 순소요와 공급처를 계산한다</a:t>
            </a:r>
          </a:p>
        </p:txBody>
      </p:sp>
      <p:sp>
        <p:nvSpPr>
          <p:cNvPr id="4" name="">
            <a:extLst xmlns:a="http://schemas.openxmlformats.org/drawingml/2006/main">
              <a:ext uri="{FF2B5EF4-FFF2-40B4-BE49-F238E27FC236}">
                <a16:creationId xmlns:a16="http://schemas.microsoft.com/office/drawing/2014/main" id="{B7B98A63-7914-490A-B722-8E12FDC52B52}"/>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수요·BOM·가용 LOT·예정 입고·MOQ를 반영한 후보를 저장한다.</a:t>
            </a:r>
          </a:p>
        </p:txBody>
      </p:sp>
      <p:sp>
        <p:nvSpPr>
          <p:cNvPr id="5" name="">
            <a:extLst xmlns:a="http://schemas.openxmlformats.org/drawingml/2006/main">
              <a:ext uri="{FF2B5EF4-FFF2-40B4-BE49-F238E27FC236}">
                <a16:creationId xmlns:a16="http://schemas.microsoft.com/office/drawing/2014/main" id="{5647FC22-D001-4056-97EA-87DEC63C04B0}"/>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2. MANAGER가 구매 제안을 판단한다</a:t>
            </a:r>
          </a:p>
        </p:txBody>
      </p:sp>
      <p:sp>
        <p:nvSpPr>
          <p:cNvPr id="6" name="">
            <a:extLst xmlns:a="http://schemas.openxmlformats.org/drawingml/2006/main">
              <a:ext uri="{FF2B5EF4-FFF2-40B4-BE49-F238E27FC236}">
                <a16:creationId xmlns:a16="http://schemas.microsoft.com/office/drawing/2014/main" id="{D9C4008A-C8BF-40AB-8FA4-1A26E2EEEDF7}"/>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승인 전 PO는 없다. 반려는 ERP를 변경하지 않는다.</a:t>
            </a:r>
          </a:p>
        </p:txBody>
      </p:sp>
      <p:sp>
        <p:nvSpPr>
          <p:cNvPr id="7" name="">
            <a:extLst xmlns:a="http://schemas.openxmlformats.org/drawingml/2006/main">
              <a:ext uri="{FF2B5EF4-FFF2-40B4-BE49-F238E27FC236}">
                <a16:creationId xmlns:a16="http://schemas.microsoft.com/office/drawing/2014/main" id="{99092D01-CB8E-47CF-8A43-849147CAED0F}"/>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3. 결정 뒤에도 동일 Case를 이어간다</a:t>
            </a:r>
          </a:p>
        </p:txBody>
      </p:sp>
      <p:sp>
        <p:nvSpPr>
          <p:cNvPr id="8" name="">
            <a:extLst xmlns:a="http://schemas.openxmlformats.org/drawingml/2006/main">
              <a:ext uri="{FF2B5EF4-FFF2-40B4-BE49-F238E27FC236}">
                <a16:creationId xmlns:a16="http://schemas.microsoft.com/office/drawing/2014/main" id="{F7F7DB1C-ADA0-4E80-957A-670B6216480D}"/>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발주 적용과 후속 업무를 연결하고 중복 요청은 같은 결과를 반환한다.</a:t>
            </a:r>
          </a:p>
        </p:txBody>
      </p:sp>
      <p:sp>
        <p:nvSpPr>
          <p:cNvPr id="9" name="">
            <a:extLst xmlns:a="http://schemas.openxmlformats.org/drawingml/2006/main">
              <a:ext uri="{FF2B5EF4-FFF2-40B4-BE49-F238E27FC236}">
                <a16:creationId xmlns:a16="http://schemas.microsoft.com/office/drawing/2014/main" id="{2391716C-1139-44EC-B4A1-454A73785E08}"/>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#34 데모 5/5는 source d7ce2d8 기록이다. 현재 모델 UAT 결과는 별도 인수 자료다.</a:t>
            </a:r>
          </a:p>
        </p:txBody>
      </p:sp>
    </p:spTree>
    <p:extLst>
      <p:ext uri="{BB962C8B-B14F-4D97-AF65-F5344CB8AC3E}">
        <p14:creationId xmlns:p14="http://schemas.microsoft.com/office/powerpoint/2010/main" val="2016749066"/>
      </p:ext>
    </p:extLst>
  </p:cSld>
</p:sld>
</file>

<file path=ppt/slides/slide7.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553D424-5B27-480D-9548-5E0BA2747007}"/>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입고 품질: QC 판단을 적용한다</a:t>
            </a:r>
          </a:p>
        </p:txBody>
      </p:sp>
      <p:sp>
        <p:nvSpPr>
          <p:cNvPr id="2" name="">
            <a:extLst xmlns:a="http://schemas.openxmlformats.org/drawingml/2006/main">
              <a:ext uri="{FF2B5EF4-FFF2-40B4-BE49-F238E27FC236}">
                <a16:creationId xmlns:a16="http://schemas.microsoft.com/office/drawing/2014/main" id="{D309A0B8-34CC-41A6-93F4-E3D8D2B2F34A}"/>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07</a:t>
            </a:r>
          </a:p>
        </p:txBody>
      </p:sp>
      <p:sp>
        <p:nvSpPr>
          <p:cNvPr id="3" name="">
            <a:extLst xmlns:a="http://schemas.openxmlformats.org/drawingml/2006/main">
              <a:ext uri="{FF2B5EF4-FFF2-40B4-BE49-F238E27FC236}">
                <a16:creationId xmlns:a16="http://schemas.microsoft.com/office/drawing/2014/main" id="{DE171352-D3E0-48C8-AAE9-853DA3999D27}"/>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입고는 HOLD 상태에서 시작한다</a:t>
            </a:r>
          </a:p>
        </p:txBody>
      </p:sp>
      <p:sp>
        <p:nvSpPr>
          <p:cNvPr id="4" name="">
            <a:extLst xmlns:a="http://schemas.openxmlformats.org/drawingml/2006/main">
              <a:ext uri="{FF2B5EF4-FFF2-40B4-BE49-F238E27FC236}">
                <a16:creationId xmlns:a16="http://schemas.microsoft.com/office/drawing/2014/main" id="{E74E5B95-F40F-4905-9CEE-3761BCC460DE}"/>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온도·알레르겐·인증서 근거를 같은 Case에 보관한다.</a:t>
            </a:r>
          </a:p>
        </p:txBody>
      </p:sp>
      <p:sp>
        <p:nvSpPr>
          <p:cNvPr id="5" name="">
            <a:extLst xmlns:a="http://schemas.openxmlformats.org/drawingml/2006/main">
              <a:ext uri="{FF2B5EF4-FFF2-40B4-BE49-F238E27FC236}">
                <a16:creationId xmlns:a16="http://schemas.microsoft.com/office/drawing/2014/main" id="{DA313014-09E0-420D-A81E-A9D35F76B939}"/>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QC만 승인·보류·차단을 판단한다</a:t>
            </a:r>
          </a:p>
        </p:txBody>
      </p:sp>
      <p:sp>
        <p:nvSpPr>
          <p:cNvPr id="6" name="">
            <a:extLst xmlns:a="http://schemas.openxmlformats.org/drawingml/2006/main">
              <a:ext uri="{FF2B5EF4-FFF2-40B4-BE49-F238E27FC236}">
                <a16:creationId xmlns:a16="http://schemas.microsoft.com/office/drawing/2014/main" id="{4C7ACE10-A192-40EE-81B8-096564E15C2A}"/>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역할 밖 요청과 재사용한 결정으로 ERP를 변경하지 못한다.</a:t>
            </a:r>
          </a:p>
        </p:txBody>
      </p:sp>
      <p:sp>
        <p:nvSpPr>
          <p:cNvPr id="7" name="">
            <a:extLst xmlns:a="http://schemas.openxmlformats.org/drawingml/2006/main">
              <a:ext uri="{FF2B5EF4-FFF2-40B4-BE49-F238E27FC236}">
                <a16:creationId xmlns:a16="http://schemas.microsoft.com/office/drawing/2014/main" id="{4FF61D81-CF0B-4587-8610-1041CEE279EA}"/>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판단과 적용 상태를 감사한다</a:t>
            </a:r>
          </a:p>
        </p:txBody>
      </p:sp>
      <p:sp>
        <p:nvSpPr>
          <p:cNvPr id="8" name="">
            <a:extLst xmlns:a="http://schemas.openxmlformats.org/drawingml/2006/main">
              <a:ext uri="{FF2B5EF4-FFF2-40B4-BE49-F238E27FC236}">
                <a16:creationId xmlns:a16="http://schemas.microsoft.com/office/drawing/2014/main" id="{CA793F46-9495-4FB5-A508-5BD02CC19A96}"/>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scripted QM SIT 6건 통과. 실제 모델 UAT는 현재 진행 중이다.</a:t>
            </a:r>
          </a:p>
        </p:txBody>
      </p:sp>
      <p:sp>
        <p:nvSpPr>
          <p:cNvPr id="9" name="">
            <a:extLst xmlns:a="http://schemas.openxmlformats.org/drawingml/2006/main">
              <a:ext uri="{FF2B5EF4-FFF2-40B4-BE49-F238E27FC236}">
                <a16:creationId xmlns:a16="http://schemas.microsoft.com/office/drawing/2014/main" id="{4A48B157-F043-462D-BE97-B63AC1A6AF3B}"/>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인증서 필수 유형 전체 검사와 자동 30일 알림은 미완료다. 규제 Goal 6 전체 인수를 주장하지 않는다.</a:t>
            </a:r>
          </a:p>
        </p:txBody>
      </p:sp>
    </p:spTree>
    <p:extLst>
      <p:ext uri="{BB962C8B-B14F-4D97-AF65-F5344CB8AC3E}">
        <p14:creationId xmlns:p14="http://schemas.microsoft.com/office/powerpoint/2010/main" val="293705651"/>
      </p:ext>
    </p:extLst>
  </p:cSld>
</p:sld>
</file>

<file path=ppt/slides/slide8.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E78B4B9-D2C1-47A0-AD96-84D9239A5858}"/>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LOT 추적과 리콜 범위</a:t>
            </a:r>
          </a:p>
        </p:txBody>
      </p:sp>
      <p:sp>
        <p:nvSpPr>
          <p:cNvPr id="2" name="">
            <a:extLst xmlns:a="http://schemas.openxmlformats.org/drawingml/2006/main">
              <a:ext uri="{FF2B5EF4-FFF2-40B4-BE49-F238E27FC236}">
                <a16:creationId xmlns:a16="http://schemas.microsoft.com/office/drawing/2014/main" id="{B32BAAE1-C747-41DE-B71A-7728BCE2A7F1}"/>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08</a:t>
            </a:r>
          </a:p>
        </p:txBody>
      </p:sp>
      <p:graphicFrame>
        <p:nvGraphicFramePr>
          <p:cNvPr id="7" name=""/>
          <p:cNvGraphicFramePr/>
          <p:nvPr/>
        </p:nvGraphicFramePr>
        <p:xfrm>
          <a:off xmlns:a="http://schemas.openxmlformats.org/drawingml/2006/main" x="685800" y="1381125"/>
          <a:ext xmlns:a="http://schemas.openxmlformats.org/drawingml/2006/main" cx="10820400" cy="4048125"/>
        </p:xfrm>
        <a:graphic xmlns:a="http://schemas.openxmlformats.org/drawingml/2006/main">
          <a:graphicData uri="http://schemas.openxmlformats.org/drawingml/2006/table">
            <a:tbl>
              <a:tblPr/>
              <a:tblGrid>
                <a:gridCol w="2952750"/>
                <a:gridCol w="3714750"/>
                <a:gridCol w="4152900"/>
              </a:tblGrid>
              <a:tr h="674688">
                <a:tc>
                  <a:txBody>
                    <a:bodyPr/>
                    <a:lstStyle/>
                    <a:p>
                      <a:r>
                        <a:rPr sz="1875" b="1">
                          <a:solidFill>
                            <a:srgbClr val="FFFFFF"/>
                          </a:solidFill>
                          <a:latin typeface="Apple SD Gothic Neo"/>
                          <a:ea typeface="Apple SD Gothic Neo"/>
                          <a:cs typeface="Apple SD Gothic Neo"/>
                        </a:rPr>
                        <a:t>추적 단계</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현재 JAR 관측</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업무 결과</a:t>
                      </a:r>
                    </a:p>
                  </a:txBody>
                  <a:tcPr marL="91440" marR="91440" marT="45720" marB="45720">
                    <a:solidFill>
                      <a:srgbClr val="176957"/>
                    </a:solidFill>
                  </a:tcPr>
                </a:tc>
              </a:tr>
              <a:tr h="674688">
                <a:tc>
                  <a:txBody>
                    <a:bodyPr/>
                    <a:lstStyle/>
                    <a:p>
                      <a:r>
                        <a:rPr sz="1875" b="0">
                          <a:solidFill>
                            <a:srgbClr val="142B2C"/>
                          </a:solidFill>
                          <a:latin typeface="Apple SD Gothic Neo"/>
                          <a:ea typeface="Apple SD Gothic Neo"/>
                          <a:cs typeface="Apple SD Gothic Neo"/>
                        </a:rPr>
                        <a:t>사고 원료 LOT</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2개 사고 root / 3개 증거 raw</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관련 관계를 함께 보존</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생산 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10개</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ADMIN 승인으로 10개 리콜</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고객·출고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2개 고객 / 115개 출고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고객과 출고 범위를 추적</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무관 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범위 밖</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ACTIVE 유지</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보고 초안</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OFFLINE / PENDING</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submittedAt = null</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2A0152C1-DEBB-4D96-AB2F-63CD41D515AB}"/>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리콜 replay는 안정적이다. 식약처 실제 전송과 법정 양식 검증은 수행하지 않았다.</a:t>
            </a:r>
          </a:p>
        </p:txBody>
      </p:sp>
    </p:spTree>
    <p:extLst>
      <p:ext uri="{BB962C8B-B14F-4D97-AF65-F5344CB8AC3E}">
        <p14:creationId xmlns:p14="http://schemas.microsoft.com/office/powerpoint/2010/main" val="204489930"/>
      </p:ext>
    </p:extLst>
  </p:cSld>
</p:sld>
</file>

<file path=ppt/slides/slide9.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A409A69-282C-49AD-AF80-A7E6F7D6C8B4}"/>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증거와 Claim 판단의 이력</a:t>
            </a:r>
          </a:p>
        </p:txBody>
      </p:sp>
      <p:sp>
        <p:nvSpPr>
          <p:cNvPr id="2" name="">
            <a:extLst xmlns:a="http://schemas.openxmlformats.org/drawingml/2006/main">
              <a:ext uri="{FF2B5EF4-FFF2-40B4-BE49-F238E27FC236}">
                <a16:creationId xmlns:a16="http://schemas.microsoft.com/office/drawing/2014/main" id="{28625ECA-9076-4549-838B-5B074799640E}"/>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09</a:t>
            </a:r>
          </a:p>
        </p:txBody>
      </p:sp>
      <p:sp>
        <p:nvSpPr>
          <p:cNvPr id="3" name="">
            <a:extLst xmlns:a="http://schemas.openxmlformats.org/drawingml/2006/main">
              <a:ext uri="{FF2B5EF4-FFF2-40B4-BE49-F238E27FC236}">
                <a16:creationId xmlns:a16="http://schemas.microsoft.com/office/drawing/2014/main" id="{857688C7-208E-47CA-A5E1-554E15607523}"/>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출처를 등록하고 주장을 연결한다</a:t>
            </a:r>
          </a:p>
        </p:txBody>
      </p:sp>
      <p:sp>
        <p:nvSpPr>
          <p:cNvPr id="4" name="">
            <a:extLst xmlns:a="http://schemas.openxmlformats.org/drawingml/2006/main">
              <a:ext uri="{FF2B5EF4-FFF2-40B4-BE49-F238E27FC236}">
                <a16:creationId xmlns:a16="http://schemas.microsoft.com/office/drawing/2014/main" id="{F92F7747-E162-4B6F-AD37-3C72BF136F0D}"/>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현재 JAR에서 source 3개와 judgment 7개를 관측했다.</a:t>
            </a:r>
          </a:p>
        </p:txBody>
      </p:sp>
      <p:sp>
        <p:nvSpPr>
          <p:cNvPr id="5" name="">
            <a:extLst xmlns:a="http://schemas.openxmlformats.org/drawingml/2006/main">
              <a:ext uri="{FF2B5EF4-FFF2-40B4-BE49-F238E27FC236}">
                <a16:creationId xmlns:a16="http://schemas.microsoft.com/office/drawing/2014/main" id="{4E8E529D-6923-4ED9-8C27-9981F31A8040}"/>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인간이 판단하고 반증을 보존한다</a:t>
            </a:r>
          </a:p>
        </p:txBody>
      </p:sp>
      <p:sp>
        <p:nvSpPr>
          <p:cNvPr id="6" name="">
            <a:extLst xmlns:a="http://schemas.openxmlformats.org/drawingml/2006/main">
              <a:ext uri="{FF2B5EF4-FFF2-40B4-BE49-F238E27FC236}">
                <a16:creationId xmlns:a16="http://schemas.microsoft.com/office/drawing/2014/main" id="{90270AB8-BCC5-4777-819D-2D1DAF43EDA4}"/>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충돌 Claim은 남기고 별도 successor를 명시적으로 판단한다.</a:t>
            </a:r>
          </a:p>
        </p:txBody>
      </p:sp>
      <p:sp>
        <p:nvSpPr>
          <p:cNvPr id="7" name="">
            <a:extLst xmlns:a="http://schemas.openxmlformats.org/drawingml/2006/main">
              <a:ext uri="{FF2B5EF4-FFF2-40B4-BE49-F238E27FC236}">
                <a16:creationId xmlns:a16="http://schemas.microsoft.com/office/drawing/2014/main" id="{5FD2C2CC-4F53-426C-AB85-7D5DC8E5CB31}"/>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정정은 기존 판단을 stale로 만든다</a:t>
            </a:r>
          </a:p>
        </p:txBody>
      </p:sp>
      <p:sp>
        <p:nvSpPr>
          <p:cNvPr id="8" name="">
            <a:extLst xmlns:a="http://schemas.openxmlformats.org/drawingml/2006/main">
              <a:ext uri="{FF2B5EF4-FFF2-40B4-BE49-F238E27FC236}">
                <a16:creationId xmlns:a16="http://schemas.microsoft.com/office/drawing/2014/main" id="{60A82200-436C-453D-A852-2E592F209906}"/>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VERIFIED는 인간 attestation이다. 독립적 진실이나 ERP 권한을 뜻하지 않는다.</a:t>
            </a:r>
          </a:p>
        </p:txBody>
      </p:sp>
      <p:sp>
        <p:nvSpPr>
          <p:cNvPr id="9" name="">
            <a:extLst xmlns:a="http://schemas.openxmlformats.org/drawingml/2006/main">
              <a:ext uri="{FF2B5EF4-FFF2-40B4-BE49-F238E27FC236}">
                <a16:creationId xmlns:a16="http://schemas.microsoft.com/office/drawing/2014/main" id="{D32F2B5B-911F-4D12-A458-6A94C0302A7E}"/>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증거·판단 proof의 ERP 쓰기는 0건이다. 반증 연결만으로 자동 검증하지 않는다.</a:t>
            </a:r>
          </a:p>
        </p:txBody>
      </p:sp>
    </p:spTree>
    <p:extLst>
      <p:ext uri="{BB962C8B-B14F-4D97-AF65-F5344CB8AC3E}">
        <p14:creationId xmlns:p14="http://schemas.microsoft.com/office/powerpoint/2010/main" val="730515820"/>
      </p:ext>
    </p:extLst>
  </p:cSld>
</p:sld>
</file>

<file path=ppt/slides/slide10.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F31D524-D2D0-4D69-84D2-8D017D682447}"/>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Supplier master의 변경 통제</a:t>
            </a:r>
          </a:p>
        </p:txBody>
      </p:sp>
      <p:sp>
        <p:nvSpPr>
          <p:cNvPr id="2" name="">
            <a:extLst xmlns:a="http://schemas.openxmlformats.org/drawingml/2006/main">
              <a:ext uri="{FF2B5EF4-FFF2-40B4-BE49-F238E27FC236}">
                <a16:creationId xmlns:a16="http://schemas.microsoft.com/office/drawing/2014/main" id="{DF4E5A76-89E7-4F57-ADF5-B42936A61E7C}"/>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10</a:t>
            </a:r>
          </a:p>
        </p:txBody>
      </p:sp>
      <p:graphicFrame>
        <p:nvGraphicFramePr>
          <p:cNvPr id="7" name=""/>
          <p:cNvGraphicFramePr/>
          <p:nvPr/>
        </p:nvGraphicFramePr>
        <p:xfrm>
          <a:off xmlns:a="http://schemas.openxmlformats.org/drawingml/2006/main" x="685800" y="1381125"/>
          <a:ext xmlns:a="http://schemas.openxmlformats.org/drawingml/2006/main" cx="10820400" cy="4048125"/>
        </p:xfrm>
        <a:graphic xmlns:a="http://schemas.openxmlformats.org/drawingml/2006/main">
          <a:graphicData uri="http://schemas.openxmlformats.org/drawingml/2006/table">
            <a:tbl>
              <a:tblPr/>
              <a:tblGrid>
                <a:gridCol w="2667000"/>
                <a:gridCol w="3714750"/>
                <a:gridCol w="4438650"/>
              </a:tblGrid>
              <a:tr h="674688">
                <a:tc>
                  <a:txBody>
                    <a:bodyPr/>
                    <a:lstStyle/>
                    <a:p>
                      <a:r>
                        <a:rPr sz="1875" b="1">
                          <a:solidFill>
                            <a:srgbClr val="FFFFFF"/>
                          </a:solidFill>
                          <a:latin typeface="Apple SD Gothic Neo"/>
                          <a:ea typeface="Apple SD Gothic Neo"/>
                          <a:cs typeface="Apple SD Gothic Neo"/>
                        </a:rPr>
                        <a:t>업무 위험</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구현 통제</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현재 로컬 증거</a:t>
                      </a:r>
                    </a:p>
                  </a:txBody>
                  <a:tcPr marL="91440" marR="91440" marT="45720" marB="45720">
                    <a:solidFill>
                      <a:srgbClr val="176957"/>
                    </a:solidFill>
                  </a:tcPr>
                </a:tc>
              </a:tr>
              <a:tr h="674688">
                <a:tc>
                  <a:txBody>
                    <a:bodyPr/>
                    <a:lstStyle/>
                    <a:p>
                      <a:r>
                        <a:rPr sz="1875" b="0">
                          <a:solidFill>
                            <a:srgbClr val="142B2C"/>
                          </a:solidFill>
                          <a:latin typeface="Apple SD Gothic Neo"/>
                          <a:ea typeface="Apple SD Gothic Neo"/>
                          <a:cs typeface="Apple SD Gothic Neo"/>
                        </a:rPr>
                        <a:t>잘못된 인간 역할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역할·capability 검증</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혼합·위조 credentials 거부</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동시 변경</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version과 resource lock</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충돌 SUP002</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재시도</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canonical receipt</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동일 요청 replay 안정</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삭제 후 이력</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soft delete</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계획 참조와 감사 보존</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API 탐색</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Swagger 계약</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CRUD 5 / Swagger 5 확인</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586ED415-7E07-41AF-A382-6EBB93D2ED5C}"/>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인증서 자동화 확장·OAuth·실모델 Supplier UAT는 이 구현에 포함하지 않는다.</a:t>
            </a:r>
          </a:p>
        </p:txBody>
      </p:sp>
    </p:spTree>
    <p:extLst>
      <p:ext uri="{BB962C8B-B14F-4D97-AF65-F5344CB8AC3E}">
        <p14:creationId xmlns:p14="http://schemas.microsoft.com/office/powerpoint/2010/main" val="574336522"/>
      </p:ext>
    </p:extLst>
  </p:cSld>
</p:sld>
</file>

<file path=ppt/slides/slide11.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9FD016-A868-49DA-9C9E-1B6FE6331D61}"/>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검증 결과와 증거 계층</a:t>
            </a:r>
          </a:p>
        </p:txBody>
      </p:sp>
      <p:sp>
        <p:nvSpPr>
          <p:cNvPr id="2" name="">
            <a:extLst xmlns:a="http://schemas.openxmlformats.org/drawingml/2006/main">
              <a:ext uri="{FF2B5EF4-FFF2-40B4-BE49-F238E27FC236}">
                <a16:creationId xmlns:a16="http://schemas.microsoft.com/office/drawing/2014/main" id="{596869CF-9B88-49BD-BD4D-F3174468570D}"/>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11</a:t>
            </a:r>
          </a:p>
        </p:txBody>
      </p:sp>
      <p:graphicFrame>
        <p:nvGraphicFramePr>
          <p:cNvPr id="11" name="Chart"/>
          <p:cNvGraphicFramePr/>
          <p:nvPr/>
        </p:nvGraphicFramePr>
        <p:xfrm>
          <a:off xmlns:a="http://schemas.openxmlformats.org/drawingml/2006/main" x="685800" y="1562100"/>
          <a:ext xmlns:a="http://schemas.openxmlformats.org/drawingml/2006/main" cx="6191250" cy="3705225"/>
        </p:xfrm>
        <a:graphic xmlns:a="http://schemas.openxmlformats.org/drawingml/2006/main">
          <a:graphicData uri="http://schemas.openxmlformats.org/drawingml/2006/chart">
            <c:chart xmlns:r="http://schemas.openxmlformats.org/officeDocument/2006/relationships" xmlns:c="http://schemas.openxmlformats.org/drawingml/2006/chart" r:id="R9f3a6447f70146b9"/>
          </a:graphicData>
        </a:graphic>
      </p:graphicFrame>
      <p:sp>
        <p:nvSpPr>
          <p:cNvPr id="4" name="">
            <a:extLst xmlns:a="http://schemas.openxmlformats.org/drawingml/2006/main">
              <a:ext uri="{FF2B5EF4-FFF2-40B4-BE49-F238E27FC236}">
                <a16:creationId xmlns:a16="http://schemas.microsoft.com/office/drawing/2014/main" id="{229E5F36-431E-494A-979A-F94B845A19FE}"/>
              </a:ext>
            </a:extLst>
          </p:cNvPr>
          <p:cNvSpPr>
            <a:spLocks xmlns:a="http://schemas.openxmlformats.org/drawingml/2006/main" noGrp="1"/>
          </p:cNvSpPr>
          <p:nvPr/>
        </p:nvSpPr>
        <p:spPr>
          <a:xfrm xmlns:a="http://schemas.openxmlformats.org/drawingml/2006/main">
            <a:off x="7381875" y="1571625"/>
            <a:ext cx="409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42B2C"/>
                </a:solidFill>
                <a:latin typeface="Apple SD Gothic Neo"/>
                <a:ea typeface="Apple SD Gothic Neo"/>
                <a:cs typeface="Apple SD Gothic Neo"/>
              </a:defRPr>
            </a:pPr>
            <a:r>
              <a:rPr sz="2850" b="1">
                <a:solidFill>
                  <a:srgbClr val="142B2C"/>
                </a:solidFill>
                <a:latin typeface="Apple SD Gothic Neo"/>
                <a:ea typeface="Apple SD Gothic Neo"/>
                <a:cs typeface="Apple SD Gothic Neo"/>
              </a:rPr>
              <a:t>549건 실행 통과</a:t>
            </a:r>
          </a:p>
        </p:txBody>
      </p:sp>
      <p:sp>
        <p:nvSpPr>
          <p:cNvPr id="5" name="">
            <a:extLst xmlns:a="http://schemas.openxmlformats.org/drawingml/2006/main">
              <a:ext uri="{FF2B5EF4-FFF2-40B4-BE49-F238E27FC236}">
                <a16:creationId xmlns:a16="http://schemas.microsoft.com/office/drawing/2014/main" id="{57A173C8-D5BA-4E04-AD05-ECE6B473FB64}"/>
              </a:ext>
            </a:extLst>
          </p:cNvPr>
          <p:cNvSpPr>
            <a:spLocks xmlns:a="http://schemas.openxmlformats.org/drawingml/2006/main" noGrp="1"/>
          </p:cNvSpPr>
          <p:nvPr/>
        </p:nvSpPr>
        <p:spPr>
          <a:xfrm xmlns:a="http://schemas.openxmlformats.org/drawingml/2006/main">
            <a:off x="7381875" y="2333625"/>
            <a:ext cx="4095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567건 발견 / 18건 skip</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Supplier 기준 최신 source</a:t>
            </a:r>
          </a:p>
        </p:txBody>
      </p:sp>
      <p:sp>
        <p:nvSpPr>
          <p:cNvPr id="6" name="">
            <a:extLst xmlns:a="http://schemas.openxmlformats.org/drawingml/2006/main">
              <a:ext uri="{FF2B5EF4-FFF2-40B4-BE49-F238E27FC236}">
                <a16:creationId xmlns:a16="http://schemas.microsoft.com/office/drawing/2014/main" id="{99E111FC-18EC-4C94-B0AE-C7D3ADCB36BB}"/>
              </a:ext>
            </a:extLst>
          </p:cNvPr>
          <p:cNvSpPr>
            <a:spLocks xmlns:a="http://schemas.openxmlformats.org/drawingml/2006/main" noGrp="1"/>
          </p:cNvSpPr>
          <p:nvPr/>
        </p:nvSpPr>
        <p:spPr>
          <a:xfrm xmlns:a="http://schemas.openxmlformats.org/drawingml/2006/main">
            <a:off x="7381875" y="3533775"/>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#44 별도 도구 검증</a:t>
            </a:r>
          </a:p>
        </p:txBody>
      </p:sp>
      <p:sp>
        <p:nvSpPr>
          <p:cNvPr id="7" name="">
            <a:extLst xmlns:a="http://schemas.openxmlformats.org/drawingml/2006/main">
              <a:ext uri="{FF2B5EF4-FFF2-40B4-BE49-F238E27FC236}">
                <a16:creationId xmlns:a16="http://schemas.microsoft.com/office/drawing/2014/main" id="{415CA50D-45EF-4B54-B4B1-4D897B762803}"/>
              </a:ext>
            </a:extLst>
          </p:cNvPr>
          <p:cNvSpPr>
            <a:spLocks xmlns:a="http://schemas.openxmlformats.org/drawingml/2006/main" noGrp="1"/>
          </p:cNvSpPr>
          <p:nvPr/>
        </p:nvSpPr>
        <p:spPr>
          <a:xfrm xmlns:a="http://schemas.openxmlformats.org/drawingml/2006/main">
            <a:off x="7381875" y="4124325"/>
            <a:ext cx="4095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MCP 26 / runner 57</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Zig 7 / CLI smoke 32</a:t>
            </a:r>
          </a:p>
        </p:txBody>
      </p:sp>
      <p:sp>
        <p:nvSpPr>
          <p:cNvPr id="8" name="">
            <a:extLst xmlns:a="http://schemas.openxmlformats.org/drawingml/2006/main">
              <a:ext uri="{FF2B5EF4-FFF2-40B4-BE49-F238E27FC236}">
                <a16:creationId xmlns:a16="http://schemas.microsoft.com/office/drawing/2014/main" id="{7FE52D52-75E1-4177-BF4E-28797FF520AA}"/>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scripted SIT 20건과 JAR·CLI·stdio proof를 확보했다. 실제 모델·클라이언트·운영 인수는 구분한다.</a:t>
            </a:r>
          </a:p>
        </p:txBody>
      </p:sp>
    </p:spTree>
    <p:extLst>
      <p:ext uri="{BB962C8B-B14F-4D97-AF65-F5344CB8AC3E}">
        <p14:creationId xmlns:p14="http://schemas.microsoft.com/office/powerpoint/2010/main" val="28786448"/>
      </p:ext>
    </p:extLst>
  </p:cSld>
</p:sld>
</file>

<file path=ppt/slides/slide12.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B8DA901-7F20-4CA2-A299-DC6B9E4FE6E7}"/>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실모델 UAT의 시간·source 경계</a:t>
            </a:r>
          </a:p>
        </p:txBody>
      </p:sp>
      <p:sp>
        <p:nvSpPr>
          <p:cNvPr id="2" name="">
            <a:extLst xmlns:a="http://schemas.openxmlformats.org/drawingml/2006/main">
              <a:ext uri="{FF2B5EF4-FFF2-40B4-BE49-F238E27FC236}">
                <a16:creationId xmlns:a16="http://schemas.microsoft.com/office/drawing/2014/main" id="{ABADBD2A-7B43-4826-A476-74D33697A47B}"/>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12</a:t>
            </a:r>
          </a:p>
        </p:txBody>
      </p:sp>
      <p:graphicFrame>
        <p:nvGraphicFramePr>
          <p:cNvPr id="7" name=""/>
          <p:cNvGraphicFramePr/>
          <p:nvPr/>
        </p:nvGraphicFramePr>
        <p:xfrm>
          <a:off xmlns:a="http://schemas.openxmlformats.org/drawingml/2006/main" x="685800" y="1524000"/>
          <a:ext xmlns:a="http://schemas.openxmlformats.org/drawingml/2006/main" cx="10820400" cy="3771900"/>
        </p:xfrm>
        <a:graphic xmlns:a="http://schemas.openxmlformats.org/drawingml/2006/main">
          <a:graphicData uri="http://schemas.openxmlformats.org/drawingml/2006/table">
            <a:tbl>
              <a:tblPr/>
              <a:tblGrid>
                <a:gridCol w="2857500"/>
                <a:gridCol w="4286250"/>
                <a:gridCol w="3676650"/>
              </a:tblGrid>
              <a:tr h="754380">
                <a:tc>
                  <a:txBody>
                    <a:bodyPr/>
                    <a:lstStyle/>
                    <a:p>
                      <a:r>
                        <a:rPr sz="1875" b="1">
                          <a:solidFill>
                            <a:srgbClr val="FFFFFF"/>
                          </a:solidFill>
                          <a:latin typeface="Apple SD Gothic Neo"/>
                          <a:ea typeface="Apple SD Gothic Neo"/>
                          <a:cs typeface="Apple SD Gothic Neo"/>
                        </a:rPr>
                        <a:t>계층</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관측</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인수 의미</a:t>
                      </a:r>
                    </a:p>
                  </a:txBody>
                  <a:tcPr marL="91440" marR="91440" marT="45720" marB="45720">
                    <a:solidFill>
                      <a:srgbClr val="176957"/>
                    </a:solidFill>
                  </a:tcPr>
                </a:tc>
              </a:tr>
              <a:tr h="754380">
                <a:tc>
                  <a:txBody>
                    <a:bodyPr/>
                    <a:lstStyle/>
                    <a:p>
                      <a:r>
                        <a:rPr sz="1875" b="0">
                          <a:solidFill>
                            <a:srgbClr val="142B2C"/>
                          </a:solidFill>
                          <a:latin typeface="Apple SD Gothic Neo"/>
                          <a:ea typeface="Apple SD Gothic Neo"/>
                          <a:cs typeface="Apple SD Gothic Neo"/>
                        </a:rPr>
                        <a:t>과거 native UAT</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10월 3일 Claude 3건</a:t>
                      </a:r>
                    </a:p>
                    <a:p>
                      <a:r>
                        <a:rPr sz="1875" b="0">
                          <a:solidFill>
                            <a:srgbClr val="142B2C"/>
                          </a:solidFill>
                          <a:latin typeface="Apple SD Gothic Neo"/>
                          <a:ea typeface="Apple SD Gothic Neo"/>
                          <a:cs typeface="Apple SD Gothic Neo"/>
                        </a:rPr>
                        <a:t>source cb04403</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그 source의 과거 기록</a:t>
                      </a:r>
                    </a:p>
                  </a:txBody>
                  <a:tcPr marL="91440" marR="91440" marT="45720" marB="45720">
                    <a:solidFill>
                      <a:srgbClr val="FAFAF6"/>
                    </a:solidFill>
                  </a:tcPr>
                </a:tc>
              </a:tr>
              <a:tr h="754380">
                <a:tc>
                  <a:txBody>
                    <a:bodyPr/>
                    <a:lstStyle/>
                    <a:p>
                      <a:r>
                        <a:rPr sz="1875" b="0">
                          <a:solidFill>
                            <a:srgbClr val="142B2C"/>
                          </a:solidFill>
                          <a:latin typeface="Apple SD Gothic Neo"/>
                          <a:ea typeface="Apple SD Gothic Neo"/>
                          <a:cs typeface="Apple SD Gothic Neo"/>
                        </a:rPr>
                        <a:t>현재 native UAT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P2P-001 통과 / 나머지 4개 진행 중</a:t>
                      </a:r>
                    </a:p>
                    <a:p>
                      <a:r>
                        <a:rPr sz="1875" b="0">
                          <a:solidFill>
                            <a:srgbClr val="142B2C"/>
                          </a:solidFill>
                          <a:latin typeface="Apple SD Gothic Neo"/>
                          <a:ea typeface="Apple SD Gothic Neo"/>
                          <a:cs typeface="Apple SD Gothic Neo"/>
                        </a:rPr>
                        <a:t>PO 1개, 16,500원, coordinator DONE</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현재 checkpoint</a:t>
                      </a:r>
                    </a:p>
                    <a:p>
                      <a:r>
                        <a:rPr sz="1875" b="0">
                          <a:solidFill>
                            <a:srgbClr val="142B2C"/>
                          </a:solidFill>
                          <a:latin typeface="Apple SD Gothic Neo"/>
                          <a:ea typeface="Apple SD Gothic Neo"/>
                          <a:cs typeface="Apple SD Gothic Neo"/>
                        </a:rPr>
                        <a:t>전체 인수는 대기</a:t>
                      </a:r>
                    </a:p>
                  </a:txBody>
                  <a:tcPr marL="91440" marR="91440" marT="45720" marB="45720">
                    <a:solidFill>
                      <a:srgbClr val="EAF0EA"/>
                    </a:solidFill>
                  </a:tcPr>
                </a:tc>
              </a:tr>
              <a:tr h="754380">
                <a:tc>
                  <a:txBody>
                    <a:bodyPr/>
                    <a:lstStyle/>
                    <a:p>
                      <a:r>
                        <a:rPr sz="1875" b="0">
                          <a:solidFill>
                            <a:srgbClr val="142B2C"/>
                          </a:solidFill>
                          <a:latin typeface="Apple SD Gothic Neo"/>
                          <a:ea typeface="Apple SD Gothic Neo"/>
                          <a:cs typeface="Apple SD Gothic Neo"/>
                        </a:rPr>
                        <a:t>실제 대화 클라이언트</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실제 #35 연결·UX 미인수</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로컬 stdio와 별도</a:t>
                      </a:r>
                    </a:p>
                  </a:txBody>
                  <a:tcPr marL="91440" marR="91440" marT="45720" marB="45720">
                    <a:solidFill>
                      <a:srgbClr val="FAFAF6"/>
                    </a:solidFill>
                  </a:tcPr>
                </a:tc>
              </a:tr>
              <a:tr h="754380">
                <a:tc>
                  <a:txBody>
                    <a:bodyPr/>
                    <a:lstStyle/>
                    <a:p>
                      <a:r>
                        <a:rPr sz="1875" b="0">
                          <a:solidFill>
                            <a:srgbClr val="142B2C"/>
                          </a:solidFill>
                          <a:latin typeface="Apple SD Gothic Neo"/>
                          <a:ea typeface="Apple SD Gothic Neo"/>
                          <a:cs typeface="Apple SD Gothic Neo"/>
                        </a:rPr>
                        <a:t>운영 배포</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미실시</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로컬 PoC 범위</a:t>
                      </a:r>
                    </a:p>
                  </a:txBody>
                  <a:tcPr marL="91440" marR="91440" marT="45720" marB="45720">
                    <a:solidFill>
                      <a:srgbClr val="EAF0EA"/>
                    </a:solidFill>
                  </a:tcPr>
                </a:tc>
              </a:tr>
            </a:tbl>
          </a:graphicData>
        </a:graphic>
      </p:graphicFrame>
      <p:sp>
        <p:nvSpPr>
          <p:cNvPr id="4" name="">
            <a:extLst xmlns:a="http://schemas.openxmlformats.org/drawingml/2006/main">
              <a:ext uri="{FF2B5EF4-FFF2-40B4-BE49-F238E27FC236}">
                <a16:creationId xmlns:a16="http://schemas.microsoft.com/office/drawing/2014/main" id="{EAB8FC97-6F03-4757-B0AC-FF1CF94627ED}"/>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현재 P2P-001의 CLI 보고 비용은 USD 3.0874898이다. 전체 5건 결과·비용·tokens는 아직 미확정이다.</a:t>
            </a:r>
          </a:p>
        </p:txBody>
      </p:sp>
    </p:spTree>
    <p:extLst>
      <p:ext uri="{BB962C8B-B14F-4D97-AF65-F5344CB8AC3E}">
        <p14:creationId xmlns:p14="http://schemas.microsoft.com/office/powerpoint/2010/main" val="1983462570"/>
      </p:ext>
    </p:extLst>
  </p:cSld>
</p:sld>
</file>

<file path=ppt/slides/slide13.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D4A92B4-DCBA-46E5-B975-04579409C70F}"/>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범위와 남은 인수 경계</a:t>
            </a:r>
          </a:p>
        </p:txBody>
      </p:sp>
      <p:sp>
        <p:nvSpPr>
          <p:cNvPr id="2" name="">
            <a:extLst xmlns:a="http://schemas.openxmlformats.org/drawingml/2006/main">
              <a:ext uri="{FF2B5EF4-FFF2-40B4-BE49-F238E27FC236}">
                <a16:creationId xmlns:a16="http://schemas.microsoft.com/office/drawing/2014/main" id="{74EDB2B6-42C7-40CE-8CF1-EF2CE817CE88}"/>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13</a:t>
            </a:r>
          </a:p>
        </p:txBody>
      </p:sp>
      <p:sp>
        <p:nvSpPr>
          <p:cNvPr id="3" name="">
            <a:extLst xmlns:a="http://schemas.openxmlformats.org/drawingml/2006/main">
              <a:ext uri="{FF2B5EF4-FFF2-40B4-BE49-F238E27FC236}">
                <a16:creationId xmlns:a16="http://schemas.microsoft.com/office/drawing/2014/main" id="{7064D5F7-11CF-4CE4-8F40-818F6062EB22}"/>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전용 화면과 OAuth를 제외한다</a:t>
            </a:r>
          </a:p>
        </p:txBody>
      </p:sp>
      <p:sp>
        <p:nvSpPr>
          <p:cNvPr id="4" name="">
            <a:extLst xmlns:a="http://schemas.openxmlformats.org/drawingml/2006/main">
              <a:ext uri="{FF2B5EF4-FFF2-40B4-BE49-F238E27FC236}">
                <a16:creationId xmlns:a16="http://schemas.microsoft.com/office/drawing/2014/main" id="{14983BDF-07F6-4C70-8229-06309E961623}"/>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MONITOR는 대화 MCP로 조회한다. 능동 알림은 별도 채널 과제다.</a:t>
            </a:r>
          </a:p>
        </p:txBody>
      </p:sp>
      <p:sp>
        <p:nvSpPr>
          <p:cNvPr id="5" name="">
            <a:extLst xmlns:a="http://schemas.openxmlformats.org/drawingml/2006/main">
              <a:ext uri="{FF2B5EF4-FFF2-40B4-BE49-F238E27FC236}">
                <a16:creationId xmlns:a16="http://schemas.microsoft.com/office/drawing/2014/main" id="{B91CC27D-59B5-4116-91B0-F3CF7F23D902}"/>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규제 모델과 실제 신고를 구분한다</a:t>
            </a:r>
          </a:p>
        </p:txBody>
      </p:sp>
      <p:sp>
        <p:nvSpPr>
          <p:cNvPr id="6" name="">
            <a:extLst xmlns:a="http://schemas.openxmlformats.org/drawingml/2006/main">
              <a:ext uri="{FF2B5EF4-FFF2-40B4-BE49-F238E27FC236}">
                <a16:creationId xmlns:a16="http://schemas.microsoft.com/office/drawing/2014/main" id="{1E85371D-0C72-4FCF-9BDB-24348D59E031}"/>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22개 알레르겐·보관 모델을 구현했다. 인증서 자동화와 실제 MFDS 신고는 남아 있다.</a:t>
            </a:r>
          </a:p>
        </p:txBody>
      </p:sp>
      <p:sp>
        <p:nvSpPr>
          <p:cNvPr id="7" name="">
            <a:extLst xmlns:a="http://schemas.openxmlformats.org/drawingml/2006/main">
              <a:ext uri="{FF2B5EF4-FFF2-40B4-BE49-F238E27FC236}">
                <a16:creationId xmlns:a16="http://schemas.microsoft.com/office/drawing/2014/main" id="{69C9EAFB-2E69-4145-88CE-FB8FA8B243A1}"/>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로컬 승인과 운영 신원을 구분한다</a:t>
            </a:r>
          </a:p>
        </p:txBody>
      </p:sp>
      <p:sp>
        <p:nvSpPr>
          <p:cNvPr id="8" name="">
            <a:extLst xmlns:a="http://schemas.openxmlformats.org/drawingml/2006/main">
              <a:ext uri="{FF2B5EF4-FFF2-40B4-BE49-F238E27FC236}">
                <a16:creationId xmlns:a16="http://schemas.microsoft.com/office/drawing/2014/main" id="{4D014447-273F-4FB4-907C-24F53EE19C90}"/>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공유 local role/key를 사용한다. 개인별 운영 IAM·운영 배포·실제 클라이언트 인수는 미완료다.</a:t>
            </a:r>
          </a:p>
        </p:txBody>
      </p:sp>
      <p:sp>
        <p:nvSpPr>
          <p:cNvPr id="9" name="">
            <a:extLst xmlns:a="http://schemas.openxmlformats.org/drawingml/2006/main">
              <a:ext uri="{FF2B5EF4-FFF2-40B4-BE49-F238E27FC236}">
                <a16:creationId xmlns:a16="http://schemas.microsoft.com/office/drawing/2014/main" id="{C4DFC539-B87D-45E2-BD5E-41CC1CA13932}"/>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VERIFIED는 인간 attestation이다. 법적 적합성 인증·외부 사실 검증을 주장하지 않는다.</a:t>
            </a:r>
          </a:p>
        </p:txBody>
      </p:sp>
    </p:spTree>
    <p:extLst>
      <p:ext uri="{BB962C8B-B14F-4D97-AF65-F5344CB8AC3E}">
        <p14:creationId xmlns:p14="http://schemas.microsoft.com/office/powerpoint/2010/main" val="1542612824"/>
      </p:ext>
    </p:extLst>
  </p:cSld>
</p:sld>
</file>

<file path=ppt/slides/slide14.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BAC0508-E42D-4906-94ED-27F2631082B5}"/>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데모 순서와 포트폴리오 인수</a:t>
            </a:r>
          </a:p>
        </p:txBody>
      </p:sp>
      <p:sp>
        <p:nvSpPr>
          <p:cNvPr id="2" name="">
            <a:extLst xmlns:a="http://schemas.openxmlformats.org/drawingml/2006/main">
              <a:ext uri="{FF2B5EF4-FFF2-40B4-BE49-F238E27FC236}">
                <a16:creationId xmlns:a16="http://schemas.microsoft.com/office/drawing/2014/main" id="{6DABC4F0-3C8E-4B12-A76A-CF5C26F4440B}"/>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14</a:t>
            </a:r>
          </a:p>
        </p:txBody>
      </p:sp>
      <p:sp>
        <p:nvSpPr>
          <p:cNvPr id="3" name="">
            <a:extLst xmlns:a="http://schemas.openxmlformats.org/drawingml/2006/main">
              <a:ext uri="{FF2B5EF4-FFF2-40B4-BE49-F238E27FC236}">
                <a16:creationId xmlns:a16="http://schemas.microsoft.com/office/drawing/2014/main" id="{916EA74E-05E5-4C98-B86D-3A1EC3C8330A}"/>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구매 승인에서 업무 지속성을 보여준다</a:t>
            </a:r>
          </a:p>
        </p:txBody>
      </p:sp>
      <p:sp>
        <p:nvSpPr>
          <p:cNvPr id="4" name="">
            <a:extLst xmlns:a="http://schemas.openxmlformats.org/drawingml/2006/main">
              <a:ext uri="{FF2B5EF4-FFF2-40B4-BE49-F238E27FC236}">
                <a16:creationId xmlns:a16="http://schemas.microsoft.com/office/drawing/2014/main" id="{45C382F5-625A-4258-9CE0-34D75ED8E97A}"/>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제안·반려·승인·중복 요청을 PO 상태와 같은 Case로 설명한다.</a:t>
            </a:r>
          </a:p>
        </p:txBody>
      </p:sp>
      <p:sp>
        <p:nvSpPr>
          <p:cNvPr id="5" name="">
            <a:extLst xmlns:a="http://schemas.openxmlformats.org/drawingml/2006/main">
              <a:ext uri="{FF2B5EF4-FFF2-40B4-BE49-F238E27FC236}">
                <a16:creationId xmlns:a16="http://schemas.microsoft.com/office/drawing/2014/main" id="{D71D9EB9-5F05-4378-AE70-FFD15039E019}"/>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품질·리콜에서 적용 범위를 보여준다</a:t>
            </a:r>
          </a:p>
        </p:txBody>
      </p:sp>
      <p:sp>
        <p:nvSpPr>
          <p:cNvPr id="6" name="">
            <a:extLst xmlns:a="http://schemas.openxmlformats.org/drawingml/2006/main">
              <a:ext uri="{FF2B5EF4-FFF2-40B4-BE49-F238E27FC236}">
                <a16:creationId xmlns:a16="http://schemas.microsoft.com/office/drawing/2014/main" id="{C52E663B-6A79-45D7-A23E-F380DB09ADF4}"/>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QC·ADMIN 판단, 10개 LOT과 무관 LOT, OFFLINE 보고 초안을 대조한다.</a:t>
            </a:r>
          </a:p>
        </p:txBody>
      </p:sp>
      <p:sp>
        <p:nvSpPr>
          <p:cNvPr id="7" name="">
            <a:extLst xmlns:a="http://schemas.openxmlformats.org/drawingml/2006/main">
              <a:ext uri="{FF2B5EF4-FFF2-40B4-BE49-F238E27FC236}">
                <a16:creationId xmlns:a16="http://schemas.microsoft.com/office/drawing/2014/main" id="{C3AB9E11-7B32-4461-881A-7C817F53D5A2}"/>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증거·MONITOR에서 판단 근거를 보여준다</a:t>
            </a:r>
          </a:p>
        </p:txBody>
      </p:sp>
      <p:sp>
        <p:nvSpPr>
          <p:cNvPr id="8" name="">
            <a:extLst xmlns:a="http://schemas.openxmlformats.org/drawingml/2006/main">
              <a:ext uri="{FF2B5EF4-FFF2-40B4-BE49-F238E27FC236}">
                <a16:creationId xmlns:a16="http://schemas.microsoft.com/office/drawing/2014/main" id="{C8883EDE-761F-4187-B11E-9F220879ECBC}"/>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충돌·successor·주의 항목을 확인한다. 현재 native·client 인수 결과를 별도로 제시한다.</a:t>
            </a:r>
          </a:p>
        </p:txBody>
      </p:sp>
      <p:sp>
        <p:nvSpPr>
          <p:cNvPr id="9" name="">
            <a:extLst xmlns:a="http://schemas.openxmlformats.org/drawingml/2006/main">
              <a:ext uri="{FF2B5EF4-FFF2-40B4-BE49-F238E27FC236}">
                <a16:creationId xmlns:a16="http://schemas.microsoft.com/office/drawing/2014/main" id="{C3900215-200C-4287-B33A-7205535B225B}"/>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최종 인수 기준은 업무 결과·승인 경계·재개·사용량 기록이다. 실제 클라이언트 인수는 아직 남아 있다.</a:t>
            </a:r>
          </a:p>
        </p:txBody>
      </p:sp>
    </p:spTree>
    <p:extLst>
      <p:ext uri="{BB962C8B-B14F-4D97-AF65-F5344CB8AC3E}">
        <p14:creationId xmlns:p14="http://schemas.microsoft.com/office/powerpoint/2010/main" val="17234172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2026-10-05T15:48:40.5320000Z</dcterms:created>
  <dcterms:modified xsi:type="dcterms:W3CDTF">2026-10-05T15:48:40.5320000Z</dcterms:modified>
</coreProperties>
</file>