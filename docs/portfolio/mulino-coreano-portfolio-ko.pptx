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13013d6b78e449e" /><Relationship Type="http://schemas.openxmlformats.org/officeDocument/2006/relationships/extended-properties" Target="/docProps/app.xml" Id="Rc096e1b8e6434441" /><Relationship Type="http://schemas.openxmlformats.org/officeDocument/2006/relationships/officeDocument" Target="/ppt/presentation.xml" Id="R90b6048ceeab454e" /></Relationships>
</file>

<file path=ppt/presentation.xml><?xml version="1.0" encoding="utf-8"?>
<p:presentation xmlns:p="http://schemas.openxmlformats.org/presentationml/2006/main">
  <p:sldMasterIdLst>
    <p:sldMasterId xmlns:r="http://schemas.openxmlformats.org/officeDocument/2006/relationships" id="2147483648" r:id="Rbcc3ce8e02624350"/>
  </p:sldMasterIdLst>
  <p:notesMasterIdLst>
    <p:notesMasterId xmlns:r="http://schemas.openxmlformats.org/officeDocument/2006/relationships" r:id="R470da54f270f46d3"/>
  </p:notesMasterIdLst>
  <p:sldIdLst>
    <p:sldId xmlns:r="http://schemas.openxmlformats.org/officeDocument/2006/relationships" id="256" r:id="R5f7db1fd12b34d02"/>
    <p:sldId xmlns:r="http://schemas.openxmlformats.org/officeDocument/2006/relationships" id="257" r:id="Re341e864a55040de"/>
    <p:sldId xmlns:r="http://schemas.openxmlformats.org/officeDocument/2006/relationships" id="258" r:id="R33e1cc46d7de4a23"/>
    <p:sldId xmlns:r="http://schemas.openxmlformats.org/officeDocument/2006/relationships" id="259" r:id="R4211de1264274184"/>
    <p:sldId xmlns:r="http://schemas.openxmlformats.org/officeDocument/2006/relationships" id="260" r:id="Rb65a4de717224545"/>
    <p:sldId xmlns:r="http://schemas.openxmlformats.org/officeDocument/2006/relationships" id="261" r:id="R82ae9c0a400d4691"/>
    <p:sldId xmlns:r="http://schemas.openxmlformats.org/officeDocument/2006/relationships" id="262" r:id="R565800049ee14a04"/>
    <p:sldId xmlns:r="http://schemas.openxmlformats.org/officeDocument/2006/relationships" id="263" r:id="R5364c025fc64432b"/>
    <p:sldId xmlns:r="http://schemas.openxmlformats.org/officeDocument/2006/relationships" id="264" r:id="R7649be52d6c04857"/>
    <p:sldId xmlns:r="http://schemas.openxmlformats.org/officeDocument/2006/relationships" id="265" r:id="R3230a30f10274602"/>
    <p:sldId xmlns:r="http://schemas.openxmlformats.org/officeDocument/2006/relationships" id="266" r:id="Rb1f502b288524a12"/>
    <p:sldId xmlns:r="http://schemas.openxmlformats.org/officeDocument/2006/relationships" id="267" r:id="R56e1d2e764344455"/>
    <p:sldId xmlns:r="http://schemas.openxmlformats.org/officeDocument/2006/relationships" id="268" r:id="R0671c6c9f6c84410"/>
    <p:sldId xmlns:r="http://schemas.openxmlformats.org/officeDocument/2006/relationships" id="269" r:id="R4ee60707e23a4e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0332cb946d4b20" /><Relationship Type="http://schemas.openxmlformats.org/officeDocument/2006/relationships/slideMaster" Target="/ppt/slideMasters/slideMaster1.xml" Id="Rbcc3ce8e02624350" /><Relationship Type="http://schemas.openxmlformats.org/officeDocument/2006/relationships/notesMaster" Target="/ppt/notesMasters/notesMaster1.xml" Id="R470da54f270f46d3" /><Relationship Type="http://schemas.openxmlformats.org/officeDocument/2006/relationships/presProps" Target="/ppt/presProps.xml" Id="R90ecb9a2a6204c28" /><Relationship Type="http://schemas.openxmlformats.org/officeDocument/2006/relationships/tableStyles" Target="/ppt/tableStyles.xml" Id="R7b403f7e6f134e79" /><Relationship Type="http://schemas.openxmlformats.org/officeDocument/2006/relationships/slide" Target="/ppt/slides/slide1.xml" Id="R5f7db1fd12b34d02" /><Relationship Type="http://schemas.openxmlformats.org/officeDocument/2006/relationships/slide" Target="/ppt/slides/slide2.xml" Id="Re341e864a55040de" /><Relationship Type="http://schemas.openxmlformats.org/officeDocument/2006/relationships/slide" Target="/ppt/slides/slide3.xml" Id="R33e1cc46d7de4a23" /><Relationship Type="http://schemas.openxmlformats.org/officeDocument/2006/relationships/slide" Target="/ppt/slides/slide4.xml" Id="R4211de1264274184" /><Relationship Type="http://schemas.openxmlformats.org/officeDocument/2006/relationships/slide" Target="/ppt/slides/slide5.xml" Id="Rb65a4de717224545" /><Relationship Type="http://schemas.openxmlformats.org/officeDocument/2006/relationships/slide" Target="/ppt/slides/slide6.xml" Id="R82ae9c0a400d4691" /><Relationship Type="http://schemas.openxmlformats.org/officeDocument/2006/relationships/slide" Target="/ppt/slides/slide7.xml" Id="R565800049ee14a04" /><Relationship Type="http://schemas.openxmlformats.org/officeDocument/2006/relationships/slide" Target="/ppt/slides/slide8.xml" Id="R5364c025fc64432b" /><Relationship Type="http://schemas.openxmlformats.org/officeDocument/2006/relationships/slide" Target="/ppt/slides/slide9.xml" Id="R7649be52d6c04857" /><Relationship Type="http://schemas.openxmlformats.org/officeDocument/2006/relationships/slide" Target="/ppt/slides/slide10.xml" Id="R3230a30f10274602" /><Relationship Type="http://schemas.openxmlformats.org/officeDocument/2006/relationships/slide" Target="/ppt/slides/slide11.xml" Id="Rb1f502b288524a12" /><Relationship Type="http://schemas.openxmlformats.org/officeDocument/2006/relationships/slide" Target="/ppt/slides/slide12.xml" Id="R56e1d2e764344455" /><Relationship Type="http://schemas.openxmlformats.org/officeDocument/2006/relationships/slide" Target="/ppt/slides/slide13.xml" Id="R0671c6c9f6c84410" /><Relationship Type="http://schemas.openxmlformats.org/officeDocument/2006/relationships/slide" Target="/ppt/slides/slide14.xml" Id="R4ee60707e23a4e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043e253ea54e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0e3165ea1e4ee4" /><Relationship Type="http://schemas.openxmlformats.org/officeDocument/2006/relationships/notesMaster" Target="/ppt/notesMasters/notesMaster1.xml" Id="R9c279d579cf645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4db8b411f74070" /><Relationship Type="http://schemas.openxmlformats.org/officeDocument/2006/relationships/notesMaster" Target="/ppt/notesMasters/notesMaster1.xml" Id="Re8edfbb60f9449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47f6eaa5dc4758" /><Relationship Type="http://schemas.openxmlformats.org/officeDocument/2006/relationships/notesMaster" Target="/ppt/notesMasters/notesMaster1.xml" Id="R3a407e88e31642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07fd94c4654e32" /><Relationship Type="http://schemas.openxmlformats.org/officeDocument/2006/relationships/notesMaster" Target="/ppt/notesMasters/notesMaster1.xml" Id="R8984a50a08024e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706d61c5734cf3" /><Relationship Type="http://schemas.openxmlformats.org/officeDocument/2006/relationships/notesMaster" Target="/ppt/notesMasters/notesMaster1.xml" Id="R2fa650d5a7cd4e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b7e69c6a474d3a" /><Relationship Type="http://schemas.openxmlformats.org/officeDocument/2006/relationships/notesMaster" Target="/ppt/notesMasters/notesMaster1.xml" Id="R0ca85ecaa3d64a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d3a9b34915464b" /><Relationship Type="http://schemas.openxmlformats.org/officeDocument/2006/relationships/notesMaster" Target="/ppt/notesMasters/notesMaster1.xml" Id="Re9231a300c8746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6e96ea45304ba9" /><Relationship Type="http://schemas.openxmlformats.org/officeDocument/2006/relationships/notesMaster" Target="/ppt/notesMasters/notesMaster1.xml" Id="R67171649ecdd41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610014bce544523" /><Relationship Type="http://schemas.openxmlformats.org/officeDocument/2006/relationships/notesMaster" Target="/ppt/notesMasters/notesMaster1.xml" Id="R83177d2f40ba44e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92cd70d5264a87" /><Relationship Type="http://schemas.openxmlformats.org/officeDocument/2006/relationships/notesMaster" Target="/ppt/notesMasters/notesMaster1.xml" Id="R379f82deefc843b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8c772c7865e4217" /><Relationship Type="http://schemas.openxmlformats.org/officeDocument/2006/relationships/notesMaster" Target="/ppt/notesMasters/notesMaster1.xml" Id="Raea73c1ccdeb4c7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fa05157f5a94860" /><Relationship Type="http://schemas.openxmlformats.org/officeDocument/2006/relationships/notesMaster" Target="/ppt/notesMasters/notesMaster1.xml" Id="Rc79da11d6bdd432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cecdd69b7bc47b6" /><Relationship Type="http://schemas.openxmlformats.org/officeDocument/2006/relationships/notesMaster" Target="/ppt/notesMasters/notesMaster1.xml" Id="R07344835bc99412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488f004cab347ea" /><Relationship Type="http://schemas.openxmlformats.org/officeDocument/2006/relationships/notesMaster" Target="/ppt/notesMasters/notesMaster1.xml" Id="Rda1bf260b95c46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가상 식품 제조 ERP 포트폴리오. 실제 Mulino Bianco 프로젝트나 SAP 제품 구현이 아니다. 기본 독자는 SAP/ERP 면접 평가자, 발표 시간은 10–15분이다. 2026-10-06 source 0132e0a. 출처: README.md, docs/portfolio/evidence.json.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원래 비교표는 설계 가정이다. 법적 적합성 인증을 주장하지 않는다. 22개 allergen master를 19개 법정군으로 매핑한다. 필수 인증서 유형 전체와 자동 30일 알림 갭은 미등록 이슈 대기 상태다. 실제 MFDS 전송·법정 양식 검증은 수행하지 않았다. 출처: https://github.com/se0nghe0n/mulino-coreano-erp/blob/0132e0a62ad9f086e5c70c5c857d4546f5921ef9/README.md, https://github.com/se0nghe0n/mulino-coreano-erp/blob/0132e0a62ad9f086e5c70c5c857d4546f5921ef9/database/seed/allergens.sql, docs/16_decisions.md.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SAP 업무 개념과 가상 ERP 테이블의 대응이다. 실제 SAP 연동, SAP 표준 전체 기능 구현, FI 전표 처리를 주장하지 않는다. 출처: https://github.com/se0nghe0n/mulino-coreano-erp/blob/0132e0a62ad9f086e5c70c5c857d4546f5921ef9/README.md, https://github.com/se0nghe0n/mulino-coreano-erp/blob/0132e0a62ad9f086e5c70c5c857d4546f5921ef9/docs/01_project_overview.txt, https://github.com/se0nghe0n/mulino-coreano-erp/blob/0132e0a62ad9f086e5c70c5c857d4546f5921ef9/docs/03_erd.md.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baseline 0132e0a62ad9f086e5c70c5c857d4546f5921ef9. DDL 61개 CREATE TABLE: 원래 ERP 30 + interface 13 + 후속 18. 별도 governance/는 scaffold이며 승인 게이트는 backend에 구현한다. MONITOR reads는 ERP 승인 없이 진행하되 채널 인증과 Case scope를 적용한다. 공유 local role/key는 개인별 운영 IAM이 아니다. #36 결정은 #24/#25 current UAT와 #35 client 인수 전까지 설계 판단이다. 출처: docs/16_decisions.md, https://github.com/se0nghe0n/mulino-coreano-erp/blob/0132e0a62ad9f086e5c70c5c857d4546f5921ef9/mcp-server/src/tools.js, https://github.com/se0nghe0n/mulino-coreano-erp/blob/0132e0a62ad9f086e5c70c5c857d4546f5921ef9/backend/src/main/java/com/mulinocoreano/backend/security/LocalSecurityConfiguration.java, https://github.com/se0nghe0n/mulino-coreano-erp/blob/0132e0a62ad9f086e5c70c5c857d4546f5921ef9/agents/cli/README.md.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요청한 편집 가능한 업무 흐름도. Case·Work Item·Run을 별도로 영속화하며 대기 중 모델을 유지하지 않는다. 승인 이벤트 payload 자체를 권위로 믿지 않고 DB 인간 결정과 scope를 재검증한다. 조회에 ERP approval은 요구하지 않지만 local 인증과 scope를 적용한다. 출처: https://github.com/se0nghe0n/mulino-coreano-erp/blob/0132e0a62ad9f086e5c70c5c857d4546f5921ef9/docs/08_interface_overview.md, https://github.com/se0nghe0n/mulino-coreano-erp/blob/0132e0a62ad9f086e5c70c5c857d4546f5921ef9/docs/14_human_purchase_api.md, https://github.com/se0nghe0n/mulino-coreano-erp/blob/0132e0a62ad9f086e5c70c5c857d4546f5921ef9/docs/14_cli_and_runtime.md.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d7ce2d8의 #34 demo 5/5 기록. 최신 Supplier 통합 SIT의 P2P 6개와 별도 증거다. 실제 human stdio MCP, scripted agent와 현재 native UAT를 혼동하지 않는다. 출처: docs/reviews/2026-10-05-purchase-acceptance.md, docs/15_demo_runbook.md, docs/16_scenario_tests.md, https://github.com/se0nghe0n/mulino-coreano-erp/blob/0132e0a62ad9f086e5c70c5c857d4546f5921ef9/docs/14_human_purchase_api.md.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scripted SIT QM 6건: 승인·반려·잘못된 역할·인증서/알레르겐·온도/Case 경계를 실제 business state로 확인한다. canonical 22 master / 19 legal categories. Certificate all-required-type and automatic 30-day notices remain gap; don't claim Goal6 complete. 출처: https://github.com/se0nghe0n/mulino-coreano-erp/blob/0132e0a62ad9f086e5c70c5c857d4546f5921ef9/docs/18_inbound_quality_api.md, https://github.com/se0nghe0n/mulino-coreano-erp/blob/0132e0a62ad9f086e5c70c5c857d4546f5921ef9/backend/src/test/resources/scenarios/qm-inbound-inspection.feature, https://github.com/se0nghe0n/mulino-coreano-erp/blob/0132e0a62ad9f086e5c70c5c857d4546f5921ef9/database/seed/allergens.sql.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JAR proof, source 5911721de4cfb53fa65fc82518df326bd9c49a3a, JAR SHA b0dd6ea0f3c9ebfd1af635fa795b1d4852ef0700e7b770a9b0ea286a687a4b11. 실제 trace: production LOT 10, incident roots 2, evidence raw LOT 3, customer 2, outbound shipments 115. Third raw lot is traced evidence, not third incident root. Unrelated production LOT stays active. Approval replay stable. Report PENDING/OFFLINE with submittedAt null, no MFDS transmission. 출처: https://github.com/se0nghe0n/mulino-coreano-erp/blob/5911721de4cfb53fa65fc82518df326bd9c49a3a/docs/02_flow.md, https://github.com/se0nghe0n/mulino-coreano-erp/blob/5911721de4cfb53fa65fc82518df326bd9c49a3a/database/ddl/22_recall_trace.sql, evidence.json의 recall 및 ownerReport provenance.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0ee144c08a941c679cedcca92b821ed992398c85, JAR SHA 6a59edb9a6801720f6018c49bf7e32af65b7f45e6da2a1e50a26b73e87c9602a. current JAR + Zig CLI + SDK human stdio proof: source 3, judgment 7, ERP writes 0. Support relation does not verify. Human explicit attestation sets VERIFIED; new link/correction stales judgment, history append-only. Explicit successor keeps original conflicted claim. 출처: https://github.com/se0nghe0n/mulino-coreano-erp/blob/0ee144c08a941c679cedcca92b821ed992398c85/docs/19_evidence_claim_api.md, 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0132e0a62ad9f086e5c70c5c857d4546f5921ef9, JAR SHA 4cc3ed1977f72538b51e025b09937f4b122a19e6305f4d0f5a939d82cfbb3369. Current built JAR CRUD5/Swagger5, auditCount 3, canonicalReplay, version SUP002, missing SUP001, human-role checks. Soft delete preserves planning references/history; backend immutable audit. Fresh DDL/Flyway structural match 756 constraints /124 triggers. 출처: https://github.com/se0nghe0n/mulino-coreano-erp/blob/0132e0a62ad9f086e5c70c5c857d4546f5921ef9/docs/21_supplier_master_api.md, https://github.com/se0nghe0n/mulino-coreano-erp/blob/0132e0a62ad9f086e5c70c5c857d4546f5921ef9/database/ddl/24_supplier_master.sql, evidence.json의 supplier.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검증량은 업무 인수/규제 완전성을 뜻하지 않는다. Supplier 567 discovered -18 scenario discovery skips =549 executable passed, failures0 errors0. SIT current20=P2P6+QM6+RC6+restart2. Separate #44 tooling: MCP26 runner57 Zig7 CLI32. Final native source2d2a900 runner76/helper7/SIT20 pass, SIT before final logging-only Codex diagnostics. Full549 not repeated. Native acceptance incomplete. 출처: evidence.json 및 해시로 식별한 supplier/final-report.json, evidence/result.json. 원본 전체 로그는 coordinator 비공개 인수 bundle에 보존한다.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 인수/harness source 2d2a900b59a8704e27a4462740196b2c4902829b, production baseline 0132e0a62ad9f086e5c70c5c857d4546f5921ef9. image sha256:aa055d76d0c8d44b9707c84726101e551ec123dc0dba714bea4746b02d4d4656, JAR 4cc3ed1977f72538b51e025b09937f4b122a19e6305f4d0f5a939d82cfbb3369, CLI/role/JAR unchanged. CLAUDE/claude-sonnet-5: P2P001 and002 PASS,004/QM001 FAIL,RC001 INCOMPLETE. P2P002 manager BLOCK reason scenario BLOCK, CaseOPEN/coordinatorABORTED, no separate original decision/work/Attention DB export. 004 PO17000 does not excuse final coordinator MODEL_PROCESS_FAILED and usageComplete=false. QM zero is CLI reported, not imputed. RC rawPASSED preserved but final native usage missing, no valid reacceptance. CODEX/gpt-5.6-sol catalogdefaultlow firstRun fails before proposal, all metrics andresolvedModel unknown, executionReadyfalse/accountingStatusPARTIAL. Current account/rateLimits/read AUTHENTICATION does not establish earlier failure cause. Human login refresh prepared, not executed. Known CLI costUSD12.661439 only, overallunknown. Historical 2026-10-03 cb04403 Claude3PASS does not establish current acceptance. Source: evidence.json, https://github.com/se0nghe0n/mulino-coreano-erp/blob/2d2a900b59a8704e27a4462740196b2c4902829b/docs/16_scenario_tests.md, https://github.com/se0nghe0n/mulino-coreano-erp/blob/2d2a900b59a8704e27a4462740196b2c4902829b/docs/17_test_classification.md.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명시한 limits는 source의 의미를 바꾸는 material caveats다. 범위 제외: OAuth and dedicated dashboard. No planned future OAuth promise. Local role/key not individual production IAM. Goal6 gap not issue implemented. MFDS no transmission/form validation. #35 current pending. 출처: docs/16_decisions.md, docs/portfolio/README.md, 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데모 runbook의 scripted/JAR proof와 현재 모델 인수를 구분한다. 최종 native source 2d2a900b59a8704e27a4462740196b2c4902829b, production baseline 0132e0a62ad9f086e5c70c5c857d4546f5921ef9. Valid Claude2PASS, 004/QMFAIL, RCINCOMPLETE and CodexFAIL. Known cost12.661439 only, overallunknown. Current Codex authmetadata error does not prove earlier cause. Verified human login refresh procedure prepared NOTexecuted. No recovery calls, production or actualclient35 acceptance. 출처: https://github.com/se0nghe0n/mulino-coreano-erp/blob/2d2a900b59a8704e27a4462740196b2c4902829b/docs/15_demo_runbook.md, https://github.com/se0nghe0n/mulino-coreano-erp/blob/2d2a900b59a8704e27a4462740196b2c4902829b/docs/16_scenario_tests.md, 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7724f6f6514c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98d76ee50c47a4" /><Relationship Type="http://schemas.openxmlformats.org/officeDocument/2006/relationships/slideLayout" Target="/ppt/slideLayouts/slideLayout1.xml" Id="Re278db9a657941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78db9a657941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10fd4cc66f0499a" /><Relationship Type="http://schemas.openxmlformats.org/officeDocument/2006/relationships/notesSlide" Target="/ppt/notesSlides/notesSlide1.xml" Id="Re6853a55bcd04e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05117a109ff41c0" /><Relationship Type="http://schemas.openxmlformats.org/officeDocument/2006/relationships/notesSlide" Target="/ppt/notesSlides/notesSlide2.xml" Id="R210c20319be447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65666c445cf41f0" /><Relationship Type="http://schemas.openxmlformats.org/officeDocument/2006/relationships/notesSlide" Target="/ppt/notesSlides/notesSlide3.xml" Id="R9ed42541acd843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6345696e03541a2" /><Relationship Type="http://schemas.openxmlformats.org/officeDocument/2006/relationships/notesSlide" Target="/ppt/notesSlides/notesSlide4.xml" Id="R1e5b41c2fc134d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b3581dd5d4e4d2d" /><Relationship Type="http://schemas.openxmlformats.org/officeDocument/2006/relationships/notesSlide" Target="/ppt/notesSlides/notesSlide5.xml" Id="R96ca6602939c49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49813fbc9994b7f" /><Relationship Type="http://schemas.openxmlformats.org/officeDocument/2006/relationships/notesSlide" Target="/ppt/notesSlides/notesSlide6.xml" Id="Rf5fd9d002d2549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6b447414d524ec0" /><Relationship Type="http://schemas.openxmlformats.org/officeDocument/2006/relationships/notesSlide" Target="/ppt/notesSlides/notesSlide7.xml" Id="R05e2ee6a4ef340f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b719d300a14b4d" /><Relationship Type="http://schemas.openxmlformats.org/officeDocument/2006/relationships/notesSlide" Target="/ppt/notesSlides/notesSlide8.xml" Id="R8a50e3a1d9b84a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5ee5767af394030" /><Relationship Type="http://schemas.openxmlformats.org/officeDocument/2006/relationships/notesSlide" Target="/ppt/notesSlides/notesSlide9.xml" Id="R4455ab7f36d344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28adbe2b33042e1" /><Relationship Type="http://schemas.openxmlformats.org/officeDocument/2006/relationships/notesSlide" Target="/ppt/notesSlides/notesSlide10.xml" Id="R0a3acc56707a45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21143f8be8c4497" /><Relationship Type="http://schemas.openxmlformats.org/officeDocument/2006/relationships/chart" Target="/ppt/slides/charts/chart1.xml" Id="R7bae05097eea4661" /><Relationship Type="http://schemas.openxmlformats.org/officeDocument/2006/relationships/notesSlide" Target="/ppt/notesSlides/notesSlide11.xml" Id="R5e492418c60b493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7ad12c4c0bf452b" /><Relationship Type="http://schemas.openxmlformats.org/officeDocument/2006/relationships/notesSlide" Target="/ppt/notesSlides/notesSlide12.xml" Id="R2b4358b11ffd42c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6b435761eb647c0" /><Relationship Type="http://schemas.openxmlformats.org/officeDocument/2006/relationships/notesSlide" Target="/ppt/notesSlides/notesSlide13.xml" Id="R4c7819bd1b274a2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1fb1cf89ef94282" /><Relationship Type="http://schemas.openxmlformats.org/officeDocument/2006/relationships/notesSlide" Target="/ppt/notesSlides/notesSlide14.xml" Id="R71bebb0fea0b4da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scripted SIT 통과</c:v>
          </c:tx>
          <c:spPr>
            <a:solidFill xmlns:a="http://schemas.openxmlformats.org/drawingml/2006/main">
              <a:srgbClr val="176957"/>
            </a:solidFill>
          </c:spPr>
          <c:cat>
            <c:strRef>
              <c:f>'Chart Data'!$A$2:$A$5</c:f>
              <c:strCache>
                <c:ptCount val="4"/>
                <c:pt idx="0">
                  <c:v>P2P</c:v>
                </c:pt>
                <c:pt idx="1">
                  <c:v>QM</c:v>
                </c:pt>
                <c:pt idx="2">
                  <c:v>RC</c:v>
                </c:pt>
                <c:pt idx="3">
                  <c:v>재시작</c:v>
                </c:pt>
              </c:strCache>
            </c:strRef>
          </c:cat>
          <c:val>
            <c:numRef>
              <c:f>'Chart Data'!$B$2:$B$5</c:f>
              <c:numCache>
                <c:formatCode>0</c:formatCode>
                <c:ptCount val="4"/>
                <c:pt idx="0">
                  <c:v>6</c:v>
                </c:pt>
                <c:pt idx="1">
                  <c:v>6</c:v>
                </c:pt>
                <c:pt idx="2">
                  <c:v>6</c:v>
                </c:pt>
                <c:pt idx="3">
                  <c:v>2</c:v>
                </c:pt>
              </c:numCache>
            </c:numRef>
          </c:val>
        </c:ser>
        <c:dLbls>
          <c:txPr>
            <a:bodyPr xmlns:a="http://schemas.openxmlformats.org/drawingml/2006/main" anchorCtr="1"/>
            <a:lstStyle xmlns:a="http://schemas.openxmlformats.org/drawingml/2006/main"/>
            <a:p xmlns:a="http://schemas.openxmlformats.org/drawingml/2006/main">
              <a:pPr>
                <a:defRPr sz="1800">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pple SD Gothic Neo"/>
                <a:ea typeface="Apple SD Gothic Neo"/>
                <a:cs typeface="Apple SD Gothic Neo"/>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pple SD Gothic Neo"/>
                <a:ea typeface="Apple SD Gothic Neo"/>
                <a:cs typeface="Apple SD Gothic Neo"/>
              </a:defRPr>
            </a:pPr>
          </a:p>
        </c:txPr>
        <c:crossAx val="48650112"/>
        <c:crossBetween val="between"/>
        <c:majorUnit val="2"/>
      </c:valAx>
      <c:spPr>
        <a:solidFill xmlns:a="http://schemas.openxmlformats.org/drawingml/2006/main">
          <a:srgbClr val="FAFAF6"/>
        </a:solidFill>
      </c:spPr>
    </c:plotArea>
    <c:plotVisOnly val="1"/>
  </c:chart>
  <c:spPr>
    <a:solidFill xmlns:a="http://schemas.openxmlformats.org/drawingml/2006/main">
      <a:srgbClr val="FAFAF6"/>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799E9F7-6142-4E3A-8ED2-68FD95AEBFCA}"/>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B2C"/>
                </a:solidFill>
                <a:latin typeface="Apple SD Gothic Neo"/>
                <a:ea typeface="Apple SD Gothic Neo"/>
                <a:cs typeface="Apple SD Gothic Neo"/>
              </a:defRPr>
            </a:pPr>
            <a:r>
              <a:rPr sz="3300" b="1">
                <a:solidFill>
                  <a:srgbClr val="142B2C"/>
                </a:solidFill>
                <a:latin typeface="Apple SD Gothic Neo"/>
                <a:ea typeface="Apple SD Gothic Neo"/>
                <a:cs typeface="Apple SD Gothic Neo"/>
              </a:rPr>
              <a:t>MULINO COREANO</a:t>
            </a:r>
          </a:p>
        </p:txBody>
      </p:sp>
      <p:sp>
        <p:nvSpPr>
          <p:cNvPr id="2" name="">
            <a:extLst xmlns:a="http://schemas.openxmlformats.org/drawingml/2006/main">
              <a:ext uri="{FF2B5EF4-FFF2-40B4-BE49-F238E27FC236}">
                <a16:creationId xmlns:a16="http://schemas.microsoft.com/office/drawing/2014/main" id="{44870D4A-872C-4C97-8DD3-96E9ED674A72}"/>
              </a:ext>
            </a:extLst>
          </p:cNvPr>
          <p:cNvSpPr>
            <a:spLocks xmlns:a="http://schemas.openxmlformats.org/drawingml/2006/main" noGrp="1"/>
          </p:cNvSpPr>
          <p:nvPr/>
        </p:nvSpPr>
        <p:spPr>
          <a:xfrm xmlns:a="http://schemas.openxmlformats.org/drawingml/2006/main">
            <a:off x="11049000" y="62769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667"/>
                </a:solidFill>
                <a:latin typeface="Apple SD Gothic Neo"/>
                <a:ea typeface="Apple SD Gothic Neo"/>
                <a:cs typeface="Apple SD Gothic Neo"/>
              </a:defRPr>
            </a:pPr>
            <a:r>
              <a:rPr sz="1425" b="0">
                <a:solidFill>
                  <a:srgbClr val="526667"/>
                </a:solidFill>
                <a:latin typeface="Apple SD Gothic Neo"/>
                <a:ea typeface="Apple SD Gothic Neo"/>
                <a:cs typeface="Apple SD Gothic Neo"/>
              </a:rPr>
              <a:t>01</a:t>
            </a:r>
          </a:p>
        </p:txBody>
      </p:sp>
      <p:sp>
        <p:nvSpPr>
          <p:cNvPr id="3" name="">
            <a:extLst xmlns:a="http://schemas.openxmlformats.org/drawingml/2006/main">
              <a:ext uri="{FF2B5EF4-FFF2-40B4-BE49-F238E27FC236}">
                <a16:creationId xmlns:a16="http://schemas.microsoft.com/office/drawing/2014/main" id="{16BE941E-4E80-4B9B-A9DC-80F6AAAE8578}"/>
              </a:ext>
            </a:extLst>
          </p:cNvPr>
          <p:cNvSpPr>
            <a:spLocks xmlns:a="http://schemas.openxmlformats.org/drawingml/2006/main" noGrp="1"/>
          </p:cNvSpPr>
          <p:nvPr/>
        </p:nvSpPr>
        <p:spPr>
          <a:xfrm xmlns:a="http://schemas.openxmlformats.org/drawingml/2006/main">
            <a:off x="685800" y="1733550"/>
            <a:ext cx="1082040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42B2C"/>
                </a:solidFill>
                <a:latin typeface="Apple SD Gothic Neo"/>
                <a:ea typeface="Apple SD Gothic Neo"/>
                <a:cs typeface="Apple SD Gothic Neo"/>
              </a:defRPr>
            </a:pPr>
            <a:r>
              <a:rPr sz="4050" b="1">
                <a:solidFill>
                  <a:srgbClr val="142B2C"/>
                </a:solidFill>
                <a:latin typeface="Apple SD Gothic Neo"/>
                <a:ea typeface="Apple SD Gothic Neo"/>
                <a:cs typeface="Apple SD Gothic Neo"/>
              </a:rPr>
              <a:t>한국 진출을 가정한 식품 ERP와</a:t>
            </a:r>
          </a:p>
          <a:p xmlns:a="http://schemas.openxmlformats.org/drawingml/2006/main">
            <a:pPr>
              <a:defRPr sz="4050" b="1">
                <a:solidFill>
                  <a:srgbClr val="142B2C"/>
                </a:solidFill>
                <a:latin typeface="Apple SD Gothic Neo"/>
                <a:ea typeface="Apple SD Gothic Neo"/>
                <a:cs typeface="Apple SD Gothic Neo"/>
              </a:defRPr>
            </a:pPr>
            <a:r>
              <a:rPr sz="4050" b="1">
                <a:solidFill>
                  <a:srgbClr val="142B2C"/>
                </a:solidFill>
                <a:latin typeface="Apple SD Gothic Neo"/>
                <a:ea typeface="Apple SD Gothic Neo"/>
                <a:cs typeface="Apple SD Gothic Neo"/>
              </a:rPr>
              <a:t>인간 승인 기반 AI 업무 실행</a:t>
            </a:r>
          </a:p>
        </p:txBody>
      </p:sp>
      <p:sp>
        <p:nvSpPr>
          <p:cNvPr id="4" name="">
            <a:extLst xmlns:a="http://schemas.openxmlformats.org/drawingml/2006/main">
              <a:ext uri="{FF2B5EF4-FFF2-40B4-BE49-F238E27FC236}">
                <a16:creationId xmlns:a16="http://schemas.microsoft.com/office/drawing/2014/main" id="{88BADEEA-6B74-4625-8222-764896828B56}"/>
              </a:ext>
            </a:extLst>
          </p:cNvPr>
          <p:cNvSpPr>
            <a:spLocks xmlns:a="http://schemas.openxmlformats.org/drawingml/2006/main" noGrp="1"/>
          </p:cNvSpPr>
          <p:nvPr/>
        </p:nvSpPr>
        <p:spPr>
          <a:xfrm xmlns:a="http://schemas.openxmlformats.org/drawingml/2006/main">
            <a:off x="685800" y="38385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6957"/>
                </a:solidFill>
                <a:latin typeface="Apple SD Gothic Neo"/>
                <a:ea typeface="Apple SD Gothic Neo"/>
                <a:cs typeface="Apple SD Gothic Neo"/>
              </a:defRPr>
            </a:pPr>
            <a:r>
              <a:rPr sz="2400" b="0">
                <a:solidFill>
                  <a:srgbClr val="176957"/>
                </a:solidFill>
                <a:latin typeface="Apple SD Gothic Neo"/>
                <a:ea typeface="Apple SD Gothic Neo"/>
                <a:cs typeface="Apple SD Gothic Neo"/>
              </a:rPr>
              <a:t>분석 · 설계 · 구현 · 검증</a:t>
            </a:r>
          </a:p>
        </p:txBody>
      </p:sp>
      <p:sp>
        <p:nvSpPr>
          <p:cNvPr id="5" name="">
            <a:extLst xmlns:a="http://schemas.openxmlformats.org/drawingml/2006/main">
              <a:ext uri="{FF2B5EF4-FFF2-40B4-BE49-F238E27FC236}">
                <a16:creationId xmlns:a16="http://schemas.microsoft.com/office/drawing/2014/main" id="{9C1DF49D-75A9-45B1-B11D-F2536ABCE7B0}"/>
              </a:ext>
            </a:extLst>
          </p:cNvPr>
          <p:cNvSpPr>
            <a:spLocks xmlns:a="http://schemas.openxmlformats.org/drawingml/2006/main" noGrp="1"/>
          </p:cNvSpPr>
          <p:nvPr/>
        </p:nvSpPr>
        <p:spPr>
          <a:xfrm xmlns:a="http://schemas.openxmlformats.org/drawingml/2006/main">
            <a:off x="685800" y="49434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667"/>
                </a:solidFill>
                <a:latin typeface="Apple SD Gothic Neo"/>
                <a:ea typeface="Apple SD Gothic Neo"/>
                <a:cs typeface="Apple SD Gothic Neo"/>
              </a:defRPr>
            </a:pPr>
            <a:r>
              <a:rPr sz="2025" b="0">
                <a:solidFill>
                  <a:srgbClr val="526667"/>
                </a:solidFill>
                <a:latin typeface="Apple SD Gothic Neo"/>
                <a:ea typeface="Apple SD Gothic Neo"/>
                <a:cs typeface="Apple SD Gothic Neo"/>
              </a:rPr>
              <a:t>로컬 PoC  /  2026-10-06</a:t>
            </a:r>
          </a:p>
        </p:txBody>
      </p:sp>
    </p:spTree>
    <p:extLst>
      <p:ext uri="{BB962C8B-B14F-4D97-AF65-F5344CB8AC3E}">
        <p14:creationId xmlns:p14="http://schemas.microsoft.com/office/powerpoint/2010/main" val="1957195764"/>
      </p:ext>
    </p:extLst>
  </p:cSld>
</p:sld>
</file>

<file path=ppt/slides/slide2.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7C5651F-D85C-4A0D-B991-428C31136075}"/>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B2C"/>
                </a:solidFill>
                <a:latin typeface="Apple SD Gothic Neo"/>
                <a:ea typeface="Apple SD Gothic Neo"/>
                <a:cs typeface="Apple SD Gothic Neo"/>
              </a:defRPr>
            </a:pPr>
            <a:r>
              <a:rPr sz="3300" b="1">
                <a:solidFill>
                  <a:srgbClr val="142B2C"/>
                </a:solidFill>
                <a:latin typeface="Apple SD Gothic Neo"/>
                <a:ea typeface="Apple SD Gothic Neo"/>
                <a:cs typeface="Apple SD Gothic Neo"/>
              </a:rPr>
              <a:t>As-Is / To-Be: 한국 현지화</a:t>
            </a:r>
          </a:p>
        </p:txBody>
      </p:sp>
      <p:sp>
        <p:nvSpPr>
          <p:cNvPr id="2" name="">
            <a:extLst xmlns:a="http://schemas.openxmlformats.org/drawingml/2006/main">
              <a:ext uri="{FF2B5EF4-FFF2-40B4-BE49-F238E27FC236}">
                <a16:creationId xmlns:a16="http://schemas.microsoft.com/office/drawing/2014/main" id="{F63824D1-8C53-4263-8EE1-BE0CD941B906}"/>
              </a:ext>
            </a:extLst>
          </p:cNvPr>
          <p:cNvSpPr>
            <a:spLocks xmlns:a="http://schemas.openxmlformats.org/drawingml/2006/main" noGrp="1"/>
          </p:cNvSpPr>
          <p:nvPr/>
        </p:nvSpPr>
        <p:spPr>
          <a:xfrm xmlns:a="http://schemas.openxmlformats.org/drawingml/2006/main">
            <a:off x="11049000" y="62769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667"/>
                </a:solidFill>
                <a:latin typeface="Apple SD Gothic Neo"/>
                <a:ea typeface="Apple SD Gothic Neo"/>
                <a:cs typeface="Apple SD Gothic Neo"/>
              </a:defRPr>
            </a:pPr>
            <a:r>
              <a:rPr sz="1425" b="0">
                <a:solidFill>
                  <a:srgbClr val="526667"/>
                </a:solidFill>
                <a:latin typeface="Apple SD Gothic Neo"/>
                <a:ea typeface="Apple SD Gothic Neo"/>
                <a:cs typeface="Apple SD Gothic Neo"/>
              </a:rPr>
              <a:t>02</a:t>
            </a:r>
          </a:p>
        </p:txBody>
      </p:sp>
      <p:graphicFrame>
        <p:nvGraphicFramePr>
          <p:cNvPr id="7" name=""/>
          <p:cNvGraphicFramePr/>
          <p:nvPr/>
        </p:nvGraphicFramePr>
        <p:xfrm>
          <a:off xmlns:a="http://schemas.openxmlformats.org/drawingml/2006/main" x="685800" y="1381125"/>
          <a:ext xmlns:a="http://schemas.openxmlformats.org/drawingml/2006/main" cx="10820400" cy="4019550"/>
        </p:xfrm>
        <a:graphic xmlns:a="http://schemas.openxmlformats.org/drawingml/2006/main">
          <a:graphicData uri="http://schemas.openxmlformats.org/drawingml/2006/table">
            <a:tbl>
              <a:tblPr/>
              <a:tblGrid>
                <a:gridCol w="2190750"/>
                <a:gridCol w="3714750"/>
                <a:gridCol w="4914900"/>
              </a:tblGrid>
              <a:tr h="669925">
                <a:tc>
                  <a:txBody>
                    <a:bodyPr/>
                    <a:lstStyle/>
                    <a:p>
                      <a:r>
                        <a:rPr sz="1875" b="1">
                          <a:solidFill>
                            <a:srgbClr val="FFFFFF"/>
                          </a:solidFill>
                          <a:latin typeface="Apple SD Gothic Neo"/>
                          <a:ea typeface="Apple SD Gothic Neo"/>
                          <a:cs typeface="Apple SD Gothic Neo"/>
                        </a:rPr>
                        <a:t>설계 항목</a:t>
                      </a:r>
                    </a:p>
                  </a:txBody>
                  <a:tcPr marL="91440" marR="91440" marT="45720" marB="45720">
                    <a:solidFill>
                      <a:srgbClr val="176957"/>
                    </a:solidFill>
                  </a:tcPr>
                </a:tc>
                <a:tc>
                  <a:txBody>
                    <a:bodyPr/>
                    <a:lstStyle/>
                    <a:p>
                      <a:r>
                        <a:rPr sz="1875" b="1">
                          <a:solidFill>
                            <a:srgbClr val="FFFFFF"/>
                          </a:solidFill>
                          <a:latin typeface="Apple SD Gothic Neo"/>
                          <a:ea typeface="Apple SD Gothic Neo"/>
                          <a:cs typeface="Apple SD Gothic Neo"/>
                        </a:rPr>
                        <a:t>As-Is: EU 기준 가정</a:t>
                      </a:r>
                    </a:p>
                  </a:txBody>
                  <a:tcPr marL="91440" marR="91440" marT="45720" marB="45720">
                    <a:solidFill>
                      <a:srgbClr val="176957"/>
                    </a:solidFill>
                  </a:tcPr>
                </a:tc>
                <a:tc>
                  <a:txBody>
                    <a:bodyPr/>
                    <a:lstStyle/>
                    <a:p>
                      <a:r>
                        <a:rPr sz="1875" b="1">
                          <a:solidFill>
                            <a:srgbClr val="FFFFFF"/>
                          </a:solidFill>
                          <a:latin typeface="Apple SD Gothic Neo"/>
                          <a:ea typeface="Apple SD Gothic Neo"/>
                          <a:cs typeface="Apple SD Gothic Neo"/>
                        </a:rPr>
                        <a:t>To-Be: 한국 PoC</a:t>
                      </a:r>
                    </a:p>
                  </a:txBody>
                  <a:tcPr marL="91440" marR="91440" marT="45720" marB="45720">
                    <a:solidFill>
                      <a:srgbClr val="176957"/>
                    </a:solidFill>
                  </a:tcPr>
                </a:tc>
              </a:tr>
              <a:tr h="669925">
                <a:tc>
                  <a:txBody>
                    <a:bodyPr/>
                    <a:lstStyle/>
                    <a:p>
                      <a:r>
                        <a:rPr sz="1875" b="0">
                          <a:solidFill>
                            <a:srgbClr val="142B2C"/>
                          </a:solidFill>
                          <a:latin typeface="Apple SD Gothic Neo"/>
                          <a:ea typeface="Apple SD Gothic Neo"/>
                          <a:cs typeface="Apple SD Gothic Neo"/>
                        </a:rPr>
                        <a:t>알레르겐</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EU 14종 기준</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22개 master / 19개 법정군</a:t>
                      </a:r>
                    </a:p>
                  </a:txBody>
                  <a:tcPr marL="91440" marR="91440" marT="45720" marB="45720">
                    <a:solidFill>
                      <a:srgbClr val="FAFAF6"/>
                    </a:solidFill>
                  </a:tcPr>
                </a:tc>
              </a:tr>
              <a:tr h="669925">
                <a:tc>
                  <a:txBody>
                    <a:bodyPr/>
                    <a:lstStyle/>
                    <a:p>
                      <a:r>
                        <a:rPr sz="1875" b="0">
                          <a:solidFill>
                            <a:srgbClr val="142B2C"/>
                          </a:solidFill>
                          <a:latin typeface="Apple SD Gothic Neo"/>
                          <a:ea typeface="Apple SD Gothic Neo"/>
                          <a:cs typeface="Apple SD Gothic Neo"/>
                        </a:rPr>
                        <a:t>인증서</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HACCP / BRC / IFS</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HACCP / GMP / 이력추적등록</a:t>
                      </a:r>
                    </a:p>
                  </a:txBody>
                  <a:tcPr marL="91440" marR="91440" marT="45720" marB="45720">
                    <a:solidFill>
                      <a:srgbClr val="EAF0EA"/>
                    </a:solidFill>
                  </a:tcPr>
                </a:tc>
              </a:tr>
              <a:tr h="669925">
                <a:tc>
                  <a:txBody>
                    <a:bodyPr/>
                    <a:lstStyle/>
                    <a:p>
                      <a:r>
                        <a:rPr sz="1875" b="0">
                          <a:solidFill>
                            <a:srgbClr val="142B2C"/>
                          </a:solidFill>
                          <a:latin typeface="Apple SD Gothic Neo"/>
                          <a:ea typeface="Apple SD Gothic Neo"/>
                          <a:cs typeface="Apple SD Gothic Neo"/>
                        </a:rPr>
                        <a:t>리콜 보고</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EU 기반 보고 절차</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즉시 보고용 OFFLINE 초안</a:t>
                      </a:r>
                    </a:p>
                  </a:txBody>
                  <a:tcPr marL="91440" marR="91440" marT="45720" marB="45720">
                    <a:solidFill>
                      <a:srgbClr val="FAFAF6"/>
                    </a:solidFill>
                  </a:tcPr>
                </a:tc>
              </a:tr>
              <a:tr h="669925">
                <a:tc>
                  <a:txBody>
                    <a:bodyPr/>
                    <a:lstStyle/>
                    <a:p>
                      <a:r>
                        <a:rPr sz="1875" b="0">
                          <a:solidFill>
                            <a:srgbClr val="142B2C"/>
                          </a:solidFill>
                          <a:latin typeface="Apple SD Gothic Neo"/>
                          <a:ea typeface="Apple SD Gothic Neo"/>
                          <a:cs typeface="Apple SD Gothic Neo"/>
                        </a:rPr>
                        <a:t>보관 정책</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EU 기반 보관 기간</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소비기한 + 2년 보관 모델</a:t>
                      </a:r>
                    </a:p>
                  </a:txBody>
                  <a:tcPr marL="91440" marR="91440" marT="45720" marB="45720">
                    <a:solidFill>
                      <a:srgbClr val="EAF0EA"/>
                    </a:solidFill>
                  </a:tcPr>
                </a:tc>
              </a:tr>
              <a:tr h="669925">
                <a:tc>
                  <a:txBody>
                    <a:bodyPr/>
                    <a:lstStyle/>
                    <a:p>
                      <a:r>
                        <a:rPr sz="1875" b="0">
                          <a:solidFill>
                            <a:srgbClr val="142B2C"/>
                          </a:solidFill>
                          <a:latin typeface="Apple SD Gothic Neo"/>
                          <a:ea typeface="Apple SD Gothic Neo"/>
                          <a:cs typeface="Apple SD Gothic Neo"/>
                        </a:rPr>
                        <a:t>세금계산서</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기존 EU 설계</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번호·날짜 컬럼</a:t>
                      </a:r>
                    </a:p>
                  </a:txBody>
                  <a:tcPr marL="91440" marR="91440" marT="45720" marB="45720">
                    <a:solidFill>
                      <a:srgbClr val="FAFAF6"/>
                    </a:solidFill>
                  </a:tcPr>
                </a:tc>
              </a:tr>
            </a:tbl>
          </a:graphicData>
        </a:graphic>
      </p:graphicFrame>
      <p:sp>
        <p:nvSpPr>
          <p:cNvPr id="4" name="">
            <a:extLst xmlns:a="http://schemas.openxmlformats.org/drawingml/2006/main">
              <a:ext uri="{FF2B5EF4-FFF2-40B4-BE49-F238E27FC236}">
                <a16:creationId xmlns:a16="http://schemas.microsoft.com/office/drawing/2014/main" id="{3D5FE85B-2B92-4868-B72A-1F125755F541}"/>
              </a:ext>
            </a:extLst>
          </p:cNvPr>
          <p:cNvSpPr>
            <a:spLocks xmlns:a="http://schemas.openxmlformats.org/drawingml/2006/main" noGrp="1"/>
          </p:cNvSpPr>
          <p:nvPr/>
        </p:nvSpPr>
        <p:spPr>
          <a:xfrm xmlns:a="http://schemas.openxmlformats.org/drawingml/2006/main">
            <a:off x="685800" y="593407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667"/>
                </a:solidFill>
                <a:latin typeface="Apple SD Gothic Neo"/>
                <a:ea typeface="Apple SD Gothic Neo"/>
                <a:cs typeface="Apple SD Gothic Neo"/>
              </a:defRPr>
            </a:pPr>
            <a:r>
              <a:rPr sz="1575" b="0">
                <a:solidFill>
                  <a:srgbClr val="526667"/>
                </a:solidFill>
                <a:latin typeface="Apple SD Gothic Neo"/>
                <a:ea typeface="Apple SD Gothic Neo"/>
                <a:cs typeface="Apple SD Gothic Neo"/>
              </a:rPr>
              <a:t>규제 설계와 실제 신고·법적 적합성 검증은 별도다. 인증서 자동화 갭이 남아 있다.</a:t>
            </a:r>
          </a:p>
        </p:txBody>
      </p:sp>
    </p:spTree>
    <p:extLst>
      <p:ext uri="{BB962C8B-B14F-4D97-AF65-F5344CB8AC3E}">
        <p14:creationId xmlns:p14="http://schemas.microsoft.com/office/powerpoint/2010/main" val="904963157"/>
      </p:ext>
    </p:extLst>
  </p:cSld>
</p:sld>
</file>

<file path=ppt/slides/slide3.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5A6BA8C-BF56-40A4-A1D9-2CAAE4828A7F}"/>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B2C"/>
                </a:solidFill>
                <a:latin typeface="Apple SD Gothic Neo"/>
                <a:ea typeface="Apple SD Gothic Neo"/>
                <a:cs typeface="Apple SD Gothic Neo"/>
              </a:defRPr>
            </a:pPr>
            <a:r>
              <a:rPr sz="3300" b="1">
                <a:solidFill>
                  <a:srgbClr val="142B2C"/>
                </a:solidFill>
                <a:latin typeface="Apple SD Gothic Neo"/>
                <a:ea typeface="Apple SD Gothic Neo"/>
                <a:cs typeface="Apple SD Gothic Neo"/>
              </a:rPr>
              <a:t>SAP 모듈 대응</a:t>
            </a:r>
          </a:p>
        </p:txBody>
      </p:sp>
      <p:sp>
        <p:nvSpPr>
          <p:cNvPr id="2" name="">
            <a:extLst xmlns:a="http://schemas.openxmlformats.org/drawingml/2006/main">
              <a:ext uri="{FF2B5EF4-FFF2-40B4-BE49-F238E27FC236}">
                <a16:creationId xmlns:a16="http://schemas.microsoft.com/office/drawing/2014/main" id="{EF27FB19-848B-4BAF-82F3-DBF28B9301BF}"/>
              </a:ext>
            </a:extLst>
          </p:cNvPr>
          <p:cNvSpPr>
            <a:spLocks xmlns:a="http://schemas.openxmlformats.org/drawingml/2006/main" noGrp="1"/>
          </p:cNvSpPr>
          <p:nvPr/>
        </p:nvSpPr>
        <p:spPr>
          <a:xfrm xmlns:a="http://schemas.openxmlformats.org/drawingml/2006/main">
            <a:off x="11049000" y="62769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667"/>
                </a:solidFill>
                <a:latin typeface="Apple SD Gothic Neo"/>
                <a:ea typeface="Apple SD Gothic Neo"/>
                <a:cs typeface="Apple SD Gothic Neo"/>
              </a:defRPr>
            </a:pPr>
            <a:r>
              <a:rPr sz="1425" b="0">
                <a:solidFill>
                  <a:srgbClr val="526667"/>
                </a:solidFill>
                <a:latin typeface="Apple SD Gothic Neo"/>
                <a:ea typeface="Apple SD Gothic Neo"/>
                <a:cs typeface="Apple SD Gothic Neo"/>
              </a:rPr>
              <a:t>03</a:t>
            </a:r>
          </a:p>
        </p:txBody>
      </p:sp>
      <p:graphicFrame>
        <p:nvGraphicFramePr>
          <p:cNvPr id="7" name=""/>
          <p:cNvGraphicFramePr/>
          <p:nvPr/>
        </p:nvGraphicFramePr>
        <p:xfrm>
          <a:off xmlns:a="http://schemas.openxmlformats.org/drawingml/2006/main" x="685800" y="1381125"/>
          <a:ext xmlns:a="http://schemas.openxmlformats.org/drawingml/2006/main" cx="10820400" cy="4114800"/>
        </p:xfrm>
        <a:graphic xmlns:a="http://schemas.openxmlformats.org/drawingml/2006/main">
          <a:graphicData uri="http://schemas.openxmlformats.org/drawingml/2006/table">
            <a:tbl>
              <a:tblPr/>
              <a:tblGrid>
                <a:gridCol w="2095500"/>
                <a:gridCol w="3524250"/>
                <a:gridCol w="5200650"/>
              </a:tblGrid>
              <a:tr h="587829">
                <a:tc>
                  <a:txBody>
                    <a:bodyPr/>
                    <a:lstStyle/>
                    <a:p>
                      <a:r>
                        <a:rPr sz="1875" b="1">
                          <a:solidFill>
                            <a:srgbClr val="FFFFFF"/>
                          </a:solidFill>
                          <a:latin typeface="Apple SD Gothic Neo"/>
                          <a:ea typeface="Apple SD Gothic Neo"/>
                          <a:cs typeface="Apple SD Gothic Neo"/>
                        </a:rPr>
                        <a:t>업무</a:t>
                      </a:r>
                    </a:p>
                  </a:txBody>
                  <a:tcPr marL="91440" marR="91440" marT="45720" marB="45720">
                    <a:solidFill>
                      <a:srgbClr val="176957"/>
                    </a:solidFill>
                  </a:tcPr>
                </a:tc>
                <a:tc>
                  <a:txBody>
                    <a:bodyPr/>
                    <a:lstStyle/>
                    <a:p>
                      <a:r>
                        <a:rPr sz="1875" b="1">
                          <a:solidFill>
                            <a:srgbClr val="FFFFFF"/>
                          </a:solidFill>
                          <a:latin typeface="Apple SD Gothic Neo"/>
                          <a:ea typeface="Apple SD Gothic Neo"/>
                          <a:cs typeface="Apple SD Gothic Neo"/>
                        </a:rPr>
                        <a:t>SAP 개념</a:t>
                      </a:r>
                    </a:p>
                  </a:txBody>
                  <a:tcPr marL="91440" marR="91440" marT="45720" marB="45720">
                    <a:solidFill>
                      <a:srgbClr val="176957"/>
                    </a:solidFill>
                  </a:tcPr>
                </a:tc>
                <a:tc>
                  <a:txBody>
                    <a:bodyPr/>
                    <a:lstStyle/>
                    <a:p>
                      <a:r>
                        <a:rPr sz="1875" b="1">
                          <a:solidFill>
                            <a:srgbClr val="FFFFFF"/>
                          </a:solidFill>
                          <a:latin typeface="Apple SD Gothic Neo"/>
                          <a:ea typeface="Apple SD Gothic Neo"/>
                          <a:cs typeface="Apple SD Gothic Neo"/>
                        </a:rPr>
                        <a:t>구현 데이터·경계</a:t>
                      </a:r>
                    </a:p>
                  </a:txBody>
                  <a:tcPr marL="91440" marR="91440" marT="45720" marB="45720">
                    <a:solidFill>
                      <a:srgbClr val="176957"/>
                    </a:solidFill>
                  </a:tcPr>
                </a:tc>
              </a:tr>
              <a:tr h="587829">
                <a:tc>
                  <a:txBody>
                    <a:bodyPr/>
                    <a:lstStyle/>
                    <a:p>
                      <a:r>
                        <a:rPr sz="1875" b="0">
                          <a:solidFill>
                            <a:srgbClr val="142B2C"/>
                          </a:solidFill>
                          <a:latin typeface="Apple SD Gothic Neo"/>
                          <a:ea typeface="Apple SD Gothic Neo"/>
                          <a:cs typeface="Apple SD Gothic Neo"/>
                        </a:rPr>
                        <a:t>구매·입고</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MM: ME21N / MIGO</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suppliers, purchase_orders, inbound</a:t>
                      </a:r>
                    </a:p>
                  </a:txBody>
                  <a:tcPr marL="91440" marR="91440" marT="45720" marB="45720">
                    <a:solidFill>
                      <a:srgbClr val="FAFAF6"/>
                    </a:solidFill>
                  </a:tcPr>
                </a:tc>
              </a:tr>
              <a:tr h="587829">
                <a:tc>
                  <a:txBody>
                    <a:bodyPr/>
                    <a:lstStyle/>
                    <a:p>
                      <a:r>
                        <a:rPr sz="1875" b="0">
                          <a:solidFill>
                            <a:srgbClr val="142B2C"/>
                          </a:solidFill>
                          <a:latin typeface="Apple SD Gothic Neo"/>
                          <a:ea typeface="Apple SD Gothic Neo"/>
                          <a:cs typeface="Apple SD Gothic Neo"/>
                        </a:rPr>
                        <a:t>창고·LOT</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EWM / Batch Management</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warehouses, stock, raw_material_lots</a:t>
                      </a:r>
                    </a:p>
                  </a:txBody>
                  <a:tcPr marL="91440" marR="91440" marT="45720" marB="45720">
                    <a:solidFill>
                      <a:srgbClr val="EAF0EA"/>
                    </a:solidFill>
                  </a:tcPr>
                </a:tc>
              </a:tr>
              <a:tr h="587829">
                <a:tc>
                  <a:txBody>
                    <a:bodyPr/>
                    <a:lstStyle/>
                    <a:p>
                      <a:r>
                        <a:rPr sz="1875" b="0">
                          <a:solidFill>
                            <a:srgbClr val="142B2C"/>
                          </a:solidFill>
                          <a:latin typeface="Apple SD Gothic Neo"/>
                          <a:ea typeface="Apple SD Gothic Neo"/>
                          <a:cs typeface="Apple SD Gothic Neo"/>
                        </a:rPr>
                        <a:t>생산·BOM</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PP</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production_lots, bom_versions</a:t>
                      </a:r>
                    </a:p>
                  </a:txBody>
                  <a:tcPr marL="91440" marR="91440" marT="45720" marB="45720">
                    <a:solidFill>
                      <a:srgbClr val="FAFAF6"/>
                    </a:solidFill>
                  </a:tcPr>
                </a:tc>
              </a:tr>
              <a:tr h="587829">
                <a:tc>
                  <a:txBody>
                    <a:bodyPr/>
                    <a:lstStyle/>
                    <a:p>
                      <a:r>
                        <a:rPr sz="1875" b="0">
                          <a:solidFill>
                            <a:srgbClr val="142B2C"/>
                          </a:solidFill>
                          <a:latin typeface="Apple SD Gothic Neo"/>
                          <a:ea typeface="Apple SD Gothic Neo"/>
                          <a:cs typeface="Apple SD Gothic Neo"/>
                        </a:rPr>
                        <a:t>수주·출고</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SD: VA01</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orders, outbound, outbound_lots</a:t>
                      </a:r>
                    </a:p>
                  </a:txBody>
                  <a:tcPr marL="91440" marR="91440" marT="45720" marB="45720">
                    <a:solidFill>
                      <a:srgbClr val="EAF0EA"/>
                    </a:solidFill>
                  </a:tcPr>
                </a:tc>
              </a:tr>
              <a:tr h="587829">
                <a:tc>
                  <a:txBody>
                    <a:bodyPr/>
                    <a:lstStyle/>
                    <a:p>
                      <a:r>
                        <a:rPr sz="1875" b="0">
                          <a:solidFill>
                            <a:srgbClr val="142B2C"/>
                          </a:solidFill>
                          <a:latin typeface="Apple SD Gothic Neo"/>
                          <a:ea typeface="Apple SD Gothic Neo"/>
                          <a:cs typeface="Apple SD Gothic Neo"/>
                        </a:rPr>
                        <a:t>품질·리콜</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QM</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inbound_inspections, recalls</a:t>
                      </a:r>
                    </a:p>
                  </a:txBody>
                  <a:tcPr marL="91440" marR="91440" marT="45720" marB="45720">
                    <a:solidFill>
                      <a:srgbClr val="FAFAF6"/>
                    </a:solidFill>
                  </a:tcPr>
                </a:tc>
              </a:tr>
              <a:tr h="587829">
                <a:tc>
                  <a:txBody>
                    <a:bodyPr/>
                    <a:lstStyle/>
                    <a:p>
                      <a:r>
                        <a:rPr sz="1875" b="0">
                          <a:solidFill>
                            <a:srgbClr val="142B2C"/>
                          </a:solidFill>
                          <a:latin typeface="Apple SD Gothic Neo"/>
                          <a:ea typeface="Apple SD Gothic Neo"/>
                          <a:cs typeface="Apple SD Gothic Neo"/>
                        </a:rPr>
                        <a:t>승인·감사</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GRC</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governance_actions, audit logs</a:t>
                      </a:r>
                    </a:p>
                  </a:txBody>
                  <a:tcPr marL="91440" marR="91440" marT="45720" marB="45720">
                    <a:solidFill>
                      <a:srgbClr val="EAF0EA"/>
                    </a:solidFill>
                  </a:tcPr>
                </a:tc>
              </a:tr>
            </a:tbl>
          </a:graphicData>
        </a:graphic>
      </p:graphicFrame>
      <p:sp>
        <p:nvSpPr>
          <p:cNvPr id="4" name="">
            <a:extLst xmlns:a="http://schemas.openxmlformats.org/drawingml/2006/main">
              <a:ext uri="{FF2B5EF4-FFF2-40B4-BE49-F238E27FC236}">
                <a16:creationId xmlns:a16="http://schemas.microsoft.com/office/drawing/2014/main" id="{25EC8ADE-2BA7-46A8-ADD7-0D1F01509FC4}"/>
              </a:ext>
            </a:extLst>
          </p:cNvPr>
          <p:cNvSpPr>
            <a:spLocks xmlns:a="http://schemas.openxmlformats.org/drawingml/2006/main" noGrp="1"/>
          </p:cNvSpPr>
          <p:nvPr/>
        </p:nvSpPr>
        <p:spPr>
          <a:xfrm xmlns:a="http://schemas.openxmlformats.org/drawingml/2006/main">
            <a:off x="685800" y="593407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667"/>
                </a:solidFill>
                <a:latin typeface="Apple SD Gothic Neo"/>
                <a:ea typeface="Apple SD Gothic Neo"/>
                <a:cs typeface="Apple SD Gothic Neo"/>
              </a:defRPr>
            </a:pPr>
            <a:r>
              <a:rPr sz="1575" b="0">
                <a:solidFill>
                  <a:srgbClr val="526667"/>
                </a:solidFill>
                <a:latin typeface="Apple SD Gothic Neo"/>
                <a:ea typeface="Apple SD Gothic Neo"/>
                <a:cs typeface="Apple SD Gothic Neo"/>
              </a:rPr>
              <a:t>SAP 모듈 개념을 설계에 대응했다. 실제 SAP 연동 및 전체 모듈 구현 범위는 아니다.</a:t>
            </a:r>
          </a:p>
        </p:txBody>
      </p:sp>
    </p:spTree>
    <p:extLst>
      <p:ext uri="{BB962C8B-B14F-4D97-AF65-F5344CB8AC3E}">
        <p14:creationId xmlns:p14="http://schemas.microsoft.com/office/powerpoint/2010/main" val="84698760"/>
      </p:ext>
    </p:extLst>
  </p:cSld>
</p:sld>
</file>

<file path=ppt/slides/slide4.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084A84F-0792-44B9-9BBF-2887DF22E183}"/>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B2C"/>
                </a:solidFill>
                <a:latin typeface="Apple SD Gothic Neo"/>
                <a:ea typeface="Apple SD Gothic Neo"/>
                <a:cs typeface="Apple SD Gothic Neo"/>
              </a:defRPr>
            </a:pPr>
            <a:r>
              <a:rPr sz="3300" b="1">
                <a:solidFill>
                  <a:srgbClr val="142B2C"/>
                </a:solidFill>
                <a:latin typeface="Apple SD Gothic Neo"/>
                <a:ea typeface="Apple SD Gothic Neo"/>
                <a:cs typeface="Apple SD Gothic Neo"/>
              </a:rPr>
              <a:t>구현 아키텍처와 MONITOR 표면</a:t>
            </a:r>
          </a:p>
        </p:txBody>
      </p:sp>
      <p:sp>
        <p:nvSpPr>
          <p:cNvPr id="2" name="">
            <a:extLst xmlns:a="http://schemas.openxmlformats.org/drawingml/2006/main">
              <a:ext uri="{FF2B5EF4-FFF2-40B4-BE49-F238E27FC236}">
                <a16:creationId xmlns:a16="http://schemas.microsoft.com/office/drawing/2014/main" id="{16012AC1-FC96-48B6-A45B-B835C85A9FA0}"/>
              </a:ext>
            </a:extLst>
          </p:cNvPr>
          <p:cNvSpPr>
            <a:spLocks xmlns:a="http://schemas.openxmlformats.org/drawingml/2006/main" noGrp="1"/>
          </p:cNvSpPr>
          <p:nvPr/>
        </p:nvSpPr>
        <p:spPr>
          <a:xfrm xmlns:a="http://schemas.openxmlformats.org/drawingml/2006/main">
            <a:off x="11049000" y="62769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667"/>
                </a:solidFill>
                <a:latin typeface="Apple SD Gothic Neo"/>
                <a:ea typeface="Apple SD Gothic Neo"/>
                <a:cs typeface="Apple SD Gothic Neo"/>
              </a:defRPr>
            </a:pPr>
            <a:r>
              <a:rPr sz="1425" b="0">
                <a:solidFill>
                  <a:srgbClr val="526667"/>
                </a:solidFill>
                <a:latin typeface="Apple SD Gothic Neo"/>
                <a:ea typeface="Apple SD Gothic Neo"/>
                <a:cs typeface="Apple SD Gothic Neo"/>
              </a:rPr>
              <a:t>04</a:t>
            </a:r>
          </a:p>
        </p:txBody>
      </p:sp>
      <p:sp>
        <p:nvSpPr>
          <p:cNvPr id="3" name="">
            <a:extLst xmlns:a="http://schemas.openxmlformats.org/drawingml/2006/main">
              <a:ext uri="{FF2B5EF4-FFF2-40B4-BE49-F238E27FC236}">
                <a16:creationId xmlns:a16="http://schemas.microsoft.com/office/drawing/2014/main" id="{1868333F-EED0-4C51-9778-8345A14975F0}"/>
              </a:ext>
            </a:extLst>
          </p:cNvPr>
          <p:cNvSpPr>
            <a:spLocks xmlns:a="http://schemas.openxmlformats.org/drawingml/2006/main" noGrp="1"/>
          </p:cNvSpPr>
          <p:nvPr/>
        </p:nvSpPr>
        <p:spPr>
          <a:xfrm xmlns:a="http://schemas.openxmlformats.org/drawingml/2006/main">
            <a:off x="685800" y="1485900"/>
            <a:ext cx="3333750" cy="914400"/>
          </a:xfrm>
          <a:prstGeom xmlns:a="http://schemas.openxmlformats.org/drawingml/2006/main" prst="rect">
            <a:avLst/>
          </a:prstGeom>
          <a:solidFill xmlns:a="http://schemas.openxmlformats.org/drawingml/2006/main">
            <a:srgbClr val="EAF0EA"/>
          </a:solidFill>
          <a:ln xmlns:a="http://schemas.openxmlformats.org/drawingml/2006/main" w="19050">
            <a:solidFill>
              <a:srgbClr val="176957"/>
            </a:solidFill>
          </a:ln>
        </p:spPr>
        <p:txBody>
          <a:bodyPr xmlns:a="http://schemas.openxmlformats.org/drawingml/2006/main"/>
          <a:lstStyle xmlns:a="http://schemas.openxmlformats.org/drawingml/2006/main"/>
          <a:p xmlns:a="http://schemas.openxmlformats.org/drawingml/2006/main">
            <a:pPr>
              <a:defRPr sz="2025" b="1">
                <a:solidFill>
                  <a:srgbClr val="142B2C"/>
                </a:solidFill>
                <a:latin typeface="Apple SD Gothic Neo"/>
                <a:ea typeface="Apple SD Gothic Neo"/>
                <a:cs typeface="Apple SD Gothic Neo"/>
              </a:defRPr>
            </a:pPr>
            <a:r>
              <a:rPr sz="2025" b="1">
                <a:solidFill>
                  <a:srgbClr val="142B2C"/>
                </a:solidFill>
                <a:latin typeface="Apple SD Gothic Neo"/>
                <a:ea typeface="Apple SD Gothic Neo"/>
                <a:cs typeface="Apple SD Gothic Neo"/>
              </a:rPr>
              <a:t>대화 MCP</a:t>
            </a:r>
          </a:p>
          <a:p xmlns:a="http://schemas.openxmlformats.org/drawingml/2006/main">
            <a:pPr>
              <a:defRPr sz="2025" b="1">
                <a:solidFill>
                  <a:srgbClr val="142B2C"/>
                </a:solidFill>
                <a:latin typeface="Apple SD Gothic Neo"/>
                <a:ea typeface="Apple SD Gothic Neo"/>
                <a:cs typeface="Apple SD Gothic Neo"/>
              </a:defRPr>
            </a:pPr>
            <a:r>
              <a:rPr sz="2025" b="1">
                <a:solidFill>
                  <a:srgbClr val="142B2C"/>
                </a:solidFill>
                <a:latin typeface="Apple SD Gothic Neo"/>
                <a:ea typeface="Apple SD Gothic Neo"/>
                <a:cs typeface="Apple SD Gothic Neo"/>
              </a:rPr>
              <a:t>ASK / ACT / MONITOR</a:t>
            </a:r>
          </a:p>
        </p:txBody>
      </p:sp>
      <p:sp>
        <p:nvSpPr>
          <p:cNvPr id="4" name="">
            <a:extLst xmlns:a="http://schemas.openxmlformats.org/drawingml/2006/main">
              <a:ext uri="{FF2B5EF4-FFF2-40B4-BE49-F238E27FC236}">
                <a16:creationId xmlns:a16="http://schemas.microsoft.com/office/drawing/2014/main" id="{1D849E14-C877-4B14-A5F0-E47D5A260206}"/>
              </a:ext>
            </a:extLst>
          </p:cNvPr>
          <p:cNvSpPr>
            <a:spLocks xmlns:a="http://schemas.openxmlformats.org/drawingml/2006/main" noGrp="1"/>
          </p:cNvSpPr>
          <p:nvPr/>
        </p:nvSpPr>
        <p:spPr>
          <a:xfrm xmlns:a="http://schemas.openxmlformats.org/drawingml/2006/main">
            <a:off x="4400550" y="1485900"/>
            <a:ext cx="3333750" cy="914400"/>
          </a:xfrm>
          <a:prstGeom xmlns:a="http://schemas.openxmlformats.org/drawingml/2006/main" prst="rect">
            <a:avLst/>
          </a:prstGeom>
          <a:solidFill xmlns:a="http://schemas.openxmlformats.org/drawingml/2006/main">
            <a:srgbClr val="EAF0EA"/>
          </a:solidFill>
          <a:ln xmlns:a="http://schemas.openxmlformats.org/drawingml/2006/main" w="19050">
            <a:solidFill>
              <a:srgbClr val="176957"/>
            </a:solidFill>
          </a:ln>
        </p:spPr>
        <p:txBody>
          <a:bodyPr xmlns:a="http://schemas.openxmlformats.org/drawingml/2006/main"/>
          <a:lstStyle xmlns:a="http://schemas.openxmlformats.org/drawingml/2006/main"/>
          <a:p xmlns:a="http://schemas.openxmlformats.org/drawingml/2006/main">
            <a:pPr>
              <a:defRPr sz="2025" b="1">
                <a:solidFill>
                  <a:srgbClr val="142B2C"/>
                </a:solidFill>
                <a:latin typeface="Apple SD Gothic Neo"/>
                <a:ea typeface="Apple SD Gothic Neo"/>
                <a:cs typeface="Apple SD Gothic Neo"/>
              </a:defRPr>
            </a:pPr>
            <a:r>
              <a:rPr sz="2025" b="1">
                <a:solidFill>
                  <a:srgbClr val="142B2C"/>
                </a:solidFill>
                <a:latin typeface="Apple SD Gothic Neo"/>
                <a:ea typeface="Apple SD Gothic Neo"/>
                <a:cs typeface="Apple SD Gothic Neo"/>
              </a:rPr>
              <a:t>native runner</a:t>
            </a:r>
          </a:p>
          <a:p xmlns:a="http://schemas.openxmlformats.org/drawingml/2006/main">
            <a:pPr>
              <a:defRPr sz="2025" b="1">
                <a:solidFill>
                  <a:srgbClr val="142B2C"/>
                </a:solidFill>
                <a:latin typeface="Apple SD Gothic Neo"/>
                <a:ea typeface="Apple SD Gothic Neo"/>
                <a:cs typeface="Apple SD Gothic Neo"/>
              </a:defRPr>
            </a:pPr>
            <a:r>
              <a:rPr sz="2025" b="1">
                <a:solidFill>
                  <a:srgbClr val="142B2C"/>
                </a:solidFill>
                <a:latin typeface="Apple SD Gothic Neo"/>
                <a:ea typeface="Apple SD Gothic Neo"/>
                <a:cs typeface="Apple SD Gothic Neo"/>
              </a:rPr>
              <a:t>Claude Code / Codex</a:t>
            </a:r>
          </a:p>
        </p:txBody>
      </p:sp>
      <p:sp>
        <p:nvSpPr>
          <p:cNvPr id="5" name="">
            <a:extLst xmlns:a="http://schemas.openxmlformats.org/drawingml/2006/main">
              <a:ext uri="{FF2B5EF4-FFF2-40B4-BE49-F238E27FC236}">
                <a16:creationId xmlns:a16="http://schemas.microsoft.com/office/drawing/2014/main" id="{89C96DE7-AF2B-450D-85CE-B4C4B30CEB5E}"/>
              </a:ext>
            </a:extLst>
          </p:cNvPr>
          <p:cNvSpPr>
            <a:spLocks xmlns:a="http://schemas.openxmlformats.org/drawingml/2006/main" noGrp="1"/>
          </p:cNvSpPr>
          <p:nvPr/>
        </p:nvSpPr>
        <p:spPr>
          <a:xfrm xmlns:a="http://schemas.openxmlformats.org/drawingml/2006/main">
            <a:off x="8115300" y="1485900"/>
            <a:ext cx="3333750" cy="914400"/>
          </a:xfrm>
          <a:prstGeom xmlns:a="http://schemas.openxmlformats.org/drawingml/2006/main" prst="rect">
            <a:avLst/>
          </a:prstGeom>
          <a:solidFill xmlns:a="http://schemas.openxmlformats.org/drawingml/2006/main">
            <a:srgbClr val="EAF0EA"/>
          </a:solidFill>
          <a:ln xmlns:a="http://schemas.openxmlformats.org/drawingml/2006/main" w="19050">
            <a:solidFill>
              <a:srgbClr val="176957"/>
            </a:solidFill>
          </a:ln>
        </p:spPr>
        <p:txBody>
          <a:bodyPr xmlns:a="http://schemas.openxmlformats.org/drawingml/2006/main"/>
          <a:lstStyle xmlns:a="http://schemas.openxmlformats.org/drawingml/2006/main"/>
          <a:p xmlns:a="http://schemas.openxmlformats.org/drawingml/2006/main">
            <a:pPr>
              <a:defRPr sz="2025" b="1">
                <a:solidFill>
                  <a:srgbClr val="142B2C"/>
                </a:solidFill>
                <a:latin typeface="Apple SD Gothic Neo"/>
                <a:ea typeface="Apple SD Gothic Neo"/>
                <a:cs typeface="Apple SD Gothic Neo"/>
              </a:defRPr>
            </a:pPr>
            <a:r>
              <a:rPr sz="2025" b="1">
                <a:solidFill>
                  <a:srgbClr val="142B2C"/>
                </a:solidFill>
                <a:latin typeface="Apple SD Gothic Neo"/>
                <a:ea typeface="Apple SD Gothic Neo"/>
                <a:cs typeface="Apple SD Gothic Neo"/>
              </a:rPr>
              <a:t>Zig CLI</a:t>
            </a:r>
          </a:p>
          <a:p xmlns:a="http://schemas.openxmlformats.org/drawingml/2006/main">
            <a:pPr>
              <a:defRPr sz="2025" b="1">
                <a:solidFill>
                  <a:srgbClr val="142B2C"/>
                </a:solidFill>
                <a:latin typeface="Apple SD Gothic Neo"/>
                <a:ea typeface="Apple SD Gothic Neo"/>
                <a:cs typeface="Apple SD Gothic Neo"/>
              </a:defRPr>
            </a:pPr>
            <a:r>
              <a:rPr sz="2025" b="1">
                <a:solidFill>
                  <a:srgbClr val="142B2C"/>
                </a:solidFill>
                <a:latin typeface="Apple SD Gothic Neo"/>
                <a:ea typeface="Apple SD Gothic Neo"/>
                <a:cs typeface="Apple SD Gothic Neo"/>
              </a:rPr>
              <a:t>mulino</a:t>
            </a:r>
          </a:p>
        </p:txBody>
      </p:sp>
      <p:sp>
        <p:nvSpPr>
          <p:cNvPr id="6" name="">
            <a:extLst xmlns:a="http://schemas.openxmlformats.org/drawingml/2006/main">
              <a:ext uri="{FF2B5EF4-FFF2-40B4-BE49-F238E27FC236}">
                <a16:creationId xmlns:a16="http://schemas.microsoft.com/office/drawing/2014/main" id="{F5E3E65B-7469-4D96-B1CA-D81D1DC1FF0F}"/>
              </a:ext>
            </a:extLst>
          </p:cNvPr>
          <p:cNvSpPr>
            <a:spLocks xmlns:a="http://schemas.openxmlformats.org/drawingml/2006/main" noGrp="1"/>
          </p:cNvSpPr>
          <p:nvPr/>
        </p:nvSpPr>
        <p:spPr>
          <a:xfrm xmlns:a="http://schemas.openxmlformats.org/drawingml/2006/main">
            <a:off x="2352675" y="2400300"/>
            <a:ext cx="0" cy="647700"/>
          </a:xfrm>
          <a:prstGeom xmlns:a="http://schemas.openxmlformats.org/drawingml/2006/main" prst="line">
            <a:avLst/>
          </a:prstGeom>
          <a:noFill xmlns:a="http://schemas.openxmlformats.org/drawingml/2006/main"/>
          <a:ln xmlns:a="http://schemas.openxmlformats.org/drawingml/2006/main" w="19050">
            <a:solidFill>
              <a:srgbClr val="176957"/>
            </a:solidFill>
          </a:ln>
        </p:spPr>
      </p:sp>
      <p:sp>
        <p:nvSpPr>
          <p:cNvPr id="7" name="">
            <a:extLst xmlns:a="http://schemas.openxmlformats.org/drawingml/2006/main">
              <a:ext uri="{FF2B5EF4-FFF2-40B4-BE49-F238E27FC236}">
                <a16:creationId xmlns:a16="http://schemas.microsoft.com/office/drawing/2014/main" id="{24F8AD82-40C8-4708-8E4C-3A0B92BF76E0}"/>
              </a:ext>
            </a:extLst>
          </p:cNvPr>
          <p:cNvSpPr>
            <a:spLocks xmlns:a="http://schemas.openxmlformats.org/drawingml/2006/main" noGrp="1"/>
          </p:cNvSpPr>
          <p:nvPr/>
        </p:nvSpPr>
        <p:spPr>
          <a:xfrm xmlns:a="http://schemas.openxmlformats.org/drawingml/2006/main">
            <a:off x="6067425" y="2400300"/>
            <a:ext cx="0" cy="647700"/>
          </a:xfrm>
          <a:prstGeom xmlns:a="http://schemas.openxmlformats.org/drawingml/2006/main" prst="line">
            <a:avLst/>
          </a:prstGeom>
          <a:noFill xmlns:a="http://schemas.openxmlformats.org/drawingml/2006/main"/>
          <a:ln xmlns:a="http://schemas.openxmlformats.org/drawingml/2006/main" w="19050">
            <a:solidFill>
              <a:srgbClr val="176957"/>
            </a:solidFill>
          </a:ln>
        </p:spPr>
      </p:sp>
      <p:sp>
        <p:nvSpPr>
          <p:cNvPr id="8" name="">
            <a:extLst xmlns:a="http://schemas.openxmlformats.org/drawingml/2006/main">
              <a:ext uri="{FF2B5EF4-FFF2-40B4-BE49-F238E27FC236}">
                <a16:creationId xmlns:a16="http://schemas.microsoft.com/office/drawing/2014/main" id="{EFEF2AA4-81EE-43C3-B551-44B4F67914A6}"/>
              </a:ext>
            </a:extLst>
          </p:cNvPr>
          <p:cNvSpPr>
            <a:spLocks xmlns:a="http://schemas.openxmlformats.org/drawingml/2006/main" noGrp="1"/>
          </p:cNvSpPr>
          <p:nvPr/>
        </p:nvSpPr>
        <p:spPr>
          <a:xfrm xmlns:a="http://schemas.openxmlformats.org/drawingml/2006/main">
            <a:off x="9782175" y="2400300"/>
            <a:ext cx="0" cy="647700"/>
          </a:xfrm>
          <a:prstGeom xmlns:a="http://schemas.openxmlformats.org/drawingml/2006/main" prst="line">
            <a:avLst/>
          </a:prstGeom>
          <a:noFill xmlns:a="http://schemas.openxmlformats.org/drawingml/2006/main"/>
          <a:ln xmlns:a="http://schemas.openxmlformats.org/drawingml/2006/main" w="19050">
            <a:solidFill>
              <a:srgbClr val="176957"/>
            </a:solidFill>
          </a:ln>
        </p:spPr>
      </p:sp>
      <p:sp>
        <p:nvSpPr>
          <p:cNvPr id="9" name="">
            <a:extLst xmlns:a="http://schemas.openxmlformats.org/drawingml/2006/main">
              <a:ext uri="{FF2B5EF4-FFF2-40B4-BE49-F238E27FC236}">
                <a16:creationId xmlns:a16="http://schemas.microsoft.com/office/drawing/2014/main" id="{AAB1622E-1E2C-4D1A-A993-C1AE9F69339A}"/>
              </a:ext>
            </a:extLst>
          </p:cNvPr>
          <p:cNvSpPr>
            <a:spLocks xmlns:a="http://schemas.openxmlformats.org/drawingml/2006/main" noGrp="1"/>
          </p:cNvSpPr>
          <p:nvPr/>
        </p:nvSpPr>
        <p:spPr>
          <a:xfrm xmlns:a="http://schemas.openxmlformats.org/drawingml/2006/main">
            <a:off x="685800" y="3048000"/>
            <a:ext cx="10763250" cy="828675"/>
          </a:xfrm>
          <a:prstGeom xmlns:a="http://schemas.openxmlformats.org/drawingml/2006/main" prst="rect">
            <a:avLst/>
          </a:prstGeom>
          <a:solidFill xmlns:a="http://schemas.openxmlformats.org/drawingml/2006/main">
            <a:srgbClr val="EAF0EA"/>
          </a:solidFill>
          <a:ln xmlns:a="http://schemas.openxmlformats.org/drawingml/2006/main" w="19050">
            <a:solidFill>
              <a:srgbClr val="176957"/>
            </a:solidFill>
          </a:ln>
        </p:spPr>
        <p:txBody>
          <a:bodyPr xmlns:a="http://schemas.openxmlformats.org/drawingml/2006/main"/>
          <a:lstStyle xmlns:a="http://schemas.openxmlformats.org/drawingml/2006/main"/>
          <a:p xmlns:a="http://schemas.openxmlformats.org/drawingml/2006/main">
            <a:pPr>
              <a:defRPr sz="2025" b="1">
                <a:solidFill>
                  <a:srgbClr val="142B2C"/>
                </a:solidFill>
                <a:latin typeface="Apple SD Gothic Neo"/>
                <a:ea typeface="Apple SD Gothic Neo"/>
                <a:cs typeface="Apple SD Gothic Neo"/>
              </a:defRPr>
            </a:pPr>
            <a:r>
              <a:rPr sz="2025" b="1">
                <a:solidFill>
                  <a:srgbClr val="142B2C"/>
                </a:solidFill>
                <a:latin typeface="Apple SD Gothic Neo"/>
                <a:ea typeface="Apple SD Gothic Neo"/>
                <a:cs typeface="Apple SD Gothic Neo"/>
              </a:rPr>
              <a:t>L1  백엔드 도메인 승인·불변 감사</a:t>
            </a:r>
          </a:p>
        </p:txBody>
      </p:sp>
      <p:sp>
        <p:nvSpPr>
          <p:cNvPr id="10" name="">
            <a:extLst xmlns:a="http://schemas.openxmlformats.org/drawingml/2006/main">
              <a:ext uri="{FF2B5EF4-FFF2-40B4-BE49-F238E27FC236}">
                <a16:creationId xmlns:a16="http://schemas.microsoft.com/office/drawing/2014/main" id="{22E48DEE-20E5-4D13-A54E-30B241D62347}"/>
              </a:ext>
            </a:extLst>
          </p:cNvPr>
          <p:cNvSpPr>
            <a:spLocks xmlns:a="http://schemas.openxmlformats.org/drawingml/2006/main" noGrp="1"/>
          </p:cNvSpPr>
          <p:nvPr/>
        </p:nvSpPr>
        <p:spPr>
          <a:xfrm xmlns:a="http://schemas.openxmlformats.org/drawingml/2006/main">
            <a:off x="6067425" y="3876675"/>
            <a:ext cx="0" cy="447675"/>
          </a:xfrm>
          <a:prstGeom xmlns:a="http://schemas.openxmlformats.org/drawingml/2006/main" prst="line">
            <a:avLst/>
          </a:prstGeom>
          <a:noFill xmlns:a="http://schemas.openxmlformats.org/drawingml/2006/main"/>
          <a:ln xmlns:a="http://schemas.openxmlformats.org/drawingml/2006/main" w="19050">
            <a:solidFill>
              <a:srgbClr val="176957"/>
            </a:solidFill>
          </a:ln>
        </p:spPr>
      </p:sp>
      <p:sp>
        <p:nvSpPr>
          <p:cNvPr id="11" name="">
            <a:extLst xmlns:a="http://schemas.openxmlformats.org/drawingml/2006/main">
              <a:ext uri="{FF2B5EF4-FFF2-40B4-BE49-F238E27FC236}">
                <a16:creationId xmlns:a16="http://schemas.microsoft.com/office/drawing/2014/main" id="{AC84E26E-2433-45FE-887E-A7A225EA23FE}"/>
              </a:ext>
            </a:extLst>
          </p:cNvPr>
          <p:cNvSpPr>
            <a:spLocks xmlns:a="http://schemas.openxmlformats.org/drawingml/2006/main" noGrp="1"/>
          </p:cNvSpPr>
          <p:nvPr/>
        </p:nvSpPr>
        <p:spPr>
          <a:xfrm xmlns:a="http://schemas.openxmlformats.org/drawingml/2006/main">
            <a:off x="685800" y="4324350"/>
            <a:ext cx="10763250" cy="828675"/>
          </a:xfrm>
          <a:prstGeom xmlns:a="http://schemas.openxmlformats.org/drawingml/2006/main" prst="rect">
            <a:avLst/>
          </a:prstGeom>
          <a:solidFill xmlns:a="http://schemas.openxmlformats.org/drawingml/2006/main">
            <a:srgbClr val="EAF0EA"/>
          </a:solidFill>
          <a:ln xmlns:a="http://schemas.openxmlformats.org/drawingml/2006/main" w="19050">
            <a:solidFill>
              <a:srgbClr val="176957"/>
            </a:solidFill>
          </a:ln>
        </p:spPr>
        <p:txBody>
          <a:bodyPr xmlns:a="http://schemas.openxmlformats.org/drawingml/2006/main"/>
          <a:lstStyle xmlns:a="http://schemas.openxmlformats.org/drawingml/2006/main"/>
          <a:p xmlns:a="http://schemas.openxmlformats.org/drawingml/2006/main">
            <a:pPr>
              <a:defRPr sz="2025" b="1">
                <a:solidFill>
                  <a:srgbClr val="142B2C"/>
                </a:solidFill>
                <a:latin typeface="Apple SD Gothic Neo"/>
                <a:ea typeface="Apple SD Gothic Neo"/>
                <a:cs typeface="Apple SD Gothic Neo"/>
              </a:defRPr>
            </a:pPr>
            <a:r>
              <a:rPr sz="2025" b="1">
                <a:solidFill>
                  <a:srgbClr val="142B2C"/>
                </a:solidFill>
                <a:latin typeface="Apple SD Gothic Neo"/>
                <a:ea typeface="Apple SD Gothic Neo"/>
                <a:cs typeface="Apple SD Gothic Neo"/>
              </a:rPr>
              <a:t>L0  Spring Boot REST API · PostgreSQL 18 · 61개 테이블</a:t>
            </a:r>
          </a:p>
        </p:txBody>
      </p:sp>
      <p:sp>
        <p:nvSpPr>
          <p:cNvPr id="12" name="">
            <a:extLst xmlns:a="http://schemas.openxmlformats.org/drawingml/2006/main">
              <a:ext uri="{FF2B5EF4-FFF2-40B4-BE49-F238E27FC236}">
                <a16:creationId xmlns:a16="http://schemas.microsoft.com/office/drawing/2014/main" id="{345846FC-FD8F-49B0-80A5-637606B6FEC8}"/>
              </a:ext>
            </a:extLst>
          </p:cNvPr>
          <p:cNvSpPr>
            <a:spLocks xmlns:a="http://schemas.openxmlformats.org/drawingml/2006/main" noGrp="1"/>
          </p:cNvSpPr>
          <p:nvPr/>
        </p:nvSpPr>
        <p:spPr>
          <a:xfrm xmlns:a="http://schemas.openxmlformats.org/drawingml/2006/main">
            <a:off x="685800" y="593407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667"/>
                </a:solidFill>
                <a:latin typeface="Apple SD Gothic Neo"/>
                <a:ea typeface="Apple SD Gothic Neo"/>
                <a:cs typeface="Apple SD Gothic Neo"/>
              </a:defRPr>
            </a:pPr>
            <a:r>
              <a:rPr sz="1575" b="0">
                <a:solidFill>
                  <a:srgbClr val="526667"/>
                </a:solidFill>
                <a:latin typeface="Apple SD Gothic Neo"/>
                <a:ea typeface="Apple SD Gothic Neo"/>
                <a:cs typeface="Apple SD Gothic Neo"/>
              </a:rPr>
              <a:t>L2는 동일 API를 호출한다. 전용 화면·OAuth 제외. 능동 알림·실제 클라이언트 인수는 남아 있다.</a:t>
            </a:r>
          </a:p>
        </p:txBody>
      </p:sp>
    </p:spTree>
    <p:extLst>
      <p:ext uri="{BB962C8B-B14F-4D97-AF65-F5344CB8AC3E}">
        <p14:creationId xmlns:p14="http://schemas.microsoft.com/office/powerpoint/2010/main" val="1133555174"/>
      </p:ext>
    </p:extLst>
  </p:cSld>
</p:sld>
</file>

<file path=ppt/slides/slide5.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F12C7F8-43C7-4DCF-AC6B-9E3818400544}"/>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B2C"/>
                </a:solidFill>
                <a:latin typeface="Apple SD Gothic Neo"/>
                <a:ea typeface="Apple SD Gothic Neo"/>
                <a:cs typeface="Apple SD Gothic Neo"/>
              </a:defRPr>
            </a:pPr>
            <a:r>
              <a:rPr sz="3300" b="1">
                <a:solidFill>
                  <a:srgbClr val="142B2C"/>
                </a:solidFill>
                <a:latin typeface="Apple SD Gothic Neo"/>
                <a:ea typeface="Apple SD Gothic Neo"/>
                <a:cs typeface="Apple SD Gothic Neo"/>
              </a:rPr>
              <a:t>지속하는 Case와 인간 승인</a:t>
            </a:r>
          </a:p>
        </p:txBody>
      </p:sp>
      <p:sp>
        <p:nvSpPr>
          <p:cNvPr id="2" name="">
            <a:extLst xmlns:a="http://schemas.openxmlformats.org/drawingml/2006/main">
              <a:ext uri="{FF2B5EF4-FFF2-40B4-BE49-F238E27FC236}">
                <a16:creationId xmlns:a16="http://schemas.microsoft.com/office/drawing/2014/main" id="{3217B1E5-C974-439B-9AC1-5E339CEE05A1}"/>
              </a:ext>
            </a:extLst>
          </p:cNvPr>
          <p:cNvSpPr>
            <a:spLocks xmlns:a="http://schemas.openxmlformats.org/drawingml/2006/main" noGrp="1"/>
          </p:cNvSpPr>
          <p:nvPr/>
        </p:nvSpPr>
        <p:spPr>
          <a:xfrm xmlns:a="http://schemas.openxmlformats.org/drawingml/2006/main">
            <a:off x="11049000" y="62769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667"/>
                </a:solidFill>
                <a:latin typeface="Apple SD Gothic Neo"/>
                <a:ea typeface="Apple SD Gothic Neo"/>
                <a:cs typeface="Apple SD Gothic Neo"/>
              </a:defRPr>
            </a:pPr>
            <a:r>
              <a:rPr sz="1425" b="0">
                <a:solidFill>
                  <a:srgbClr val="526667"/>
                </a:solidFill>
                <a:latin typeface="Apple SD Gothic Neo"/>
                <a:ea typeface="Apple SD Gothic Neo"/>
                <a:cs typeface="Apple SD Gothic Neo"/>
              </a:rPr>
              <a:t>05</a:t>
            </a:r>
          </a:p>
        </p:txBody>
      </p:sp>
      <p:sp>
        <p:nvSpPr>
          <p:cNvPr id="3" name="">
            <a:extLst xmlns:a="http://schemas.openxmlformats.org/drawingml/2006/main">
              <a:ext uri="{FF2B5EF4-FFF2-40B4-BE49-F238E27FC236}">
                <a16:creationId xmlns:a16="http://schemas.microsoft.com/office/drawing/2014/main" id="{E87B71E6-DABB-43B5-98A3-A53D055EE4E7}"/>
              </a:ext>
            </a:extLst>
          </p:cNvPr>
          <p:cNvSpPr>
            <a:spLocks xmlns:a="http://schemas.openxmlformats.org/drawingml/2006/main" noGrp="1"/>
          </p:cNvSpPr>
          <p:nvPr/>
        </p:nvSpPr>
        <p:spPr>
          <a:xfrm xmlns:a="http://schemas.openxmlformats.org/drawingml/2006/main">
            <a:off x="685800" y="1647825"/>
            <a:ext cx="2324100" cy="857250"/>
          </a:xfrm>
          <a:prstGeom xmlns:a="http://schemas.openxmlformats.org/drawingml/2006/main" prst="rect">
            <a:avLst/>
          </a:prstGeom>
          <a:solidFill xmlns:a="http://schemas.openxmlformats.org/drawingml/2006/main">
            <a:srgbClr val="EAF0EA"/>
          </a:solidFill>
          <a:ln xmlns:a="http://schemas.openxmlformats.org/drawingml/2006/main" w="19050">
            <a:solidFill>
              <a:srgbClr val="176957"/>
            </a:solidFill>
          </a:ln>
        </p:spPr>
        <p:txBody>
          <a:bodyPr xmlns:a="http://schemas.openxmlformats.org/drawingml/2006/main"/>
          <a:lstStyle xmlns:a="http://schemas.openxmlformats.org/drawingml/2006/main"/>
          <a:p xmlns:a="http://schemas.openxmlformats.org/drawingml/2006/main">
            <a:pPr>
              <a:defRPr sz="2025" b="1">
                <a:solidFill>
                  <a:srgbClr val="142B2C"/>
                </a:solidFill>
                <a:latin typeface="Apple SD Gothic Neo"/>
                <a:ea typeface="Apple SD Gothic Neo"/>
                <a:cs typeface="Apple SD Gothic Neo"/>
              </a:defRPr>
            </a:pPr>
            <a:r>
              <a:rPr sz="2025" b="1">
                <a:solidFill>
                  <a:srgbClr val="142B2C"/>
                </a:solidFill>
                <a:latin typeface="Apple SD Gothic Neo"/>
                <a:ea typeface="Apple SD Gothic Neo"/>
                <a:cs typeface="Apple SD Gothic Neo"/>
              </a:rPr>
              <a:t>ACT 목표</a:t>
            </a:r>
          </a:p>
          <a:p xmlns:a="http://schemas.openxmlformats.org/drawingml/2006/main">
            <a:pPr>
              <a:defRPr sz="2025" b="1">
                <a:solidFill>
                  <a:srgbClr val="142B2C"/>
                </a:solidFill>
                <a:latin typeface="Apple SD Gothic Neo"/>
                <a:ea typeface="Apple SD Gothic Neo"/>
                <a:cs typeface="Apple SD Gothic Neo"/>
              </a:defRPr>
            </a:pPr>
            <a:r>
              <a:rPr sz="2025" b="1">
                <a:solidFill>
                  <a:srgbClr val="142B2C"/>
                </a:solidFill>
                <a:latin typeface="Apple SD Gothic Neo"/>
                <a:ea typeface="Apple SD Gothic Neo"/>
                <a:cs typeface="Apple SD Gothic Neo"/>
              </a:rPr>
              <a:t>Case 생성</a:t>
            </a:r>
          </a:p>
        </p:txBody>
      </p:sp>
      <p:sp>
        <p:nvSpPr>
          <p:cNvPr id="4" name="">
            <a:extLst xmlns:a="http://schemas.openxmlformats.org/drawingml/2006/main">
              <a:ext uri="{FF2B5EF4-FFF2-40B4-BE49-F238E27FC236}">
                <a16:creationId xmlns:a16="http://schemas.microsoft.com/office/drawing/2014/main" id="{F37B0114-F6A6-4F08-8937-F709D8577536}"/>
              </a:ext>
            </a:extLst>
          </p:cNvPr>
          <p:cNvSpPr>
            <a:spLocks xmlns:a="http://schemas.openxmlformats.org/drawingml/2006/main" noGrp="1"/>
          </p:cNvSpPr>
          <p:nvPr/>
        </p:nvSpPr>
        <p:spPr>
          <a:xfrm xmlns:a="http://schemas.openxmlformats.org/drawingml/2006/main">
            <a:off x="3009900" y="2076450"/>
            <a:ext cx="466725" cy="0"/>
          </a:xfrm>
          <a:prstGeom xmlns:a="http://schemas.openxmlformats.org/drawingml/2006/main" prst="line">
            <a:avLst/>
          </a:prstGeom>
          <a:noFill xmlns:a="http://schemas.openxmlformats.org/drawingml/2006/main"/>
          <a:ln xmlns:a="http://schemas.openxmlformats.org/drawingml/2006/main" w="19050">
            <a:solidFill>
              <a:srgbClr val="176957"/>
            </a:solidFill>
          </a:ln>
        </p:spPr>
      </p:sp>
      <p:sp>
        <p:nvSpPr>
          <p:cNvPr id="5" name="">
            <a:extLst xmlns:a="http://schemas.openxmlformats.org/drawingml/2006/main">
              <a:ext uri="{FF2B5EF4-FFF2-40B4-BE49-F238E27FC236}">
                <a16:creationId xmlns:a16="http://schemas.microsoft.com/office/drawing/2014/main" id="{765FA9C3-45E3-4A7B-9E0C-26263F885287}"/>
              </a:ext>
            </a:extLst>
          </p:cNvPr>
          <p:cNvSpPr>
            <a:spLocks xmlns:a="http://schemas.openxmlformats.org/drawingml/2006/main" noGrp="1"/>
          </p:cNvSpPr>
          <p:nvPr/>
        </p:nvSpPr>
        <p:spPr>
          <a:xfrm xmlns:a="http://schemas.openxmlformats.org/drawingml/2006/main">
            <a:off x="3476625" y="1647825"/>
            <a:ext cx="2324100" cy="857250"/>
          </a:xfrm>
          <a:prstGeom xmlns:a="http://schemas.openxmlformats.org/drawingml/2006/main" prst="rect">
            <a:avLst/>
          </a:prstGeom>
          <a:solidFill xmlns:a="http://schemas.openxmlformats.org/drawingml/2006/main">
            <a:srgbClr val="EAF0EA"/>
          </a:solidFill>
          <a:ln xmlns:a="http://schemas.openxmlformats.org/drawingml/2006/main" w="19050">
            <a:solidFill>
              <a:srgbClr val="176957"/>
            </a:solidFill>
          </a:ln>
        </p:spPr>
        <p:txBody>
          <a:bodyPr xmlns:a="http://schemas.openxmlformats.org/drawingml/2006/main"/>
          <a:lstStyle xmlns:a="http://schemas.openxmlformats.org/drawingml/2006/main"/>
          <a:p xmlns:a="http://schemas.openxmlformats.org/drawingml/2006/main">
            <a:pPr>
              <a:defRPr sz="2025" b="1">
                <a:solidFill>
                  <a:srgbClr val="142B2C"/>
                </a:solidFill>
                <a:latin typeface="Apple SD Gothic Neo"/>
                <a:ea typeface="Apple SD Gothic Neo"/>
                <a:cs typeface="Apple SD Gothic Neo"/>
              </a:defRPr>
            </a:pPr>
            <a:r>
              <a:rPr sz="2025" b="1">
                <a:solidFill>
                  <a:srgbClr val="142B2C"/>
                </a:solidFill>
                <a:latin typeface="Apple SD Gothic Neo"/>
                <a:ea typeface="Apple SD Gothic Neo"/>
                <a:cs typeface="Apple SD Gothic Neo"/>
              </a:rPr>
              <a:t>담당 Work Item</a:t>
            </a:r>
          </a:p>
          <a:p xmlns:a="http://schemas.openxmlformats.org/drawingml/2006/main">
            <a:pPr>
              <a:defRPr sz="2025" b="1">
                <a:solidFill>
                  <a:srgbClr val="142B2C"/>
                </a:solidFill>
                <a:latin typeface="Apple SD Gothic Neo"/>
                <a:ea typeface="Apple SD Gothic Neo"/>
                <a:cs typeface="Apple SD Gothic Neo"/>
              </a:defRPr>
            </a:pPr>
            <a:r>
              <a:rPr sz="2025" b="1">
                <a:solidFill>
                  <a:srgbClr val="142B2C"/>
                </a:solidFill>
                <a:latin typeface="Apple SD Gothic Neo"/>
                <a:ea typeface="Apple SD Gothic Neo"/>
                <a:cs typeface="Apple SD Gothic Neo"/>
              </a:rPr>
              <a:t>Run 실행</a:t>
            </a:r>
          </a:p>
        </p:txBody>
      </p:sp>
      <p:sp>
        <p:nvSpPr>
          <p:cNvPr id="6" name="">
            <a:extLst xmlns:a="http://schemas.openxmlformats.org/drawingml/2006/main">
              <a:ext uri="{FF2B5EF4-FFF2-40B4-BE49-F238E27FC236}">
                <a16:creationId xmlns:a16="http://schemas.microsoft.com/office/drawing/2014/main" id="{894747A2-E5AC-4208-A9BF-44CFEF3621D7}"/>
              </a:ext>
            </a:extLst>
          </p:cNvPr>
          <p:cNvSpPr>
            <a:spLocks xmlns:a="http://schemas.openxmlformats.org/drawingml/2006/main" noGrp="1"/>
          </p:cNvSpPr>
          <p:nvPr/>
        </p:nvSpPr>
        <p:spPr>
          <a:xfrm xmlns:a="http://schemas.openxmlformats.org/drawingml/2006/main">
            <a:off x="5800725" y="2076450"/>
            <a:ext cx="466725" cy="0"/>
          </a:xfrm>
          <a:prstGeom xmlns:a="http://schemas.openxmlformats.org/drawingml/2006/main" prst="line">
            <a:avLst/>
          </a:prstGeom>
          <a:noFill xmlns:a="http://schemas.openxmlformats.org/drawingml/2006/main"/>
          <a:ln xmlns:a="http://schemas.openxmlformats.org/drawingml/2006/main" w="19050">
            <a:solidFill>
              <a:srgbClr val="176957"/>
            </a:solidFill>
          </a:ln>
        </p:spPr>
      </p:sp>
      <p:sp>
        <p:nvSpPr>
          <p:cNvPr id="7" name="">
            <a:extLst xmlns:a="http://schemas.openxmlformats.org/drawingml/2006/main">
              <a:ext uri="{FF2B5EF4-FFF2-40B4-BE49-F238E27FC236}">
                <a16:creationId xmlns:a16="http://schemas.microsoft.com/office/drawing/2014/main" id="{113C2B7B-4F6B-4556-ABF8-E05CF2652D7A}"/>
              </a:ext>
            </a:extLst>
          </p:cNvPr>
          <p:cNvSpPr>
            <a:spLocks xmlns:a="http://schemas.openxmlformats.org/drawingml/2006/main" noGrp="1"/>
          </p:cNvSpPr>
          <p:nvPr/>
        </p:nvSpPr>
        <p:spPr>
          <a:xfrm xmlns:a="http://schemas.openxmlformats.org/drawingml/2006/main">
            <a:off x="6267450" y="1647825"/>
            <a:ext cx="2324100" cy="857250"/>
          </a:xfrm>
          <a:prstGeom xmlns:a="http://schemas.openxmlformats.org/drawingml/2006/main" prst="rect">
            <a:avLst/>
          </a:prstGeom>
          <a:solidFill xmlns:a="http://schemas.openxmlformats.org/drawingml/2006/main">
            <a:srgbClr val="EAF0EA"/>
          </a:solidFill>
          <a:ln xmlns:a="http://schemas.openxmlformats.org/drawingml/2006/main" w="19050">
            <a:solidFill>
              <a:srgbClr val="176957"/>
            </a:solidFill>
          </a:ln>
        </p:spPr>
        <p:txBody>
          <a:bodyPr xmlns:a="http://schemas.openxmlformats.org/drawingml/2006/main"/>
          <a:lstStyle xmlns:a="http://schemas.openxmlformats.org/drawingml/2006/main"/>
          <a:p xmlns:a="http://schemas.openxmlformats.org/drawingml/2006/main">
            <a:pPr>
              <a:defRPr sz="2025" b="1">
                <a:solidFill>
                  <a:srgbClr val="142B2C"/>
                </a:solidFill>
                <a:latin typeface="Apple SD Gothic Neo"/>
                <a:ea typeface="Apple SD Gothic Neo"/>
                <a:cs typeface="Apple SD Gothic Neo"/>
              </a:defRPr>
            </a:pPr>
            <a:r>
              <a:rPr sz="2025" b="1">
                <a:solidFill>
                  <a:srgbClr val="142B2C"/>
                </a:solidFill>
                <a:latin typeface="Apple SD Gothic Neo"/>
                <a:ea typeface="Apple SD Gothic Neo"/>
                <a:cs typeface="Apple SD Gothic Neo"/>
              </a:rPr>
              <a:t>인간 판단 필요</a:t>
            </a:r>
          </a:p>
          <a:p xmlns:a="http://schemas.openxmlformats.org/drawingml/2006/main">
            <a:pPr>
              <a:defRPr sz="2025" b="1">
                <a:solidFill>
                  <a:srgbClr val="142B2C"/>
                </a:solidFill>
                <a:latin typeface="Apple SD Gothic Neo"/>
                <a:ea typeface="Apple SD Gothic Neo"/>
                <a:cs typeface="Apple SD Gothic Neo"/>
              </a:defRPr>
            </a:pPr>
            <a:r>
              <a:rPr sz="2025" b="1">
                <a:solidFill>
                  <a:srgbClr val="142B2C"/>
                </a:solidFill>
                <a:latin typeface="Apple SD Gothic Neo"/>
                <a:ea typeface="Apple SD Gothic Neo"/>
                <a:cs typeface="Apple SD Gothic Neo"/>
              </a:rPr>
              <a:t>Attention 대기</a:t>
            </a:r>
          </a:p>
        </p:txBody>
      </p:sp>
      <p:sp>
        <p:nvSpPr>
          <p:cNvPr id="8" name="">
            <a:extLst xmlns:a="http://schemas.openxmlformats.org/drawingml/2006/main">
              <a:ext uri="{FF2B5EF4-FFF2-40B4-BE49-F238E27FC236}">
                <a16:creationId xmlns:a16="http://schemas.microsoft.com/office/drawing/2014/main" id="{A09A8D9A-2C43-4B72-96FE-619B90247621}"/>
              </a:ext>
            </a:extLst>
          </p:cNvPr>
          <p:cNvSpPr>
            <a:spLocks xmlns:a="http://schemas.openxmlformats.org/drawingml/2006/main" noGrp="1"/>
          </p:cNvSpPr>
          <p:nvPr/>
        </p:nvSpPr>
        <p:spPr>
          <a:xfrm xmlns:a="http://schemas.openxmlformats.org/drawingml/2006/main">
            <a:off x="8591550" y="2076450"/>
            <a:ext cx="466725" cy="0"/>
          </a:xfrm>
          <a:prstGeom xmlns:a="http://schemas.openxmlformats.org/drawingml/2006/main" prst="line">
            <a:avLst/>
          </a:prstGeom>
          <a:noFill xmlns:a="http://schemas.openxmlformats.org/drawingml/2006/main"/>
          <a:ln xmlns:a="http://schemas.openxmlformats.org/drawingml/2006/main" w="19050">
            <a:solidFill>
              <a:srgbClr val="176957"/>
            </a:solidFill>
          </a:ln>
        </p:spPr>
      </p:sp>
      <p:sp>
        <p:nvSpPr>
          <p:cNvPr id="9" name="">
            <a:extLst xmlns:a="http://schemas.openxmlformats.org/drawingml/2006/main">
              <a:ext uri="{FF2B5EF4-FFF2-40B4-BE49-F238E27FC236}">
                <a16:creationId xmlns:a16="http://schemas.microsoft.com/office/drawing/2014/main" id="{DDC66083-48E6-40BB-9E1F-C012EEC69738}"/>
              </a:ext>
            </a:extLst>
          </p:cNvPr>
          <p:cNvSpPr>
            <a:spLocks xmlns:a="http://schemas.openxmlformats.org/drawingml/2006/main" noGrp="1"/>
          </p:cNvSpPr>
          <p:nvPr/>
        </p:nvSpPr>
        <p:spPr>
          <a:xfrm xmlns:a="http://schemas.openxmlformats.org/drawingml/2006/main">
            <a:off x="9058275" y="1647825"/>
            <a:ext cx="2324100" cy="857250"/>
          </a:xfrm>
          <a:prstGeom xmlns:a="http://schemas.openxmlformats.org/drawingml/2006/main" prst="rect">
            <a:avLst/>
          </a:prstGeom>
          <a:solidFill xmlns:a="http://schemas.openxmlformats.org/drawingml/2006/main">
            <a:srgbClr val="EAF0EA"/>
          </a:solidFill>
          <a:ln xmlns:a="http://schemas.openxmlformats.org/drawingml/2006/main" w="19050">
            <a:solidFill>
              <a:srgbClr val="176957"/>
            </a:solidFill>
          </a:ln>
        </p:spPr>
        <p:txBody>
          <a:bodyPr xmlns:a="http://schemas.openxmlformats.org/drawingml/2006/main"/>
          <a:lstStyle xmlns:a="http://schemas.openxmlformats.org/drawingml/2006/main"/>
          <a:p xmlns:a="http://schemas.openxmlformats.org/drawingml/2006/main">
            <a:pPr>
              <a:defRPr sz="2025" b="1">
                <a:solidFill>
                  <a:srgbClr val="142B2C"/>
                </a:solidFill>
                <a:latin typeface="Apple SD Gothic Neo"/>
                <a:ea typeface="Apple SD Gothic Neo"/>
                <a:cs typeface="Apple SD Gothic Neo"/>
              </a:defRPr>
            </a:pPr>
            <a:r>
              <a:rPr sz="2025" b="1">
                <a:solidFill>
                  <a:srgbClr val="142B2C"/>
                </a:solidFill>
                <a:latin typeface="Apple SD Gothic Neo"/>
                <a:ea typeface="Apple SD Gothic Neo"/>
                <a:cs typeface="Apple SD Gothic Neo"/>
              </a:rPr>
              <a:t>답변·승인</a:t>
            </a:r>
          </a:p>
          <a:p xmlns:a="http://schemas.openxmlformats.org/drawingml/2006/main">
            <a:pPr>
              <a:defRPr sz="2025" b="1">
                <a:solidFill>
                  <a:srgbClr val="142B2C"/>
                </a:solidFill>
                <a:latin typeface="Apple SD Gothic Neo"/>
                <a:ea typeface="Apple SD Gothic Neo"/>
                <a:cs typeface="Apple SD Gothic Neo"/>
              </a:defRPr>
            </a:pPr>
            <a:r>
              <a:rPr sz="2025" b="1">
                <a:solidFill>
                  <a:srgbClr val="142B2C"/>
                </a:solidFill>
                <a:latin typeface="Apple SD Gothic Neo"/>
                <a:ea typeface="Apple SD Gothic Neo"/>
                <a:cs typeface="Apple SD Gothic Neo"/>
              </a:rPr>
              <a:t>Event 기록</a:t>
            </a:r>
          </a:p>
        </p:txBody>
      </p:sp>
      <p:sp>
        <p:nvSpPr>
          <p:cNvPr id="10" name="">
            <a:extLst xmlns:a="http://schemas.openxmlformats.org/drawingml/2006/main">
              <a:ext uri="{FF2B5EF4-FFF2-40B4-BE49-F238E27FC236}">
                <a16:creationId xmlns:a16="http://schemas.microsoft.com/office/drawing/2014/main" id="{5472F88E-F545-4BD8-AAAD-26E1FA2393EA}"/>
              </a:ext>
            </a:extLst>
          </p:cNvPr>
          <p:cNvSpPr>
            <a:spLocks xmlns:a="http://schemas.openxmlformats.org/drawingml/2006/main" noGrp="1"/>
          </p:cNvSpPr>
          <p:nvPr/>
        </p:nvSpPr>
        <p:spPr>
          <a:xfrm xmlns:a="http://schemas.openxmlformats.org/drawingml/2006/main">
            <a:off x="685800" y="326707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2B2C"/>
                </a:solidFill>
                <a:latin typeface="Apple SD Gothic Neo"/>
                <a:ea typeface="Apple SD Gothic Neo"/>
                <a:cs typeface="Apple SD Gothic Neo"/>
              </a:defRPr>
            </a:pPr>
            <a:r>
              <a:rPr sz="2700" b="1">
                <a:solidFill>
                  <a:srgbClr val="142B2C"/>
                </a:solidFill>
                <a:latin typeface="Apple SD Gothic Neo"/>
                <a:ea typeface="Apple SD Gothic Neo"/>
                <a:cs typeface="Apple SD Gothic Neo"/>
              </a:rPr>
              <a:t>모델 실행은 종료해도 업무 책임과 재개 근거는 DB에 남는다</a:t>
            </a:r>
          </a:p>
        </p:txBody>
      </p:sp>
      <p:sp>
        <p:nvSpPr>
          <p:cNvPr id="11" name="">
            <a:extLst xmlns:a="http://schemas.openxmlformats.org/drawingml/2006/main">
              <a:ext uri="{FF2B5EF4-FFF2-40B4-BE49-F238E27FC236}">
                <a16:creationId xmlns:a16="http://schemas.microsoft.com/office/drawing/2014/main" id="{2EC7D1AE-8458-40A4-A140-DEE73F4C0855}"/>
              </a:ext>
            </a:extLst>
          </p:cNvPr>
          <p:cNvSpPr>
            <a:spLocks xmlns:a="http://schemas.openxmlformats.org/drawingml/2006/main" noGrp="1"/>
          </p:cNvSpPr>
          <p:nvPr/>
        </p:nvSpPr>
        <p:spPr>
          <a:xfrm xmlns:a="http://schemas.openxmlformats.org/drawingml/2006/main">
            <a:off x="685800" y="437197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6957"/>
                </a:solidFill>
                <a:latin typeface="Apple SD Gothic Neo"/>
                <a:ea typeface="Apple SD Gothic Neo"/>
                <a:cs typeface="Apple SD Gothic Neo"/>
              </a:defRPr>
            </a:pPr>
            <a:r>
              <a:rPr sz="2250" b="0">
                <a:solidFill>
                  <a:srgbClr val="176957"/>
                </a:solidFill>
                <a:latin typeface="Apple SD Gothic Neo"/>
                <a:ea typeface="Apple SD Gothic Neo"/>
                <a:cs typeface="Apple SD Gothic Neo"/>
              </a:rPr>
              <a:t>구매 MANAGER   /   입고 QC   /   리콜 ADMIN</a:t>
            </a:r>
          </a:p>
        </p:txBody>
      </p:sp>
      <p:sp>
        <p:nvSpPr>
          <p:cNvPr id="12" name="">
            <a:extLst xmlns:a="http://schemas.openxmlformats.org/drawingml/2006/main">
              <a:ext uri="{FF2B5EF4-FFF2-40B4-BE49-F238E27FC236}">
                <a16:creationId xmlns:a16="http://schemas.microsoft.com/office/drawing/2014/main" id="{E253724C-6A2F-4038-BBE1-DEA34999D482}"/>
              </a:ext>
            </a:extLst>
          </p:cNvPr>
          <p:cNvSpPr>
            <a:spLocks xmlns:a="http://schemas.openxmlformats.org/drawingml/2006/main" noGrp="1"/>
          </p:cNvSpPr>
          <p:nvPr/>
        </p:nvSpPr>
        <p:spPr>
          <a:xfrm xmlns:a="http://schemas.openxmlformats.org/drawingml/2006/main">
            <a:off x="685800" y="593407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667"/>
                </a:solidFill>
                <a:latin typeface="Apple SD Gothic Neo"/>
                <a:ea typeface="Apple SD Gothic Neo"/>
                <a:cs typeface="Apple SD Gothic Neo"/>
              </a:defRPr>
            </a:pPr>
            <a:r>
              <a:rPr sz="1575" b="0">
                <a:solidFill>
                  <a:srgbClr val="526667"/>
                </a:solidFill>
                <a:latin typeface="Apple SD Gothic Neo"/>
                <a:ea typeface="Apple SD Gothic Neo"/>
                <a:cs typeface="Apple SD Gothic Neo"/>
              </a:rPr>
              <a:t>조회는 Case를 만들지 않는다. 승인·반려·멱등 replay의 결과를 ERP 상태로 검증한다.</a:t>
            </a:r>
          </a:p>
        </p:txBody>
      </p:sp>
    </p:spTree>
    <p:extLst>
      <p:ext uri="{BB962C8B-B14F-4D97-AF65-F5344CB8AC3E}">
        <p14:creationId xmlns:p14="http://schemas.microsoft.com/office/powerpoint/2010/main" val="2054261624"/>
      </p:ext>
    </p:extLst>
  </p:cSld>
</p:sld>
</file>

<file path=ppt/slides/slide6.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F66BDFD-0561-4A11-84CF-978222851FD9}"/>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B2C"/>
                </a:solidFill>
                <a:latin typeface="Apple SD Gothic Neo"/>
                <a:ea typeface="Apple SD Gothic Neo"/>
                <a:cs typeface="Apple SD Gothic Neo"/>
              </a:defRPr>
            </a:pPr>
            <a:r>
              <a:rPr sz="3300" b="1">
                <a:solidFill>
                  <a:srgbClr val="142B2C"/>
                </a:solidFill>
                <a:latin typeface="Apple SD Gothic Neo"/>
                <a:ea typeface="Apple SD Gothic Neo"/>
                <a:cs typeface="Apple SD Gothic Neo"/>
              </a:rPr>
              <a:t>구매 데모: 제안과 발주 사이의 승인</a:t>
            </a:r>
          </a:p>
        </p:txBody>
      </p:sp>
      <p:sp>
        <p:nvSpPr>
          <p:cNvPr id="2" name="">
            <a:extLst xmlns:a="http://schemas.openxmlformats.org/drawingml/2006/main">
              <a:ext uri="{FF2B5EF4-FFF2-40B4-BE49-F238E27FC236}">
                <a16:creationId xmlns:a16="http://schemas.microsoft.com/office/drawing/2014/main" id="{4F00AA6B-4736-4371-9956-9AE06477A3A9}"/>
              </a:ext>
            </a:extLst>
          </p:cNvPr>
          <p:cNvSpPr>
            <a:spLocks xmlns:a="http://schemas.openxmlformats.org/drawingml/2006/main" noGrp="1"/>
          </p:cNvSpPr>
          <p:nvPr/>
        </p:nvSpPr>
        <p:spPr>
          <a:xfrm xmlns:a="http://schemas.openxmlformats.org/drawingml/2006/main">
            <a:off x="11049000" y="62769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667"/>
                </a:solidFill>
                <a:latin typeface="Apple SD Gothic Neo"/>
                <a:ea typeface="Apple SD Gothic Neo"/>
                <a:cs typeface="Apple SD Gothic Neo"/>
              </a:defRPr>
            </a:pPr>
            <a:r>
              <a:rPr sz="1425" b="0">
                <a:solidFill>
                  <a:srgbClr val="526667"/>
                </a:solidFill>
                <a:latin typeface="Apple SD Gothic Neo"/>
                <a:ea typeface="Apple SD Gothic Neo"/>
                <a:cs typeface="Apple SD Gothic Neo"/>
              </a:rPr>
              <a:t>06</a:t>
            </a:r>
          </a:p>
        </p:txBody>
      </p:sp>
      <p:sp>
        <p:nvSpPr>
          <p:cNvPr id="3" name="">
            <a:extLst xmlns:a="http://schemas.openxmlformats.org/drawingml/2006/main">
              <a:ext uri="{FF2B5EF4-FFF2-40B4-BE49-F238E27FC236}">
                <a16:creationId xmlns:a16="http://schemas.microsoft.com/office/drawing/2014/main" id="{E39A27DD-BC0D-44F0-9AA9-5CA6D7006A21}"/>
              </a:ext>
            </a:extLst>
          </p:cNvPr>
          <p:cNvSpPr>
            <a:spLocks xmlns:a="http://schemas.openxmlformats.org/drawingml/2006/main" noGrp="1"/>
          </p:cNvSpPr>
          <p:nvPr/>
        </p:nvSpPr>
        <p:spPr>
          <a:xfrm xmlns:a="http://schemas.openxmlformats.org/drawingml/2006/main">
            <a:off x="685800" y="15430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2C"/>
                </a:solidFill>
                <a:latin typeface="Apple SD Gothic Neo"/>
                <a:ea typeface="Apple SD Gothic Neo"/>
                <a:cs typeface="Apple SD Gothic Neo"/>
              </a:defRPr>
            </a:pPr>
            <a:r>
              <a:rPr sz="2250" b="1">
                <a:solidFill>
                  <a:srgbClr val="142B2C"/>
                </a:solidFill>
                <a:latin typeface="Apple SD Gothic Neo"/>
                <a:ea typeface="Apple SD Gothic Neo"/>
                <a:cs typeface="Apple SD Gothic Neo"/>
              </a:rPr>
              <a:t>1. 순소요와 공급처를 계산한다</a:t>
            </a:r>
          </a:p>
        </p:txBody>
      </p:sp>
      <p:sp>
        <p:nvSpPr>
          <p:cNvPr id="4" name="">
            <a:extLst xmlns:a="http://schemas.openxmlformats.org/drawingml/2006/main">
              <a:ext uri="{FF2B5EF4-FFF2-40B4-BE49-F238E27FC236}">
                <a16:creationId xmlns:a16="http://schemas.microsoft.com/office/drawing/2014/main" id="{6D63B68F-CBC7-438B-969D-385C76B7A542}"/>
              </a:ext>
            </a:extLst>
          </p:cNvPr>
          <p:cNvSpPr>
            <a:spLocks xmlns:a="http://schemas.openxmlformats.org/drawingml/2006/main" noGrp="1"/>
          </p:cNvSpPr>
          <p:nvPr/>
        </p:nvSpPr>
        <p:spPr>
          <a:xfrm xmlns:a="http://schemas.openxmlformats.org/drawingml/2006/main">
            <a:off x="685800" y="200977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B2C"/>
                </a:solidFill>
                <a:latin typeface="Apple SD Gothic Neo"/>
                <a:ea typeface="Apple SD Gothic Neo"/>
                <a:cs typeface="Apple SD Gothic Neo"/>
              </a:defRPr>
            </a:pPr>
            <a:r>
              <a:rPr sz="2025" b="0">
                <a:solidFill>
                  <a:srgbClr val="142B2C"/>
                </a:solidFill>
                <a:latin typeface="Apple SD Gothic Neo"/>
                <a:ea typeface="Apple SD Gothic Neo"/>
                <a:cs typeface="Apple SD Gothic Neo"/>
              </a:rPr>
              <a:t>수요·BOM·가용 LOT·예정 입고·MOQ를 반영한 후보를 저장한다.</a:t>
            </a:r>
          </a:p>
        </p:txBody>
      </p:sp>
      <p:sp>
        <p:nvSpPr>
          <p:cNvPr id="5" name="">
            <a:extLst xmlns:a="http://schemas.openxmlformats.org/drawingml/2006/main">
              <a:ext uri="{FF2B5EF4-FFF2-40B4-BE49-F238E27FC236}">
                <a16:creationId xmlns:a16="http://schemas.microsoft.com/office/drawing/2014/main" id="{8C276699-7A53-4A0C-B328-3A8083007DBC}"/>
              </a:ext>
            </a:extLst>
          </p:cNvPr>
          <p:cNvSpPr>
            <a:spLocks xmlns:a="http://schemas.openxmlformats.org/drawingml/2006/main" noGrp="1"/>
          </p:cNvSpPr>
          <p:nvPr/>
        </p:nvSpPr>
        <p:spPr>
          <a:xfrm xmlns:a="http://schemas.openxmlformats.org/drawingml/2006/main">
            <a:off x="685800" y="29051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2C"/>
                </a:solidFill>
                <a:latin typeface="Apple SD Gothic Neo"/>
                <a:ea typeface="Apple SD Gothic Neo"/>
                <a:cs typeface="Apple SD Gothic Neo"/>
              </a:defRPr>
            </a:pPr>
            <a:r>
              <a:rPr sz="2250" b="1">
                <a:solidFill>
                  <a:srgbClr val="142B2C"/>
                </a:solidFill>
                <a:latin typeface="Apple SD Gothic Neo"/>
                <a:ea typeface="Apple SD Gothic Neo"/>
                <a:cs typeface="Apple SD Gothic Neo"/>
              </a:rPr>
              <a:t>2. MANAGER가 구매 제안을 판단한다</a:t>
            </a:r>
          </a:p>
        </p:txBody>
      </p:sp>
      <p:sp>
        <p:nvSpPr>
          <p:cNvPr id="6" name="">
            <a:extLst xmlns:a="http://schemas.openxmlformats.org/drawingml/2006/main">
              <a:ext uri="{FF2B5EF4-FFF2-40B4-BE49-F238E27FC236}">
                <a16:creationId xmlns:a16="http://schemas.microsoft.com/office/drawing/2014/main" id="{B0E53FC4-7B8A-4085-A50C-A864B80CF49F}"/>
              </a:ext>
            </a:extLst>
          </p:cNvPr>
          <p:cNvSpPr>
            <a:spLocks xmlns:a="http://schemas.openxmlformats.org/drawingml/2006/main" noGrp="1"/>
          </p:cNvSpPr>
          <p:nvPr/>
        </p:nvSpPr>
        <p:spPr>
          <a:xfrm xmlns:a="http://schemas.openxmlformats.org/drawingml/2006/main">
            <a:off x="685800" y="337185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B2C"/>
                </a:solidFill>
                <a:latin typeface="Apple SD Gothic Neo"/>
                <a:ea typeface="Apple SD Gothic Neo"/>
                <a:cs typeface="Apple SD Gothic Neo"/>
              </a:defRPr>
            </a:pPr>
            <a:r>
              <a:rPr sz="2025" b="0">
                <a:solidFill>
                  <a:srgbClr val="142B2C"/>
                </a:solidFill>
                <a:latin typeface="Apple SD Gothic Neo"/>
                <a:ea typeface="Apple SD Gothic Neo"/>
                <a:cs typeface="Apple SD Gothic Neo"/>
              </a:rPr>
              <a:t>승인 전 PO는 없다. 반려는 ERP를 변경하지 않는다.</a:t>
            </a:r>
          </a:p>
        </p:txBody>
      </p:sp>
      <p:sp>
        <p:nvSpPr>
          <p:cNvPr id="7" name="">
            <a:extLst xmlns:a="http://schemas.openxmlformats.org/drawingml/2006/main">
              <a:ext uri="{FF2B5EF4-FFF2-40B4-BE49-F238E27FC236}">
                <a16:creationId xmlns:a16="http://schemas.microsoft.com/office/drawing/2014/main" id="{7747C8FC-09C4-47E1-AE2B-E0E953C5C378}"/>
              </a:ext>
            </a:extLst>
          </p:cNvPr>
          <p:cNvSpPr>
            <a:spLocks xmlns:a="http://schemas.openxmlformats.org/drawingml/2006/main" noGrp="1"/>
          </p:cNvSpPr>
          <p:nvPr/>
        </p:nvSpPr>
        <p:spPr>
          <a:xfrm xmlns:a="http://schemas.openxmlformats.org/drawingml/2006/main">
            <a:off x="685800" y="42672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2C"/>
                </a:solidFill>
                <a:latin typeface="Apple SD Gothic Neo"/>
                <a:ea typeface="Apple SD Gothic Neo"/>
                <a:cs typeface="Apple SD Gothic Neo"/>
              </a:defRPr>
            </a:pPr>
            <a:r>
              <a:rPr sz="2250" b="1">
                <a:solidFill>
                  <a:srgbClr val="142B2C"/>
                </a:solidFill>
                <a:latin typeface="Apple SD Gothic Neo"/>
                <a:ea typeface="Apple SD Gothic Neo"/>
                <a:cs typeface="Apple SD Gothic Neo"/>
              </a:rPr>
              <a:t>3. 결정 뒤에도 동일 Case를 이어간다</a:t>
            </a:r>
          </a:p>
        </p:txBody>
      </p:sp>
      <p:sp>
        <p:nvSpPr>
          <p:cNvPr id="8" name="">
            <a:extLst xmlns:a="http://schemas.openxmlformats.org/drawingml/2006/main">
              <a:ext uri="{FF2B5EF4-FFF2-40B4-BE49-F238E27FC236}">
                <a16:creationId xmlns:a16="http://schemas.microsoft.com/office/drawing/2014/main" id="{232D61AF-9547-45D4-8EEC-C5743BB3C681}"/>
              </a:ext>
            </a:extLst>
          </p:cNvPr>
          <p:cNvSpPr>
            <a:spLocks xmlns:a="http://schemas.openxmlformats.org/drawingml/2006/main" noGrp="1"/>
          </p:cNvSpPr>
          <p:nvPr/>
        </p:nvSpPr>
        <p:spPr>
          <a:xfrm xmlns:a="http://schemas.openxmlformats.org/drawingml/2006/main">
            <a:off x="685800" y="473392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B2C"/>
                </a:solidFill>
                <a:latin typeface="Apple SD Gothic Neo"/>
                <a:ea typeface="Apple SD Gothic Neo"/>
                <a:cs typeface="Apple SD Gothic Neo"/>
              </a:defRPr>
            </a:pPr>
            <a:r>
              <a:rPr sz="2025" b="0">
                <a:solidFill>
                  <a:srgbClr val="142B2C"/>
                </a:solidFill>
                <a:latin typeface="Apple SD Gothic Neo"/>
                <a:ea typeface="Apple SD Gothic Neo"/>
                <a:cs typeface="Apple SD Gothic Neo"/>
              </a:rPr>
              <a:t>발주 적용과 후속 업무를 연결하고 중복 요청은 같은 결과를 반환한다.</a:t>
            </a:r>
          </a:p>
        </p:txBody>
      </p:sp>
      <p:sp>
        <p:nvSpPr>
          <p:cNvPr id="9" name="">
            <a:extLst xmlns:a="http://schemas.openxmlformats.org/drawingml/2006/main">
              <a:ext uri="{FF2B5EF4-FFF2-40B4-BE49-F238E27FC236}">
                <a16:creationId xmlns:a16="http://schemas.microsoft.com/office/drawing/2014/main" id="{741A9402-12B6-4DCF-A895-B7183EDA7B29}"/>
              </a:ext>
            </a:extLst>
          </p:cNvPr>
          <p:cNvSpPr>
            <a:spLocks xmlns:a="http://schemas.openxmlformats.org/drawingml/2006/main" noGrp="1"/>
          </p:cNvSpPr>
          <p:nvPr/>
        </p:nvSpPr>
        <p:spPr>
          <a:xfrm xmlns:a="http://schemas.openxmlformats.org/drawingml/2006/main">
            <a:off x="685800" y="593407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667"/>
                </a:solidFill>
                <a:latin typeface="Apple SD Gothic Neo"/>
                <a:ea typeface="Apple SD Gothic Neo"/>
                <a:cs typeface="Apple SD Gothic Neo"/>
              </a:defRPr>
            </a:pPr>
            <a:r>
              <a:rPr sz="1575" b="0">
                <a:solidFill>
                  <a:srgbClr val="526667"/>
                </a:solidFill>
                <a:latin typeface="Apple SD Gothic Neo"/>
                <a:ea typeface="Apple SD Gothic Neo"/>
                <a:cs typeface="Apple SD Gothic Neo"/>
              </a:rPr>
              <a:t>#34 데모 5/5는 source d7ce2d8 기록이다. 현재 모델 UAT 결과는 별도 인수 자료다.</a:t>
            </a:r>
          </a:p>
        </p:txBody>
      </p:sp>
    </p:spTree>
    <p:extLst>
      <p:ext uri="{BB962C8B-B14F-4D97-AF65-F5344CB8AC3E}">
        <p14:creationId xmlns:p14="http://schemas.microsoft.com/office/powerpoint/2010/main" val="296239952"/>
      </p:ext>
    </p:extLst>
  </p:cSld>
</p:sld>
</file>

<file path=ppt/slides/slide7.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53092A6-AD20-45B3-8512-B1619EE3E077}"/>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B2C"/>
                </a:solidFill>
                <a:latin typeface="Apple SD Gothic Neo"/>
                <a:ea typeface="Apple SD Gothic Neo"/>
                <a:cs typeface="Apple SD Gothic Neo"/>
              </a:defRPr>
            </a:pPr>
            <a:r>
              <a:rPr sz="3300" b="1">
                <a:solidFill>
                  <a:srgbClr val="142B2C"/>
                </a:solidFill>
                <a:latin typeface="Apple SD Gothic Neo"/>
                <a:ea typeface="Apple SD Gothic Neo"/>
                <a:cs typeface="Apple SD Gothic Neo"/>
              </a:rPr>
              <a:t>입고 품질: QC 판단을 적용한다</a:t>
            </a:r>
          </a:p>
        </p:txBody>
      </p:sp>
      <p:sp>
        <p:nvSpPr>
          <p:cNvPr id="2" name="">
            <a:extLst xmlns:a="http://schemas.openxmlformats.org/drawingml/2006/main">
              <a:ext uri="{FF2B5EF4-FFF2-40B4-BE49-F238E27FC236}">
                <a16:creationId xmlns:a16="http://schemas.microsoft.com/office/drawing/2014/main" id="{CB789B08-0A2F-47CE-B373-86A282F46BFE}"/>
              </a:ext>
            </a:extLst>
          </p:cNvPr>
          <p:cNvSpPr>
            <a:spLocks xmlns:a="http://schemas.openxmlformats.org/drawingml/2006/main" noGrp="1"/>
          </p:cNvSpPr>
          <p:nvPr/>
        </p:nvSpPr>
        <p:spPr>
          <a:xfrm xmlns:a="http://schemas.openxmlformats.org/drawingml/2006/main">
            <a:off x="11049000" y="62769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667"/>
                </a:solidFill>
                <a:latin typeface="Apple SD Gothic Neo"/>
                <a:ea typeface="Apple SD Gothic Neo"/>
                <a:cs typeface="Apple SD Gothic Neo"/>
              </a:defRPr>
            </a:pPr>
            <a:r>
              <a:rPr sz="1425" b="0">
                <a:solidFill>
                  <a:srgbClr val="526667"/>
                </a:solidFill>
                <a:latin typeface="Apple SD Gothic Neo"/>
                <a:ea typeface="Apple SD Gothic Neo"/>
                <a:cs typeface="Apple SD Gothic Neo"/>
              </a:rPr>
              <a:t>07</a:t>
            </a:r>
          </a:p>
        </p:txBody>
      </p:sp>
      <p:sp>
        <p:nvSpPr>
          <p:cNvPr id="3" name="">
            <a:extLst xmlns:a="http://schemas.openxmlformats.org/drawingml/2006/main">
              <a:ext uri="{FF2B5EF4-FFF2-40B4-BE49-F238E27FC236}">
                <a16:creationId xmlns:a16="http://schemas.microsoft.com/office/drawing/2014/main" id="{AFCABE88-30C1-414E-B5E6-6A1C9AF03489}"/>
              </a:ext>
            </a:extLst>
          </p:cNvPr>
          <p:cNvSpPr>
            <a:spLocks xmlns:a="http://schemas.openxmlformats.org/drawingml/2006/main" noGrp="1"/>
          </p:cNvSpPr>
          <p:nvPr/>
        </p:nvSpPr>
        <p:spPr>
          <a:xfrm xmlns:a="http://schemas.openxmlformats.org/drawingml/2006/main">
            <a:off x="685800" y="15430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2C"/>
                </a:solidFill>
                <a:latin typeface="Apple SD Gothic Neo"/>
                <a:ea typeface="Apple SD Gothic Neo"/>
                <a:cs typeface="Apple SD Gothic Neo"/>
              </a:defRPr>
            </a:pPr>
            <a:r>
              <a:rPr sz="2250" b="1">
                <a:solidFill>
                  <a:srgbClr val="142B2C"/>
                </a:solidFill>
                <a:latin typeface="Apple SD Gothic Neo"/>
                <a:ea typeface="Apple SD Gothic Neo"/>
                <a:cs typeface="Apple SD Gothic Neo"/>
              </a:rPr>
              <a:t>입고는 HOLD 상태에서 시작한다</a:t>
            </a:r>
          </a:p>
        </p:txBody>
      </p:sp>
      <p:sp>
        <p:nvSpPr>
          <p:cNvPr id="4" name="">
            <a:extLst xmlns:a="http://schemas.openxmlformats.org/drawingml/2006/main">
              <a:ext uri="{FF2B5EF4-FFF2-40B4-BE49-F238E27FC236}">
                <a16:creationId xmlns:a16="http://schemas.microsoft.com/office/drawing/2014/main" id="{4A1ECA75-0880-45EA-BCC5-A6FE080CBAD0}"/>
              </a:ext>
            </a:extLst>
          </p:cNvPr>
          <p:cNvSpPr>
            <a:spLocks xmlns:a="http://schemas.openxmlformats.org/drawingml/2006/main" noGrp="1"/>
          </p:cNvSpPr>
          <p:nvPr/>
        </p:nvSpPr>
        <p:spPr>
          <a:xfrm xmlns:a="http://schemas.openxmlformats.org/drawingml/2006/main">
            <a:off x="685800" y="200977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B2C"/>
                </a:solidFill>
                <a:latin typeface="Apple SD Gothic Neo"/>
                <a:ea typeface="Apple SD Gothic Neo"/>
                <a:cs typeface="Apple SD Gothic Neo"/>
              </a:defRPr>
            </a:pPr>
            <a:r>
              <a:rPr sz="2025" b="0">
                <a:solidFill>
                  <a:srgbClr val="142B2C"/>
                </a:solidFill>
                <a:latin typeface="Apple SD Gothic Neo"/>
                <a:ea typeface="Apple SD Gothic Neo"/>
                <a:cs typeface="Apple SD Gothic Neo"/>
              </a:rPr>
              <a:t>온도·알레르겐·인증서 근거를 같은 Case에 보관한다.</a:t>
            </a:r>
          </a:p>
        </p:txBody>
      </p:sp>
      <p:sp>
        <p:nvSpPr>
          <p:cNvPr id="5" name="">
            <a:extLst xmlns:a="http://schemas.openxmlformats.org/drawingml/2006/main">
              <a:ext uri="{FF2B5EF4-FFF2-40B4-BE49-F238E27FC236}">
                <a16:creationId xmlns:a16="http://schemas.microsoft.com/office/drawing/2014/main" id="{0FB2ECD8-F0E7-4206-BE02-0851F754C446}"/>
              </a:ext>
            </a:extLst>
          </p:cNvPr>
          <p:cNvSpPr>
            <a:spLocks xmlns:a="http://schemas.openxmlformats.org/drawingml/2006/main" noGrp="1"/>
          </p:cNvSpPr>
          <p:nvPr/>
        </p:nvSpPr>
        <p:spPr>
          <a:xfrm xmlns:a="http://schemas.openxmlformats.org/drawingml/2006/main">
            <a:off x="685800" y="29051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2C"/>
                </a:solidFill>
                <a:latin typeface="Apple SD Gothic Neo"/>
                <a:ea typeface="Apple SD Gothic Neo"/>
                <a:cs typeface="Apple SD Gothic Neo"/>
              </a:defRPr>
            </a:pPr>
            <a:r>
              <a:rPr sz="2250" b="1">
                <a:solidFill>
                  <a:srgbClr val="142B2C"/>
                </a:solidFill>
                <a:latin typeface="Apple SD Gothic Neo"/>
                <a:ea typeface="Apple SD Gothic Neo"/>
                <a:cs typeface="Apple SD Gothic Neo"/>
              </a:rPr>
              <a:t>QC만 승인·보류·차단을 판단한다</a:t>
            </a:r>
          </a:p>
        </p:txBody>
      </p:sp>
      <p:sp>
        <p:nvSpPr>
          <p:cNvPr id="6" name="">
            <a:extLst xmlns:a="http://schemas.openxmlformats.org/drawingml/2006/main">
              <a:ext uri="{FF2B5EF4-FFF2-40B4-BE49-F238E27FC236}">
                <a16:creationId xmlns:a16="http://schemas.microsoft.com/office/drawing/2014/main" id="{C6D7A978-CA87-4C8C-85E0-9BC698D1402E}"/>
              </a:ext>
            </a:extLst>
          </p:cNvPr>
          <p:cNvSpPr>
            <a:spLocks xmlns:a="http://schemas.openxmlformats.org/drawingml/2006/main" noGrp="1"/>
          </p:cNvSpPr>
          <p:nvPr/>
        </p:nvSpPr>
        <p:spPr>
          <a:xfrm xmlns:a="http://schemas.openxmlformats.org/drawingml/2006/main">
            <a:off x="685800" y="337185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B2C"/>
                </a:solidFill>
                <a:latin typeface="Apple SD Gothic Neo"/>
                <a:ea typeface="Apple SD Gothic Neo"/>
                <a:cs typeface="Apple SD Gothic Neo"/>
              </a:defRPr>
            </a:pPr>
            <a:r>
              <a:rPr sz="2025" b="0">
                <a:solidFill>
                  <a:srgbClr val="142B2C"/>
                </a:solidFill>
                <a:latin typeface="Apple SD Gothic Neo"/>
                <a:ea typeface="Apple SD Gothic Neo"/>
                <a:cs typeface="Apple SD Gothic Neo"/>
              </a:rPr>
              <a:t>역할 밖 요청과 재사용한 결정으로 ERP를 변경하지 못한다.</a:t>
            </a:r>
          </a:p>
        </p:txBody>
      </p:sp>
      <p:sp>
        <p:nvSpPr>
          <p:cNvPr id="7" name="">
            <a:extLst xmlns:a="http://schemas.openxmlformats.org/drawingml/2006/main">
              <a:ext uri="{FF2B5EF4-FFF2-40B4-BE49-F238E27FC236}">
                <a16:creationId xmlns:a16="http://schemas.microsoft.com/office/drawing/2014/main" id="{5F5C0D5E-8E23-4BC2-984F-A13537458962}"/>
              </a:ext>
            </a:extLst>
          </p:cNvPr>
          <p:cNvSpPr>
            <a:spLocks xmlns:a="http://schemas.openxmlformats.org/drawingml/2006/main" noGrp="1"/>
          </p:cNvSpPr>
          <p:nvPr/>
        </p:nvSpPr>
        <p:spPr>
          <a:xfrm xmlns:a="http://schemas.openxmlformats.org/drawingml/2006/main">
            <a:off x="685800" y="42672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2C"/>
                </a:solidFill>
                <a:latin typeface="Apple SD Gothic Neo"/>
                <a:ea typeface="Apple SD Gothic Neo"/>
                <a:cs typeface="Apple SD Gothic Neo"/>
              </a:defRPr>
            </a:pPr>
            <a:r>
              <a:rPr sz="2250" b="1">
                <a:solidFill>
                  <a:srgbClr val="142B2C"/>
                </a:solidFill>
                <a:latin typeface="Apple SD Gothic Neo"/>
                <a:ea typeface="Apple SD Gothic Neo"/>
                <a:cs typeface="Apple SD Gothic Neo"/>
              </a:rPr>
              <a:t>판단과 적용 상태를 감사한다</a:t>
            </a:r>
          </a:p>
        </p:txBody>
      </p:sp>
      <p:sp>
        <p:nvSpPr>
          <p:cNvPr id="8" name="">
            <a:extLst xmlns:a="http://schemas.openxmlformats.org/drawingml/2006/main">
              <a:ext uri="{FF2B5EF4-FFF2-40B4-BE49-F238E27FC236}">
                <a16:creationId xmlns:a16="http://schemas.microsoft.com/office/drawing/2014/main" id="{69061FC5-9F7A-4CDF-AC98-ED7EC1A6A7F6}"/>
              </a:ext>
            </a:extLst>
          </p:cNvPr>
          <p:cNvSpPr>
            <a:spLocks xmlns:a="http://schemas.openxmlformats.org/drawingml/2006/main" noGrp="1"/>
          </p:cNvSpPr>
          <p:nvPr/>
        </p:nvSpPr>
        <p:spPr>
          <a:xfrm xmlns:a="http://schemas.openxmlformats.org/drawingml/2006/main">
            <a:off x="685800" y="473392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B2C"/>
                </a:solidFill>
                <a:latin typeface="Apple SD Gothic Neo"/>
                <a:ea typeface="Apple SD Gothic Neo"/>
                <a:cs typeface="Apple SD Gothic Neo"/>
              </a:defRPr>
            </a:pPr>
            <a:r>
              <a:rPr sz="2025" b="0">
                <a:solidFill>
                  <a:srgbClr val="142B2C"/>
                </a:solidFill>
                <a:latin typeface="Apple SD Gothic Neo"/>
                <a:ea typeface="Apple SD Gothic Neo"/>
                <a:cs typeface="Apple SD Gothic Neo"/>
              </a:rPr>
              <a:t>scripted QM SIT 6건 통과. 현재 native QM은 검사 제안 전 실행 실패로 FAIL이다.</a:t>
            </a:r>
          </a:p>
        </p:txBody>
      </p:sp>
      <p:sp>
        <p:nvSpPr>
          <p:cNvPr id="9" name="">
            <a:extLst xmlns:a="http://schemas.openxmlformats.org/drawingml/2006/main">
              <a:ext uri="{FF2B5EF4-FFF2-40B4-BE49-F238E27FC236}">
                <a16:creationId xmlns:a16="http://schemas.microsoft.com/office/drawing/2014/main" id="{46CAAA49-6E65-484B-9BC4-97EE8DB8D02B}"/>
              </a:ext>
            </a:extLst>
          </p:cNvPr>
          <p:cNvSpPr>
            <a:spLocks xmlns:a="http://schemas.openxmlformats.org/drawingml/2006/main" noGrp="1"/>
          </p:cNvSpPr>
          <p:nvPr/>
        </p:nvSpPr>
        <p:spPr>
          <a:xfrm xmlns:a="http://schemas.openxmlformats.org/drawingml/2006/main">
            <a:off x="685800" y="593407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667"/>
                </a:solidFill>
                <a:latin typeface="Apple SD Gothic Neo"/>
                <a:ea typeface="Apple SD Gothic Neo"/>
                <a:cs typeface="Apple SD Gothic Neo"/>
              </a:defRPr>
            </a:pPr>
            <a:r>
              <a:rPr sz="1575" b="0">
                <a:solidFill>
                  <a:srgbClr val="526667"/>
                </a:solidFill>
                <a:latin typeface="Apple SD Gothic Neo"/>
                <a:ea typeface="Apple SD Gothic Neo"/>
                <a:cs typeface="Apple SD Gothic Neo"/>
              </a:rPr>
              <a:t>인증서 필수 유형 전체 검사와 자동 30일 알림은 미완료다. 규제 Goal 6 전체 인수를 주장하지 않는다.</a:t>
            </a:r>
          </a:p>
        </p:txBody>
      </p:sp>
    </p:spTree>
    <p:extLst>
      <p:ext uri="{BB962C8B-B14F-4D97-AF65-F5344CB8AC3E}">
        <p14:creationId xmlns:p14="http://schemas.microsoft.com/office/powerpoint/2010/main" val="838041523"/>
      </p:ext>
    </p:extLst>
  </p:cSld>
</p:sld>
</file>

<file path=ppt/slides/slide8.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2904FE1-8B1A-4681-81BC-1A563699DDBC}"/>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B2C"/>
                </a:solidFill>
                <a:latin typeface="Apple SD Gothic Neo"/>
                <a:ea typeface="Apple SD Gothic Neo"/>
                <a:cs typeface="Apple SD Gothic Neo"/>
              </a:defRPr>
            </a:pPr>
            <a:r>
              <a:rPr sz="3300" b="1">
                <a:solidFill>
                  <a:srgbClr val="142B2C"/>
                </a:solidFill>
                <a:latin typeface="Apple SD Gothic Neo"/>
                <a:ea typeface="Apple SD Gothic Neo"/>
                <a:cs typeface="Apple SD Gothic Neo"/>
              </a:rPr>
              <a:t>LOT 추적과 리콜 범위</a:t>
            </a:r>
          </a:p>
        </p:txBody>
      </p:sp>
      <p:sp>
        <p:nvSpPr>
          <p:cNvPr id="2" name="">
            <a:extLst xmlns:a="http://schemas.openxmlformats.org/drawingml/2006/main">
              <a:ext uri="{FF2B5EF4-FFF2-40B4-BE49-F238E27FC236}">
                <a16:creationId xmlns:a16="http://schemas.microsoft.com/office/drawing/2014/main" id="{0BAA0F0F-5859-4741-BC37-D1B58AAAE2B3}"/>
              </a:ext>
            </a:extLst>
          </p:cNvPr>
          <p:cNvSpPr>
            <a:spLocks xmlns:a="http://schemas.openxmlformats.org/drawingml/2006/main" noGrp="1"/>
          </p:cNvSpPr>
          <p:nvPr/>
        </p:nvSpPr>
        <p:spPr>
          <a:xfrm xmlns:a="http://schemas.openxmlformats.org/drawingml/2006/main">
            <a:off x="11049000" y="62769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667"/>
                </a:solidFill>
                <a:latin typeface="Apple SD Gothic Neo"/>
                <a:ea typeface="Apple SD Gothic Neo"/>
                <a:cs typeface="Apple SD Gothic Neo"/>
              </a:defRPr>
            </a:pPr>
            <a:r>
              <a:rPr sz="1425" b="0">
                <a:solidFill>
                  <a:srgbClr val="526667"/>
                </a:solidFill>
                <a:latin typeface="Apple SD Gothic Neo"/>
                <a:ea typeface="Apple SD Gothic Neo"/>
                <a:cs typeface="Apple SD Gothic Neo"/>
              </a:rPr>
              <a:t>08</a:t>
            </a:r>
          </a:p>
        </p:txBody>
      </p:sp>
      <p:graphicFrame>
        <p:nvGraphicFramePr>
          <p:cNvPr id="7" name=""/>
          <p:cNvGraphicFramePr/>
          <p:nvPr/>
        </p:nvGraphicFramePr>
        <p:xfrm>
          <a:off xmlns:a="http://schemas.openxmlformats.org/drawingml/2006/main" x="685800" y="1381125"/>
          <a:ext xmlns:a="http://schemas.openxmlformats.org/drawingml/2006/main" cx="10820400" cy="4048125"/>
        </p:xfrm>
        <a:graphic xmlns:a="http://schemas.openxmlformats.org/drawingml/2006/main">
          <a:graphicData uri="http://schemas.openxmlformats.org/drawingml/2006/table">
            <a:tbl>
              <a:tblPr/>
              <a:tblGrid>
                <a:gridCol w="2952750"/>
                <a:gridCol w="3714750"/>
                <a:gridCol w="4152900"/>
              </a:tblGrid>
              <a:tr h="674688">
                <a:tc>
                  <a:txBody>
                    <a:bodyPr/>
                    <a:lstStyle/>
                    <a:p>
                      <a:r>
                        <a:rPr sz="1875" b="1">
                          <a:solidFill>
                            <a:srgbClr val="FFFFFF"/>
                          </a:solidFill>
                          <a:latin typeface="Apple SD Gothic Neo"/>
                          <a:ea typeface="Apple SD Gothic Neo"/>
                          <a:cs typeface="Apple SD Gothic Neo"/>
                        </a:rPr>
                        <a:t>추적 단계</a:t>
                      </a:r>
                    </a:p>
                  </a:txBody>
                  <a:tcPr marL="91440" marR="91440" marT="45720" marB="45720">
                    <a:solidFill>
                      <a:srgbClr val="176957"/>
                    </a:solidFill>
                  </a:tcPr>
                </a:tc>
                <a:tc>
                  <a:txBody>
                    <a:bodyPr/>
                    <a:lstStyle/>
                    <a:p>
                      <a:r>
                        <a:rPr sz="1875" b="1">
                          <a:solidFill>
                            <a:srgbClr val="FFFFFF"/>
                          </a:solidFill>
                          <a:latin typeface="Apple SD Gothic Neo"/>
                          <a:ea typeface="Apple SD Gothic Neo"/>
                          <a:cs typeface="Apple SD Gothic Neo"/>
                        </a:rPr>
                        <a:t>현재 JAR 관측</a:t>
                      </a:r>
                    </a:p>
                  </a:txBody>
                  <a:tcPr marL="91440" marR="91440" marT="45720" marB="45720">
                    <a:solidFill>
                      <a:srgbClr val="176957"/>
                    </a:solidFill>
                  </a:tcPr>
                </a:tc>
                <a:tc>
                  <a:txBody>
                    <a:bodyPr/>
                    <a:lstStyle/>
                    <a:p>
                      <a:r>
                        <a:rPr sz="1875" b="1">
                          <a:solidFill>
                            <a:srgbClr val="FFFFFF"/>
                          </a:solidFill>
                          <a:latin typeface="Apple SD Gothic Neo"/>
                          <a:ea typeface="Apple SD Gothic Neo"/>
                          <a:cs typeface="Apple SD Gothic Neo"/>
                        </a:rPr>
                        <a:t>업무 결과</a:t>
                      </a:r>
                    </a:p>
                  </a:txBody>
                  <a:tcPr marL="91440" marR="91440" marT="45720" marB="45720">
                    <a:solidFill>
                      <a:srgbClr val="176957"/>
                    </a:solidFill>
                  </a:tcPr>
                </a:tc>
              </a:tr>
              <a:tr h="674688">
                <a:tc>
                  <a:txBody>
                    <a:bodyPr/>
                    <a:lstStyle/>
                    <a:p>
                      <a:r>
                        <a:rPr sz="1875" b="0">
                          <a:solidFill>
                            <a:srgbClr val="142B2C"/>
                          </a:solidFill>
                          <a:latin typeface="Apple SD Gothic Neo"/>
                          <a:ea typeface="Apple SD Gothic Neo"/>
                          <a:cs typeface="Apple SD Gothic Neo"/>
                        </a:rPr>
                        <a:t>사고 원료 LOT</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2개 사고 root / 3개 증거 raw</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관련 관계를 함께 보존</a:t>
                      </a:r>
                    </a:p>
                  </a:txBody>
                  <a:tcPr marL="91440" marR="91440" marT="45720" marB="45720">
                    <a:solidFill>
                      <a:srgbClr val="FAFAF6"/>
                    </a:solidFill>
                  </a:tcPr>
                </a:tc>
              </a:tr>
              <a:tr h="674688">
                <a:tc>
                  <a:txBody>
                    <a:bodyPr/>
                    <a:lstStyle/>
                    <a:p>
                      <a:r>
                        <a:rPr sz="1875" b="0">
                          <a:solidFill>
                            <a:srgbClr val="142B2C"/>
                          </a:solidFill>
                          <a:latin typeface="Apple SD Gothic Neo"/>
                          <a:ea typeface="Apple SD Gothic Neo"/>
                          <a:cs typeface="Apple SD Gothic Neo"/>
                        </a:rPr>
                        <a:t>생산 LOT</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10개</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ADMIN 승인으로 10개 리콜</a:t>
                      </a:r>
                    </a:p>
                  </a:txBody>
                  <a:tcPr marL="91440" marR="91440" marT="45720" marB="45720">
                    <a:solidFill>
                      <a:srgbClr val="EAF0EA"/>
                    </a:solidFill>
                  </a:tcPr>
                </a:tc>
              </a:tr>
              <a:tr h="674688">
                <a:tc>
                  <a:txBody>
                    <a:bodyPr/>
                    <a:lstStyle/>
                    <a:p>
                      <a:r>
                        <a:rPr sz="1875" b="0">
                          <a:solidFill>
                            <a:srgbClr val="142B2C"/>
                          </a:solidFill>
                          <a:latin typeface="Apple SD Gothic Neo"/>
                          <a:ea typeface="Apple SD Gothic Neo"/>
                          <a:cs typeface="Apple SD Gothic Neo"/>
                        </a:rPr>
                        <a:t>고객·출고</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2개 고객 / 115개 출고</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고객과 출고 범위를 추적</a:t>
                      </a:r>
                    </a:p>
                  </a:txBody>
                  <a:tcPr marL="91440" marR="91440" marT="45720" marB="45720">
                    <a:solidFill>
                      <a:srgbClr val="FAFAF6"/>
                    </a:solidFill>
                  </a:tcPr>
                </a:tc>
              </a:tr>
              <a:tr h="674688">
                <a:tc>
                  <a:txBody>
                    <a:bodyPr/>
                    <a:lstStyle/>
                    <a:p>
                      <a:r>
                        <a:rPr sz="1875" b="0">
                          <a:solidFill>
                            <a:srgbClr val="142B2C"/>
                          </a:solidFill>
                          <a:latin typeface="Apple SD Gothic Neo"/>
                          <a:ea typeface="Apple SD Gothic Neo"/>
                          <a:cs typeface="Apple SD Gothic Neo"/>
                        </a:rPr>
                        <a:t>무관 LOT</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범위 밖</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ACTIVE 유지</a:t>
                      </a:r>
                    </a:p>
                  </a:txBody>
                  <a:tcPr marL="91440" marR="91440" marT="45720" marB="45720">
                    <a:solidFill>
                      <a:srgbClr val="EAF0EA"/>
                    </a:solidFill>
                  </a:tcPr>
                </a:tc>
              </a:tr>
              <a:tr h="674688">
                <a:tc>
                  <a:txBody>
                    <a:bodyPr/>
                    <a:lstStyle/>
                    <a:p>
                      <a:r>
                        <a:rPr sz="1875" b="0">
                          <a:solidFill>
                            <a:srgbClr val="142B2C"/>
                          </a:solidFill>
                          <a:latin typeface="Apple SD Gothic Neo"/>
                          <a:ea typeface="Apple SD Gothic Neo"/>
                          <a:cs typeface="Apple SD Gothic Neo"/>
                        </a:rPr>
                        <a:t>보고 초안</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OFFLINE / PENDING</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submittedAt = null</a:t>
                      </a:r>
                    </a:p>
                  </a:txBody>
                  <a:tcPr marL="91440" marR="91440" marT="45720" marB="45720">
                    <a:solidFill>
                      <a:srgbClr val="FAFAF6"/>
                    </a:solidFill>
                  </a:tcPr>
                </a:tc>
              </a:tr>
            </a:tbl>
          </a:graphicData>
        </a:graphic>
      </p:graphicFrame>
      <p:sp>
        <p:nvSpPr>
          <p:cNvPr id="4" name="">
            <a:extLst xmlns:a="http://schemas.openxmlformats.org/drawingml/2006/main">
              <a:ext uri="{FF2B5EF4-FFF2-40B4-BE49-F238E27FC236}">
                <a16:creationId xmlns:a16="http://schemas.microsoft.com/office/drawing/2014/main" id="{7A66F5D1-1CD7-4B15-BB5D-22A59E765F8E}"/>
              </a:ext>
            </a:extLst>
          </p:cNvPr>
          <p:cNvSpPr>
            <a:spLocks xmlns:a="http://schemas.openxmlformats.org/drawingml/2006/main" noGrp="1"/>
          </p:cNvSpPr>
          <p:nvPr/>
        </p:nvSpPr>
        <p:spPr>
          <a:xfrm xmlns:a="http://schemas.openxmlformats.org/drawingml/2006/main">
            <a:off x="685800" y="593407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667"/>
                </a:solidFill>
                <a:latin typeface="Apple SD Gothic Neo"/>
                <a:ea typeface="Apple SD Gothic Neo"/>
                <a:cs typeface="Apple SD Gothic Neo"/>
              </a:defRPr>
            </a:pPr>
            <a:r>
              <a:rPr sz="1575" b="0">
                <a:solidFill>
                  <a:srgbClr val="526667"/>
                </a:solidFill>
                <a:latin typeface="Apple SD Gothic Neo"/>
                <a:ea typeface="Apple SD Gothic Neo"/>
                <a:cs typeface="Apple SD Gothic Neo"/>
              </a:rPr>
              <a:t>리콜 replay는 안정적이다. 식약처 실제 전송과 법정 양식 검증은 수행하지 않았다.</a:t>
            </a:r>
          </a:p>
        </p:txBody>
      </p:sp>
    </p:spTree>
    <p:extLst>
      <p:ext uri="{BB962C8B-B14F-4D97-AF65-F5344CB8AC3E}">
        <p14:creationId xmlns:p14="http://schemas.microsoft.com/office/powerpoint/2010/main" val="908953900"/>
      </p:ext>
    </p:extLst>
  </p:cSld>
</p:sld>
</file>

<file path=ppt/slides/slide9.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B721724-C2F0-415C-AF2D-84DA81E6FCFB}"/>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B2C"/>
                </a:solidFill>
                <a:latin typeface="Apple SD Gothic Neo"/>
                <a:ea typeface="Apple SD Gothic Neo"/>
                <a:cs typeface="Apple SD Gothic Neo"/>
              </a:defRPr>
            </a:pPr>
            <a:r>
              <a:rPr sz="3300" b="1">
                <a:solidFill>
                  <a:srgbClr val="142B2C"/>
                </a:solidFill>
                <a:latin typeface="Apple SD Gothic Neo"/>
                <a:ea typeface="Apple SD Gothic Neo"/>
                <a:cs typeface="Apple SD Gothic Neo"/>
              </a:rPr>
              <a:t>증거와 Claim 판단의 이력</a:t>
            </a:r>
          </a:p>
        </p:txBody>
      </p:sp>
      <p:sp>
        <p:nvSpPr>
          <p:cNvPr id="2" name="">
            <a:extLst xmlns:a="http://schemas.openxmlformats.org/drawingml/2006/main">
              <a:ext uri="{FF2B5EF4-FFF2-40B4-BE49-F238E27FC236}">
                <a16:creationId xmlns:a16="http://schemas.microsoft.com/office/drawing/2014/main" id="{A313AF6F-C0C5-4CE8-A1A5-6B234D4252B7}"/>
              </a:ext>
            </a:extLst>
          </p:cNvPr>
          <p:cNvSpPr>
            <a:spLocks xmlns:a="http://schemas.openxmlformats.org/drawingml/2006/main" noGrp="1"/>
          </p:cNvSpPr>
          <p:nvPr/>
        </p:nvSpPr>
        <p:spPr>
          <a:xfrm xmlns:a="http://schemas.openxmlformats.org/drawingml/2006/main">
            <a:off x="11049000" y="62769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667"/>
                </a:solidFill>
                <a:latin typeface="Apple SD Gothic Neo"/>
                <a:ea typeface="Apple SD Gothic Neo"/>
                <a:cs typeface="Apple SD Gothic Neo"/>
              </a:defRPr>
            </a:pPr>
            <a:r>
              <a:rPr sz="1425" b="0">
                <a:solidFill>
                  <a:srgbClr val="526667"/>
                </a:solidFill>
                <a:latin typeface="Apple SD Gothic Neo"/>
                <a:ea typeface="Apple SD Gothic Neo"/>
                <a:cs typeface="Apple SD Gothic Neo"/>
              </a:rPr>
              <a:t>09</a:t>
            </a:r>
          </a:p>
        </p:txBody>
      </p:sp>
      <p:sp>
        <p:nvSpPr>
          <p:cNvPr id="3" name="">
            <a:extLst xmlns:a="http://schemas.openxmlformats.org/drawingml/2006/main">
              <a:ext uri="{FF2B5EF4-FFF2-40B4-BE49-F238E27FC236}">
                <a16:creationId xmlns:a16="http://schemas.microsoft.com/office/drawing/2014/main" id="{9FFD5A4F-5125-4A6E-859C-7A8485CF614E}"/>
              </a:ext>
            </a:extLst>
          </p:cNvPr>
          <p:cNvSpPr>
            <a:spLocks xmlns:a="http://schemas.openxmlformats.org/drawingml/2006/main" noGrp="1"/>
          </p:cNvSpPr>
          <p:nvPr/>
        </p:nvSpPr>
        <p:spPr>
          <a:xfrm xmlns:a="http://schemas.openxmlformats.org/drawingml/2006/main">
            <a:off x="685800" y="15430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2C"/>
                </a:solidFill>
                <a:latin typeface="Apple SD Gothic Neo"/>
                <a:ea typeface="Apple SD Gothic Neo"/>
                <a:cs typeface="Apple SD Gothic Neo"/>
              </a:defRPr>
            </a:pPr>
            <a:r>
              <a:rPr sz="2250" b="1">
                <a:solidFill>
                  <a:srgbClr val="142B2C"/>
                </a:solidFill>
                <a:latin typeface="Apple SD Gothic Neo"/>
                <a:ea typeface="Apple SD Gothic Neo"/>
                <a:cs typeface="Apple SD Gothic Neo"/>
              </a:rPr>
              <a:t>출처를 등록하고 주장을 연결한다</a:t>
            </a:r>
          </a:p>
        </p:txBody>
      </p:sp>
      <p:sp>
        <p:nvSpPr>
          <p:cNvPr id="4" name="">
            <a:extLst xmlns:a="http://schemas.openxmlformats.org/drawingml/2006/main">
              <a:ext uri="{FF2B5EF4-FFF2-40B4-BE49-F238E27FC236}">
                <a16:creationId xmlns:a16="http://schemas.microsoft.com/office/drawing/2014/main" id="{1BAEC68C-A0AE-4B9C-956B-487CB29FA579}"/>
              </a:ext>
            </a:extLst>
          </p:cNvPr>
          <p:cNvSpPr>
            <a:spLocks xmlns:a="http://schemas.openxmlformats.org/drawingml/2006/main" noGrp="1"/>
          </p:cNvSpPr>
          <p:nvPr/>
        </p:nvSpPr>
        <p:spPr>
          <a:xfrm xmlns:a="http://schemas.openxmlformats.org/drawingml/2006/main">
            <a:off x="685800" y="200977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B2C"/>
                </a:solidFill>
                <a:latin typeface="Apple SD Gothic Neo"/>
                <a:ea typeface="Apple SD Gothic Neo"/>
                <a:cs typeface="Apple SD Gothic Neo"/>
              </a:defRPr>
            </a:pPr>
            <a:r>
              <a:rPr sz="2025" b="0">
                <a:solidFill>
                  <a:srgbClr val="142B2C"/>
                </a:solidFill>
                <a:latin typeface="Apple SD Gothic Neo"/>
                <a:ea typeface="Apple SD Gothic Neo"/>
                <a:cs typeface="Apple SD Gothic Neo"/>
              </a:rPr>
              <a:t>현재 JAR에서 source 3개와 judgment 7개를 관측했다.</a:t>
            </a:r>
          </a:p>
        </p:txBody>
      </p:sp>
      <p:sp>
        <p:nvSpPr>
          <p:cNvPr id="5" name="">
            <a:extLst xmlns:a="http://schemas.openxmlformats.org/drawingml/2006/main">
              <a:ext uri="{FF2B5EF4-FFF2-40B4-BE49-F238E27FC236}">
                <a16:creationId xmlns:a16="http://schemas.microsoft.com/office/drawing/2014/main" id="{F299AA91-09EE-41B0-944D-328D3CAFAE51}"/>
              </a:ext>
            </a:extLst>
          </p:cNvPr>
          <p:cNvSpPr>
            <a:spLocks xmlns:a="http://schemas.openxmlformats.org/drawingml/2006/main" noGrp="1"/>
          </p:cNvSpPr>
          <p:nvPr/>
        </p:nvSpPr>
        <p:spPr>
          <a:xfrm xmlns:a="http://schemas.openxmlformats.org/drawingml/2006/main">
            <a:off x="685800" y="29051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2C"/>
                </a:solidFill>
                <a:latin typeface="Apple SD Gothic Neo"/>
                <a:ea typeface="Apple SD Gothic Neo"/>
                <a:cs typeface="Apple SD Gothic Neo"/>
              </a:defRPr>
            </a:pPr>
            <a:r>
              <a:rPr sz="2250" b="1">
                <a:solidFill>
                  <a:srgbClr val="142B2C"/>
                </a:solidFill>
                <a:latin typeface="Apple SD Gothic Neo"/>
                <a:ea typeface="Apple SD Gothic Neo"/>
                <a:cs typeface="Apple SD Gothic Neo"/>
              </a:rPr>
              <a:t>인간이 판단하고 반증을 보존한다</a:t>
            </a:r>
          </a:p>
        </p:txBody>
      </p:sp>
      <p:sp>
        <p:nvSpPr>
          <p:cNvPr id="6" name="">
            <a:extLst xmlns:a="http://schemas.openxmlformats.org/drawingml/2006/main">
              <a:ext uri="{FF2B5EF4-FFF2-40B4-BE49-F238E27FC236}">
                <a16:creationId xmlns:a16="http://schemas.microsoft.com/office/drawing/2014/main" id="{9B83E838-FDBD-4A23-90D0-58D8E2DACF17}"/>
              </a:ext>
            </a:extLst>
          </p:cNvPr>
          <p:cNvSpPr>
            <a:spLocks xmlns:a="http://schemas.openxmlformats.org/drawingml/2006/main" noGrp="1"/>
          </p:cNvSpPr>
          <p:nvPr/>
        </p:nvSpPr>
        <p:spPr>
          <a:xfrm xmlns:a="http://schemas.openxmlformats.org/drawingml/2006/main">
            <a:off x="685800" y="337185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B2C"/>
                </a:solidFill>
                <a:latin typeface="Apple SD Gothic Neo"/>
                <a:ea typeface="Apple SD Gothic Neo"/>
                <a:cs typeface="Apple SD Gothic Neo"/>
              </a:defRPr>
            </a:pPr>
            <a:r>
              <a:rPr sz="2025" b="0">
                <a:solidFill>
                  <a:srgbClr val="142B2C"/>
                </a:solidFill>
                <a:latin typeface="Apple SD Gothic Neo"/>
                <a:ea typeface="Apple SD Gothic Neo"/>
                <a:cs typeface="Apple SD Gothic Neo"/>
              </a:rPr>
              <a:t>충돌 Claim은 남기고 별도 successor를 명시적으로 판단한다.</a:t>
            </a:r>
          </a:p>
        </p:txBody>
      </p:sp>
      <p:sp>
        <p:nvSpPr>
          <p:cNvPr id="7" name="">
            <a:extLst xmlns:a="http://schemas.openxmlformats.org/drawingml/2006/main">
              <a:ext uri="{FF2B5EF4-FFF2-40B4-BE49-F238E27FC236}">
                <a16:creationId xmlns:a16="http://schemas.microsoft.com/office/drawing/2014/main" id="{D7FADCD5-85D2-4A74-9369-3FE8E2436D3C}"/>
              </a:ext>
            </a:extLst>
          </p:cNvPr>
          <p:cNvSpPr>
            <a:spLocks xmlns:a="http://schemas.openxmlformats.org/drawingml/2006/main" noGrp="1"/>
          </p:cNvSpPr>
          <p:nvPr/>
        </p:nvSpPr>
        <p:spPr>
          <a:xfrm xmlns:a="http://schemas.openxmlformats.org/drawingml/2006/main">
            <a:off x="685800" y="42672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2C"/>
                </a:solidFill>
                <a:latin typeface="Apple SD Gothic Neo"/>
                <a:ea typeface="Apple SD Gothic Neo"/>
                <a:cs typeface="Apple SD Gothic Neo"/>
              </a:defRPr>
            </a:pPr>
            <a:r>
              <a:rPr sz="2250" b="1">
                <a:solidFill>
                  <a:srgbClr val="142B2C"/>
                </a:solidFill>
                <a:latin typeface="Apple SD Gothic Neo"/>
                <a:ea typeface="Apple SD Gothic Neo"/>
                <a:cs typeface="Apple SD Gothic Neo"/>
              </a:rPr>
              <a:t>정정은 기존 판단을 stale로 만든다</a:t>
            </a:r>
          </a:p>
        </p:txBody>
      </p:sp>
      <p:sp>
        <p:nvSpPr>
          <p:cNvPr id="8" name="">
            <a:extLst xmlns:a="http://schemas.openxmlformats.org/drawingml/2006/main">
              <a:ext uri="{FF2B5EF4-FFF2-40B4-BE49-F238E27FC236}">
                <a16:creationId xmlns:a16="http://schemas.microsoft.com/office/drawing/2014/main" id="{0FC38AFB-CA67-49AD-A4CF-B59BD4A53CF3}"/>
              </a:ext>
            </a:extLst>
          </p:cNvPr>
          <p:cNvSpPr>
            <a:spLocks xmlns:a="http://schemas.openxmlformats.org/drawingml/2006/main" noGrp="1"/>
          </p:cNvSpPr>
          <p:nvPr/>
        </p:nvSpPr>
        <p:spPr>
          <a:xfrm xmlns:a="http://schemas.openxmlformats.org/drawingml/2006/main">
            <a:off x="685800" y="473392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B2C"/>
                </a:solidFill>
                <a:latin typeface="Apple SD Gothic Neo"/>
                <a:ea typeface="Apple SD Gothic Neo"/>
                <a:cs typeface="Apple SD Gothic Neo"/>
              </a:defRPr>
            </a:pPr>
            <a:r>
              <a:rPr sz="2025" b="0">
                <a:solidFill>
                  <a:srgbClr val="142B2C"/>
                </a:solidFill>
                <a:latin typeface="Apple SD Gothic Neo"/>
                <a:ea typeface="Apple SD Gothic Neo"/>
                <a:cs typeface="Apple SD Gothic Neo"/>
              </a:rPr>
              <a:t>VERIFIED는 인간 attestation이다. 독립적 진실이나 ERP 권한을 뜻하지 않는다.</a:t>
            </a:r>
          </a:p>
        </p:txBody>
      </p:sp>
      <p:sp>
        <p:nvSpPr>
          <p:cNvPr id="9" name="">
            <a:extLst xmlns:a="http://schemas.openxmlformats.org/drawingml/2006/main">
              <a:ext uri="{FF2B5EF4-FFF2-40B4-BE49-F238E27FC236}">
                <a16:creationId xmlns:a16="http://schemas.microsoft.com/office/drawing/2014/main" id="{9773D3BC-9586-4560-88D3-195A47C8CE88}"/>
              </a:ext>
            </a:extLst>
          </p:cNvPr>
          <p:cNvSpPr>
            <a:spLocks xmlns:a="http://schemas.openxmlformats.org/drawingml/2006/main" noGrp="1"/>
          </p:cNvSpPr>
          <p:nvPr/>
        </p:nvSpPr>
        <p:spPr>
          <a:xfrm xmlns:a="http://schemas.openxmlformats.org/drawingml/2006/main">
            <a:off x="685800" y="593407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667"/>
                </a:solidFill>
                <a:latin typeface="Apple SD Gothic Neo"/>
                <a:ea typeface="Apple SD Gothic Neo"/>
                <a:cs typeface="Apple SD Gothic Neo"/>
              </a:defRPr>
            </a:pPr>
            <a:r>
              <a:rPr sz="1575" b="0">
                <a:solidFill>
                  <a:srgbClr val="526667"/>
                </a:solidFill>
                <a:latin typeface="Apple SD Gothic Neo"/>
                <a:ea typeface="Apple SD Gothic Neo"/>
                <a:cs typeface="Apple SD Gothic Neo"/>
              </a:rPr>
              <a:t>증거·판단 proof의 ERP 쓰기는 0건이다. 반증 연결만으로 자동 검증하지 않는다.</a:t>
            </a:r>
          </a:p>
        </p:txBody>
      </p:sp>
    </p:spTree>
    <p:extLst>
      <p:ext uri="{BB962C8B-B14F-4D97-AF65-F5344CB8AC3E}">
        <p14:creationId xmlns:p14="http://schemas.microsoft.com/office/powerpoint/2010/main" val="790764881"/>
      </p:ext>
    </p:extLst>
  </p:cSld>
</p:sld>
</file>

<file path=ppt/slides/slide10.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3AF8638-125B-4166-B86B-618CE81F58D8}"/>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B2C"/>
                </a:solidFill>
                <a:latin typeface="Apple SD Gothic Neo"/>
                <a:ea typeface="Apple SD Gothic Neo"/>
                <a:cs typeface="Apple SD Gothic Neo"/>
              </a:defRPr>
            </a:pPr>
            <a:r>
              <a:rPr sz="3300" b="1">
                <a:solidFill>
                  <a:srgbClr val="142B2C"/>
                </a:solidFill>
                <a:latin typeface="Apple SD Gothic Neo"/>
                <a:ea typeface="Apple SD Gothic Neo"/>
                <a:cs typeface="Apple SD Gothic Neo"/>
              </a:rPr>
              <a:t>Supplier master의 변경 통제</a:t>
            </a:r>
          </a:p>
        </p:txBody>
      </p:sp>
      <p:sp>
        <p:nvSpPr>
          <p:cNvPr id="2" name="">
            <a:extLst xmlns:a="http://schemas.openxmlformats.org/drawingml/2006/main">
              <a:ext uri="{FF2B5EF4-FFF2-40B4-BE49-F238E27FC236}">
                <a16:creationId xmlns:a16="http://schemas.microsoft.com/office/drawing/2014/main" id="{FFFC5975-A056-4DFF-970C-D67CF4991F09}"/>
              </a:ext>
            </a:extLst>
          </p:cNvPr>
          <p:cNvSpPr>
            <a:spLocks xmlns:a="http://schemas.openxmlformats.org/drawingml/2006/main" noGrp="1"/>
          </p:cNvSpPr>
          <p:nvPr/>
        </p:nvSpPr>
        <p:spPr>
          <a:xfrm xmlns:a="http://schemas.openxmlformats.org/drawingml/2006/main">
            <a:off x="11049000" y="62769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667"/>
                </a:solidFill>
                <a:latin typeface="Apple SD Gothic Neo"/>
                <a:ea typeface="Apple SD Gothic Neo"/>
                <a:cs typeface="Apple SD Gothic Neo"/>
              </a:defRPr>
            </a:pPr>
            <a:r>
              <a:rPr sz="1425" b="0">
                <a:solidFill>
                  <a:srgbClr val="526667"/>
                </a:solidFill>
                <a:latin typeface="Apple SD Gothic Neo"/>
                <a:ea typeface="Apple SD Gothic Neo"/>
                <a:cs typeface="Apple SD Gothic Neo"/>
              </a:rPr>
              <a:t>10</a:t>
            </a:r>
          </a:p>
        </p:txBody>
      </p:sp>
      <p:graphicFrame>
        <p:nvGraphicFramePr>
          <p:cNvPr id="7" name=""/>
          <p:cNvGraphicFramePr/>
          <p:nvPr/>
        </p:nvGraphicFramePr>
        <p:xfrm>
          <a:off xmlns:a="http://schemas.openxmlformats.org/drawingml/2006/main" x="685800" y="1381125"/>
          <a:ext xmlns:a="http://schemas.openxmlformats.org/drawingml/2006/main" cx="10820400" cy="4048125"/>
        </p:xfrm>
        <a:graphic xmlns:a="http://schemas.openxmlformats.org/drawingml/2006/main">
          <a:graphicData uri="http://schemas.openxmlformats.org/drawingml/2006/table">
            <a:tbl>
              <a:tblPr/>
              <a:tblGrid>
                <a:gridCol w="2667000"/>
                <a:gridCol w="3714750"/>
                <a:gridCol w="4438650"/>
              </a:tblGrid>
              <a:tr h="674688">
                <a:tc>
                  <a:txBody>
                    <a:bodyPr/>
                    <a:lstStyle/>
                    <a:p>
                      <a:r>
                        <a:rPr sz="1875" b="1">
                          <a:solidFill>
                            <a:srgbClr val="FFFFFF"/>
                          </a:solidFill>
                          <a:latin typeface="Apple SD Gothic Neo"/>
                          <a:ea typeface="Apple SD Gothic Neo"/>
                          <a:cs typeface="Apple SD Gothic Neo"/>
                        </a:rPr>
                        <a:t>업무 위험</a:t>
                      </a:r>
                    </a:p>
                  </a:txBody>
                  <a:tcPr marL="91440" marR="91440" marT="45720" marB="45720">
                    <a:solidFill>
                      <a:srgbClr val="176957"/>
                    </a:solidFill>
                  </a:tcPr>
                </a:tc>
                <a:tc>
                  <a:txBody>
                    <a:bodyPr/>
                    <a:lstStyle/>
                    <a:p>
                      <a:r>
                        <a:rPr sz="1875" b="1">
                          <a:solidFill>
                            <a:srgbClr val="FFFFFF"/>
                          </a:solidFill>
                          <a:latin typeface="Apple SD Gothic Neo"/>
                          <a:ea typeface="Apple SD Gothic Neo"/>
                          <a:cs typeface="Apple SD Gothic Neo"/>
                        </a:rPr>
                        <a:t>구현 통제</a:t>
                      </a:r>
                    </a:p>
                  </a:txBody>
                  <a:tcPr marL="91440" marR="91440" marT="45720" marB="45720">
                    <a:solidFill>
                      <a:srgbClr val="176957"/>
                    </a:solidFill>
                  </a:tcPr>
                </a:tc>
                <a:tc>
                  <a:txBody>
                    <a:bodyPr/>
                    <a:lstStyle/>
                    <a:p>
                      <a:r>
                        <a:rPr sz="1875" b="1">
                          <a:solidFill>
                            <a:srgbClr val="FFFFFF"/>
                          </a:solidFill>
                          <a:latin typeface="Apple SD Gothic Neo"/>
                          <a:ea typeface="Apple SD Gothic Neo"/>
                          <a:cs typeface="Apple SD Gothic Neo"/>
                        </a:rPr>
                        <a:t>현재 로컬 증거</a:t>
                      </a:r>
                    </a:p>
                  </a:txBody>
                  <a:tcPr marL="91440" marR="91440" marT="45720" marB="45720">
                    <a:solidFill>
                      <a:srgbClr val="176957"/>
                    </a:solidFill>
                  </a:tcPr>
                </a:tc>
              </a:tr>
              <a:tr h="674688">
                <a:tc>
                  <a:txBody>
                    <a:bodyPr/>
                    <a:lstStyle/>
                    <a:p>
                      <a:r>
                        <a:rPr sz="1875" b="0">
                          <a:solidFill>
                            <a:srgbClr val="142B2C"/>
                          </a:solidFill>
                          <a:latin typeface="Apple SD Gothic Neo"/>
                          <a:ea typeface="Apple SD Gothic Neo"/>
                          <a:cs typeface="Apple SD Gothic Neo"/>
                        </a:rPr>
                        <a:t>잘못된 인간 역할</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역할·capability 검증</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혼합·위조 credentials 거부</a:t>
                      </a:r>
                    </a:p>
                  </a:txBody>
                  <a:tcPr marL="91440" marR="91440" marT="45720" marB="45720">
                    <a:solidFill>
                      <a:srgbClr val="FAFAF6"/>
                    </a:solidFill>
                  </a:tcPr>
                </a:tc>
              </a:tr>
              <a:tr h="674688">
                <a:tc>
                  <a:txBody>
                    <a:bodyPr/>
                    <a:lstStyle/>
                    <a:p>
                      <a:r>
                        <a:rPr sz="1875" b="0">
                          <a:solidFill>
                            <a:srgbClr val="142B2C"/>
                          </a:solidFill>
                          <a:latin typeface="Apple SD Gothic Neo"/>
                          <a:ea typeface="Apple SD Gothic Neo"/>
                          <a:cs typeface="Apple SD Gothic Neo"/>
                        </a:rPr>
                        <a:t>동시 변경</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version과 resource lock</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충돌 SUP002</a:t>
                      </a:r>
                    </a:p>
                  </a:txBody>
                  <a:tcPr marL="91440" marR="91440" marT="45720" marB="45720">
                    <a:solidFill>
                      <a:srgbClr val="EAF0EA"/>
                    </a:solidFill>
                  </a:tcPr>
                </a:tc>
              </a:tr>
              <a:tr h="674688">
                <a:tc>
                  <a:txBody>
                    <a:bodyPr/>
                    <a:lstStyle/>
                    <a:p>
                      <a:r>
                        <a:rPr sz="1875" b="0">
                          <a:solidFill>
                            <a:srgbClr val="142B2C"/>
                          </a:solidFill>
                          <a:latin typeface="Apple SD Gothic Neo"/>
                          <a:ea typeface="Apple SD Gothic Neo"/>
                          <a:cs typeface="Apple SD Gothic Neo"/>
                        </a:rPr>
                        <a:t>재시도</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canonical receipt</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동일 요청 replay 안정</a:t>
                      </a:r>
                    </a:p>
                  </a:txBody>
                  <a:tcPr marL="91440" marR="91440" marT="45720" marB="45720">
                    <a:solidFill>
                      <a:srgbClr val="FAFAF6"/>
                    </a:solidFill>
                  </a:tcPr>
                </a:tc>
              </a:tr>
              <a:tr h="674688">
                <a:tc>
                  <a:txBody>
                    <a:bodyPr/>
                    <a:lstStyle/>
                    <a:p>
                      <a:r>
                        <a:rPr sz="1875" b="0">
                          <a:solidFill>
                            <a:srgbClr val="142B2C"/>
                          </a:solidFill>
                          <a:latin typeface="Apple SD Gothic Neo"/>
                          <a:ea typeface="Apple SD Gothic Neo"/>
                          <a:cs typeface="Apple SD Gothic Neo"/>
                        </a:rPr>
                        <a:t>삭제 후 이력</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soft delete</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계획 참조와 감사 보존</a:t>
                      </a:r>
                    </a:p>
                  </a:txBody>
                  <a:tcPr marL="91440" marR="91440" marT="45720" marB="45720">
                    <a:solidFill>
                      <a:srgbClr val="EAF0EA"/>
                    </a:solidFill>
                  </a:tcPr>
                </a:tc>
              </a:tr>
              <a:tr h="674688">
                <a:tc>
                  <a:txBody>
                    <a:bodyPr/>
                    <a:lstStyle/>
                    <a:p>
                      <a:r>
                        <a:rPr sz="1875" b="0">
                          <a:solidFill>
                            <a:srgbClr val="142B2C"/>
                          </a:solidFill>
                          <a:latin typeface="Apple SD Gothic Neo"/>
                          <a:ea typeface="Apple SD Gothic Neo"/>
                          <a:cs typeface="Apple SD Gothic Neo"/>
                        </a:rPr>
                        <a:t>API 탐색</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Swagger 계약</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CRUD 5 / Swagger 5 확인</a:t>
                      </a:r>
                    </a:p>
                  </a:txBody>
                  <a:tcPr marL="91440" marR="91440" marT="45720" marB="45720">
                    <a:solidFill>
                      <a:srgbClr val="FAFAF6"/>
                    </a:solidFill>
                  </a:tcPr>
                </a:tc>
              </a:tr>
            </a:tbl>
          </a:graphicData>
        </a:graphic>
      </p:graphicFrame>
      <p:sp>
        <p:nvSpPr>
          <p:cNvPr id="4" name="">
            <a:extLst xmlns:a="http://schemas.openxmlformats.org/drawingml/2006/main">
              <a:ext uri="{FF2B5EF4-FFF2-40B4-BE49-F238E27FC236}">
                <a16:creationId xmlns:a16="http://schemas.microsoft.com/office/drawing/2014/main" id="{1FF209C7-87FD-4531-98EF-9DD05BBEC26E}"/>
              </a:ext>
            </a:extLst>
          </p:cNvPr>
          <p:cNvSpPr>
            <a:spLocks xmlns:a="http://schemas.openxmlformats.org/drawingml/2006/main" noGrp="1"/>
          </p:cNvSpPr>
          <p:nvPr/>
        </p:nvSpPr>
        <p:spPr>
          <a:xfrm xmlns:a="http://schemas.openxmlformats.org/drawingml/2006/main">
            <a:off x="685800" y="593407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667"/>
                </a:solidFill>
                <a:latin typeface="Apple SD Gothic Neo"/>
                <a:ea typeface="Apple SD Gothic Neo"/>
                <a:cs typeface="Apple SD Gothic Neo"/>
              </a:defRPr>
            </a:pPr>
            <a:r>
              <a:rPr sz="1575" b="0">
                <a:solidFill>
                  <a:srgbClr val="526667"/>
                </a:solidFill>
                <a:latin typeface="Apple SD Gothic Neo"/>
                <a:ea typeface="Apple SD Gothic Neo"/>
                <a:cs typeface="Apple SD Gothic Neo"/>
              </a:rPr>
              <a:t>인증서 자동화 확장·OAuth·실모델 Supplier UAT는 이 구현에 포함하지 않는다.</a:t>
            </a:r>
          </a:p>
        </p:txBody>
      </p:sp>
    </p:spTree>
    <p:extLst>
      <p:ext uri="{BB962C8B-B14F-4D97-AF65-F5344CB8AC3E}">
        <p14:creationId xmlns:p14="http://schemas.microsoft.com/office/powerpoint/2010/main" val="2007796444"/>
      </p:ext>
    </p:extLst>
  </p:cSld>
</p:sld>
</file>

<file path=ppt/slides/slide11.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69A4FF-A07C-4ADE-AED1-360A82C29790}"/>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B2C"/>
                </a:solidFill>
                <a:latin typeface="Apple SD Gothic Neo"/>
                <a:ea typeface="Apple SD Gothic Neo"/>
                <a:cs typeface="Apple SD Gothic Neo"/>
              </a:defRPr>
            </a:pPr>
            <a:r>
              <a:rPr sz="3300" b="1">
                <a:solidFill>
                  <a:srgbClr val="142B2C"/>
                </a:solidFill>
                <a:latin typeface="Apple SD Gothic Neo"/>
                <a:ea typeface="Apple SD Gothic Neo"/>
                <a:cs typeface="Apple SD Gothic Neo"/>
              </a:rPr>
              <a:t>검증 결과와 증거 계층</a:t>
            </a:r>
          </a:p>
        </p:txBody>
      </p:sp>
      <p:sp>
        <p:nvSpPr>
          <p:cNvPr id="2" name="">
            <a:extLst xmlns:a="http://schemas.openxmlformats.org/drawingml/2006/main">
              <a:ext uri="{FF2B5EF4-FFF2-40B4-BE49-F238E27FC236}">
                <a16:creationId xmlns:a16="http://schemas.microsoft.com/office/drawing/2014/main" id="{6A45095A-5C31-489E-8967-D38B060C6E16}"/>
              </a:ext>
            </a:extLst>
          </p:cNvPr>
          <p:cNvSpPr>
            <a:spLocks xmlns:a="http://schemas.openxmlformats.org/drawingml/2006/main" noGrp="1"/>
          </p:cNvSpPr>
          <p:nvPr/>
        </p:nvSpPr>
        <p:spPr>
          <a:xfrm xmlns:a="http://schemas.openxmlformats.org/drawingml/2006/main">
            <a:off x="11049000" y="62769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667"/>
                </a:solidFill>
                <a:latin typeface="Apple SD Gothic Neo"/>
                <a:ea typeface="Apple SD Gothic Neo"/>
                <a:cs typeface="Apple SD Gothic Neo"/>
              </a:defRPr>
            </a:pPr>
            <a:r>
              <a:rPr sz="1425" b="0">
                <a:solidFill>
                  <a:srgbClr val="526667"/>
                </a:solidFill>
                <a:latin typeface="Apple SD Gothic Neo"/>
                <a:ea typeface="Apple SD Gothic Neo"/>
                <a:cs typeface="Apple SD Gothic Neo"/>
              </a:rPr>
              <a:t>11</a:t>
            </a:r>
          </a:p>
        </p:txBody>
      </p:sp>
      <p:graphicFrame>
        <p:nvGraphicFramePr>
          <p:cNvPr id="11" name="Chart"/>
          <p:cNvGraphicFramePr/>
          <p:nvPr/>
        </p:nvGraphicFramePr>
        <p:xfrm>
          <a:off xmlns:a="http://schemas.openxmlformats.org/drawingml/2006/main" x="685800" y="1562100"/>
          <a:ext xmlns:a="http://schemas.openxmlformats.org/drawingml/2006/main" cx="6191250" cy="3705225"/>
        </p:xfrm>
        <a:graphic xmlns:a="http://schemas.openxmlformats.org/drawingml/2006/main">
          <a:graphicData uri="http://schemas.openxmlformats.org/drawingml/2006/chart">
            <c:chart xmlns:r="http://schemas.openxmlformats.org/officeDocument/2006/relationships" xmlns:c="http://schemas.openxmlformats.org/drawingml/2006/chart" r:id="R7bae05097eea4661"/>
          </a:graphicData>
        </a:graphic>
      </p:graphicFrame>
      <p:sp>
        <p:nvSpPr>
          <p:cNvPr id="4" name="">
            <a:extLst xmlns:a="http://schemas.openxmlformats.org/drawingml/2006/main">
              <a:ext uri="{FF2B5EF4-FFF2-40B4-BE49-F238E27FC236}">
                <a16:creationId xmlns:a16="http://schemas.microsoft.com/office/drawing/2014/main" id="{A2E9918C-A8E1-4EC6-98D5-80EAA1A2F5EC}"/>
              </a:ext>
            </a:extLst>
          </p:cNvPr>
          <p:cNvSpPr>
            <a:spLocks xmlns:a="http://schemas.openxmlformats.org/drawingml/2006/main" noGrp="1"/>
          </p:cNvSpPr>
          <p:nvPr/>
        </p:nvSpPr>
        <p:spPr>
          <a:xfrm xmlns:a="http://schemas.openxmlformats.org/drawingml/2006/main">
            <a:off x="7381875" y="157162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B2C"/>
                </a:solidFill>
                <a:latin typeface="Apple SD Gothic Neo"/>
                <a:ea typeface="Apple SD Gothic Neo"/>
                <a:cs typeface="Apple SD Gothic Neo"/>
              </a:defRPr>
            </a:pPr>
            <a:r>
              <a:rPr sz="2850" b="1">
                <a:solidFill>
                  <a:srgbClr val="142B2C"/>
                </a:solidFill>
                <a:latin typeface="Apple SD Gothic Neo"/>
                <a:ea typeface="Apple SD Gothic Neo"/>
                <a:cs typeface="Apple SD Gothic Neo"/>
              </a:rPr>
              <a:t>549건 실행 통과</a:t>
            </a:r>
          </a:p>
        </p:txBody>
      </p:sp>
      <p:sp>
        <p:nvSpPr>
          <p:cNvPr id="5" name="">
            <a:extLst xmlns:a="http://schemas.openxmlformats.org/drawingml/2006/main">
              <a:ext uri="{FF2B5EF4-FFF2-40B4-BE49-F238E27FC236}">
                <a16:creationId xmlns:a16="http://schemas.microsoft.com/office/drawing/2014/main" id="{8D0D8402-2164-4F08-B525-26C8CE3BD330}"/>
              </a:ext>
            </a:extLst>
          </p:cNvPr>
          <p:cNvSpPr>
            <a:spLocks xmlns:a="http://schemas.openxmlformats.org/drawingml/2006/main" noGrp="1"/>
          </p:cNvSpPr>
          <p:nvPr/>
        </p:nvSpPr>
        <p:spPr>
          <a:xfrm xmlns:a="http://schemas.openxmlformats.org/drawingml/2006/main">
            <a:off x="7381875" y="2333625"/>
            <a:ext cx="4095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B2C"/>
                </a:solidFill>
                <a:latin typeface="Apple SD Gothic Neo"/>
                <a:ea typeface="Apple SD Gothic Neo"/>
                <a:cs typeface="Apple SD Gothic Neo"/>
              </a:defRPr>
            </a:pPr>
            <a:r>
              <a:rPr sz="1950" b="0">
                <a:solidFill>
                  <a:srgbClr val="142B2C"/>
                </a:solidFill>
                <a:latin typeface="Apple SD Gothic Neo"/>
                <a:ea typeface="Apple SD Gothic Neo"/>
                <a:cs typeface="Apple SD Gothic Neo"/>
              </a:rPr>
              <a:t>567건 발견 / 18건 skip</a:t>
            </a:r>
          </a:p>
          <a:p xmlns:a="http://schemas.openxmlformats.org/drawingml/2006/main">
            <a:pPr>
              <a:defRPr sz="1950" b="0">
                <a:solidFill>
                  <a:srgbClr val="142B2C"/>
                </a:solidFill>
                <a:latin typeface="Apple SD Gothic Neo"/>
                <a:ea typeface="Apple SD Gothic Neo"/>
                <a:cs typeface="Apple SD Gothic Neo"/>
              </a:defRPr>
            </a:pPr>
            <a:r>
              <a:rPr sz="1950" b="0">
                <a:solidFill>
                  <a:srgbClr val="142B2C"/>
                </a:solidFill>
                <a:latin typeface="Apple SD Gothic Neo"/>
                <a:ea typeface="Apple SD Gothic Neo"/>
                <a:cs typeface="Apple SD Gothic Neo"/>
              </a:rPr>
              <a:t>Supplier 기준 최신 source</a:t>
            </a:r>
          </a:p>
        </p:txBody>
      </p:sp>
      <p:sp>
        <p:nvSpPr>
          <p:cNvPr id="6" name="">
            <a:extLst xmlns:a="http://schemas.openxmlformats.org/drawingml/2006/main">
              <a:ext uri="{FF2B5EF4-FFF2-40B4-BE49-F238E27FC236}">
                <a16:creationId xmlns:a16="http://schemas.microsoft.com/office/drawing/2014/main" id="{DA336E77-0217-42BB-97C2-AB8B140B7B6B}"/>
              </a:ext>
            </a:extLst>
          </p:cNvPr>
          <p:cNvSpPr>
            <a:spLocks xmlns:a="http://schemas.openxmlformats.org/drawingml/2006/main" noGrp="1"/>
          </p:cNvSpPr>
          <p:nvPr/>
        </p:nvSpPr>
        <p:spPr>
          <a:xfrm xmlns:a="http://schemas.openxmlformats.org/drawingml/2006/main">
            <a:off x="7381875" y="338137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2C"/>
                </a:solidFill>
                <a:latin typeface="Apple SD Gothic Neo"/>
                <a:ea typeface="Apple SD Gothic Neo"/>
                <a:cs typeface="Apple SD Gothic Neo"/>
              </a:defRPr>
            </a:pPr>
            <a:r>
              <a:rPr sz="2250" b="1">
                <a:solidFill>
                  <a:srgbClr val="142B2C"/>
                </a:solidFill>
                <a:latin typeface="Apple SD Gothic Neo"/>
                <a:ea typeface="Apple SD Gothic Neo"/>
                <a:cs typeface="Apple SD Gothic Neo"/>
              </a:rPr>
              <a:t>최신 native harness 검증</a:t>
            </a:r>
          </a:p>
        </p:txBody>
      </p:sp>
      <p:sp>
        <p:nvSpPr>
          <p:cNvPr id="7" name="">
            <a:extLst xmlns:a="http://schemas.openxmlformats.org/drawingml/2006/main">
              <a:ext uri="{FF2B5EF4-FFF2-40B4-BE49-F238E27FC236}">
                <a16:creationId xmlns:a16="http://schemas.microsoft.com/office/drawing/2014/main" id="{A4CE9346-6923-4163-821F-F3B292A77C80}"/>
              </a:ext>
            </a:extLst>
          </p:cNvPr>
          <p:cNvSpPr>
            <a:spLocks xmlns:a="http://schemas.openxmlformats.org/drawingml/2006/main" noGrp="1"/>
          </p:cNvSpPr>
          <p:nvPr/>
        </p:nvSpPr>
        <p:spPr>
          <a:xfrm xmlns:a="http://schemas.openxmlformats.org/drawingml/2006/main">
            <a:off x="7381875" y="3971925"/>
            <a:ext cx="4095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B2C"/>
                </a:solidFill>
                <a:latin typeface="Apple SD Gothic Neo"/>
                <a:ea typeface="Apple SD Gothic Neo"/>
                <a:cs typeface="Apple SD Gothic Neo"/>
              </a:defRPr>
            </a:pPr>
            <a:r>
              <a:rPr sz="1950" b="0">
                <a:solidFill>
                  <a:srgbClr val="142B2C"/>
                </a:solidFill>
                <a:latin typeface="Apple SD Gothic Neo"/>
                <a:ea typeface="Apple SD Gothic Neo"/>
                <a:cs typeface="Apple SD Gothic Neo"/>
              </a:rPr>
              <a:t>runner 76 / helper 7</a:t>
            </a:r>
          </a:p>
          <a:p xmlns:a="http://schemas.openxmlformats.org/drawingml/2006/main">
            <a:pPr>
              <a:defRPr sz="1950" b="0">
                <a:solidFill>
                  <a:srgbClr val="142B2C"/>
                </a:solidFill>
                <a:latin typeface="Apple SD Gothic Neo"/>
                <a:ea typeface="Apple SD Gothic Neo"/>
                <a:cs typeface="Apple SD Gothic Neo"/>
              </a:defRPr>
            </a:pPr>
            <a:r>
              <a:rPr sz="1950" b="0">
                <a:solidFill>
                  <a:srgbClr val="142B2C"/>
                </a:solidFill>
                <a:latin typeface="Apple SD Gothic Neo"/>
                <a:ea typeface="Apple SD Gothic Neo"/>
                <a:cs typeface="Apple SD Gothic Neo"/>
              </a:rPr>
              <a:t>SIT 20 통과</a:t>
            </a:r>
          </a:p>
          <a:p xmlns:a="http://schemas.openxmlformats.org/drawingml/2006/main">
            <a:pPr>
              <a:defRPr sz="1950" b="0">
                <a:solidFill>
                  <a:srgbClr val="142B2C"/>
                </a:solidFill>
                <a:latin typeface="Apple SD Gothic Neo"/>
                <a:ea typeface="Apple SD Gothic Neo"/>
                <a:cs typeface="Apple SD Gothic Neo"/>
              </a:defRPr>
            </a:pPr>
            <a:r>
              <a:rPr sz="1950" b="0">
                <a:solidFill>
                  <a:srgbClr val="142B2C"/>
                </a:solidFill>
                <a:latin typeface="Apple SD Gothic Neo"/>
                <a:ea typeface="Apple SD Gothic Neo"/>
                <a:cs typeface="Apple SD Gothic Neo"/>
              </a:rPr>
              <a:t>#44 MCP 26 / Zig 7 / CLI 32</a:t>
            </a:r>
          </a:p>
        </p:txBody>
      </p:sp>
      <p:sp>
        <p:nvSpPr>
          <p:cNvPr id="8" name="">
            <a:extLst xmlns:a="http://schemas.openxmlformats.org/drawingml/2006/main">
              <a:ext uri="{FF2B5EF4-FFF2-40B4-BE49-F238E27FC236}">
                <a16:creationId xmlns:a16="http://schemas.microsoft.com/office/drawing/2014/main" id="{5D72A8EF-BD2E-4BA6-94BD-CEB607647BE5}"/>
              </a:ext>
            </a:extLst>
          </p:cNvPr>
          <p:cNvSpPr>
            <a:spLocks xmlns:a="http://schemas.openxmlformats.org/drawingml/2006/main" noGrp="1"/>
          </p:cNvSpPr>
          <p:nvPr/>
        </p:nvSpPr>
        <p:spPr>
          <a:xfrm xmlns:a="http://schemas.openxmlformats.org/drawingml/2006/main">
            <a:off x="685800" y="593407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667"/>
                </a:solidFill>
                <a:latin typeface="Apple SD Gothic Neo"/>
                <a:ea typeface="Apple SD Gothic Neo"/>
                <a:cs typeface="Apple SD Gothic Neo"/>
              </a:defRPr>
            </a:pPr>
            <a:r>
              <a:rPr sz="1575" b="0">
                <a:solidFill>
                  <a:srgbClr val="526667"/>
                </a:solidFill>
                <a:latin typeface="Apple SD Gothic Neo"/>
                <a:ea typeface="Apple SD Gothic Neo"/>
                <a:cs typeface="Apple SD Gothic Neo"/>
              </a:rPr>
              <a:t>scripted SIT 20건과 JAR·CLI·stdio proof를 확보했다. 실제 모델·클라이언트·운영 인수는 구분한다.</a:t>
            </a:r>
          </a:p>
        </p:txBody>
      </p:sp>
    </p:spTree>
    <p:extLst>
      <p:ext uri="{BB962C8B-B14F-4D97-AF65-F5344CB8AC3E}">
        <p14:creationId xmlns:p14="http://schemas.microsoft.com/office/powerpoint/2010/main" val="1552606471"/>
      </p:ext>
    </p:extLst>
  </p:cSld>
</p:sld>
</file>

<file path=ppt/slides/slide12.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AF621A8-27CC-456D-9F5F-A4E81C112F12}"/>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B2C"/>
                </a:solidFill>
                <a:latin typeface="Apple SD Gothic Neo"/>
                <a:ea typeface="Apple SD Gothic Neo"/>
                <a:cs typeface="Apple SD Gothic Neo"/>
              </a:defRPr>
            </a:pPr>
            <a:r>
              <a:rPr sz="3300" b="1">
                <a:solidFill>
                  <a:srgbClr val="142B2C"/>
                </a:solidFill>
                <a:latin typeface="Apple SD Gothic Neo"/>
                <a:ea typeface="Apple SD Gothic Neo"/>
                <a:cs typeface="Apple SD Gothic Neo"/>
              </a:rPr>
              <a:t>현재 native UAT: 2 PASS, 전체 인수 미완료</a:t>
            </a:r>
          </a:p>
        </p:txBody>
      </p:sp>
      <p:sp>
        <p:nvSpPr>
          <p:cNvPr id="2" name="">
            <a:extLst xmlns:a="http://schemas.openxmlformats.org/drawingml/2006/main">
              <a:ext uri="{FF2B5EF4-FFF2-40B4-BE49-F238E27FC236}">
                <a16:creationId xmlns:a16="http://schemas.microsoft.com/office/drawing/2014/main" id="{B31AD3CB-B521-4612-B19C-926CC3ACDB1E}"/>
              </a:ext>
            </a:extLst>
          </p:cNvPr>
          <p:cNvSpPr>
            <a:spLocks xmlns:a="http://schemas.openxmlformats.org/drawingml/2006/main" noGrp="1"/>
          </p:cNvSpPr>
          <p:nvPr/>
        </p:nvSpPr>
        <p:spPr>
          <a:xfrm xmlns:a="http://schemas.openxmlformats.org/drawingml/2006/main">
            <a:off x="11049000" y="62769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667"/>
                </a:solidFill>
                <a:latin typeface="Apple SD Gothic Neo"/>
                <a:ea typeface="Apple SD Gothic Neo"/>
                <a:cs typeface="Apple SD Gothic Neo"/>
              </a:defRPr>
            </a:pPr>
            <a:r>
              <a:rPr sz="1425" b="0">
                <a:solidFill>
                  <a:srgbClr val="526667"/>
                </a:solidFill>
                <a:latin typeface="Apple SD Gothic Neo"/>
                <a:ea typeface="Apple SD Gothic Neo"/>
                <a:cs typeface="Apple SD Gothic Neo"/>
              </a:rPr>
              <a:t>12</a:t>
            </a:r>
          </a:p>
        </p:txBody>
      </p:sp>
      <p:graphicFrame>
        <p:nvGraphicFramePr>
          <p:cNvPr id="7" name=""/>
          <p:cNvGraphicFramePr/>
          <p:nvPr/>
        </p:nvGraphicFramePr>
        <p:xfrm>
          <a:off xmlns:a="http://schemas.openxmlformats.org/drawingml/2006/main" x="685800" y="1381125"/>
          <a:ext xmlns:a="http://schemas.openxmlformats.org/drawingml/2006/main" cx="10820400" cy="4114800"/>
        </p:xfrm>
        <a:graphic xmlns:a="http://schemas.openxmlformats.org/drawingml/2006/main">
          <a:graphicData uri="http://schemas.openxmlformats.org/drawingml/2006/table">
            <a:tbl>
              <a:tblPr/>
              <a:tblGrid>
                <a:gridCol w="2619375"/>
                <a:gridCol w="6191250"/>
                <a:gridCol w="2009775"/>
              </a:tblGrid>
              <a:tr h="587829">
                <a:tc>
                  <a:txBody>
                    <a:bodyPr/>
                    <a:lstStyle/>
                    <a:p>
                      <a:r>
                        <a:rPr sz="1875" b="1">
                          <a:solidFill>
                            <a:srgbClr val="FFFFFF"/>
                          </a:solidFill>
                          <a:latin typeface="Apple SD Gothic Neo"/>
                          <a:ea typeface="Apple SD Gothic Neo"/>
                          <a:cs typeface="Apple SD Gothic Neo"/>
                        </a:rPr>
                        <a:t>runtime·Case</a:t>
                      </a:r>
                    </a:p>
                  </a:txBody>
                  <a:tcPr marL="91440" marR="91440" marT="45720" marB="45720">
                    <a:solidFill>
                      <a:srgbClr val="176957"/>
                    </a:solidFill>
                  </a:tcPr>
                </a:tc>
                <a:tc>
                  <a:txBody>
                    <a:bodyPr/>
                    <a:lstStyle/>
                    <a:p>
                      <a:r>
                        <a:rPr sz="1875" b="1">
                          <a:solidFill>
                            <a:srgbClr val="FFFFFF"/>
                          </a:solidFill>
                          <a:latin typeface="Apple SD Gothic Neo"/>
                          <a:ea typeface="Apple SD Gothic Neo"/>
                          <a:cs typeface="Apple SD Gothic Neo"/>
                        </a:rPr>
                        <a:t>최종 판정·업무 결과</a:t>
                      </a:r>
                    </a:p>
                  </a:txBody>
                  <a:tcPr marL="91440" marR="91440" marT="45720" marB="45720">
                    <a:solidFill>
                      <a:srgbClr val="176957"/>
                    </a:solidFill>
                  </a:tcPr>
                </a:tc>
                <a:tc>
                  <a:txBody>
                    <a:bodyPr/>
                    <a:lstStyle/>
                    <a:p>
                      <a:r>
                        <a:rPr sz="1875" b="1">
                          <a:solidFill>
                            <a:srgbClr val="FFFFFF"/>
                          </a:solidFill>
                          <a:latin typeface="Apple SD Gothic Neo"/>
                          <a:ea typeface="Apple SD Gothic Neo"/>
                          <a:cs typeface="Apple SD Gothic Neo"/>
                        </a:rPr>
                        <a:t>보고 비용 USD</a:t>
                      </a:r>
                    </a:p>
                  </a:txBody>
                  <a:tcPr marL="91440" marR="91440" marT="45720" marB="45720">
                    <a:solidFill>
                      <a:srgbClr val="176957"/>
                    </a:solidFill>
                  </a:tcPr>
                </a:tc>
              </a:tr>
              <a:tr h="587829">
                <a:tc>
                  <a:txBody>
                    <a:bodyPr/>
                    <a:lstStyle/>
                    <a:p>
                      <a:r>
                        <a:rPr sz="1875" b="0">
                          <a:solidFill>
                            <a:srgbClr val="142B2C"/>
                          </a:solidFill>
                          <a:latin typeface="Apple SD Gothic Neo"/>
                          <a:ea typeface="Apple SD Gothic Neo"/>
                          <a:cs typeface="Apple SD Gothic Neo"/>
                        </a:rPr>
                        <a:t>Claude P2P-001</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PASS. PO 1 · 16,500원, coordinator DONE</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3.0874898</a:t>
                      </a:r>
                    </a:p>
                  </a:txBody>
                  <a:tcPr marL="91440" marR="91440" marT="45720" marB="45720">
                    <a:solidFill>
                      <a:srgbClr val="FAFAF6"/>
                    </a:solidFill>
                  </a:tcPr>
                </a:tc>
              </a:tr>
              <a:tr h="587829">
                <a:tc>
                  <a:txBody>
                    <a:bodyPr/>
                    <a:lstStyle/>
                    <a:p>
                      <a:r>
                        <a:rPr sz="1875" b="0">
                          <a:solidFill>
                            <a:srgbClr val="142B2C"/>
                          </a:solidFill>
                          <a:latin typeface="Apple SD Gothic Neo"/>
                          <a:ea typeface="Apple SD Gothic Neo"/>
                          <a:cs typeface="Apple SD Gothic Neo"/>
                        </a:rPr>
                        <a:t>Claude P2P-002</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PASS. PO·followup 0, MANAGER BLOCK</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3.2866446</a:t>
                      </a:r>
                    </a:p>
                  </a:txBody>
                  <a:tcPr marL="91440" marR="91440" marT="45720" marB="45720">
                    <a:solidFill>
                      <a:srgbClr val="EAF0EA"/>
                    </a:solidFill>
                  </a:tcPr>
                </a:tc>
              </a:tr>
              <a:tr h="587829">
                <a:tc>
                  <a:txBody>
                    <a:bodyPr/>
                    <a:lstStyle/>
                    <a:p>
                      <a:r>
                        <a:rPr sz="1875" b="0">
                          <a:solidFill>
                            <a:srgbClr val="142B2C"/>
                          </a:solidFill>
                          <a:latin typeface="Apple SD Gothic Neo"/>
                          <a:ea typeface="Apple SD Gothic Neo"/>
                          <a:cs typeface="Apple SD Gothic Neo"/>
                        </a:rPr>
                        <a:t>Claude P2P-004</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FAIL. PO 17,000원 후 최종 조정 실패</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6.2873046</a:t>
                      </a:r>
                    </a:p>
                  </a:txBody>
                  <a:tcPr marL="91440" marR="91440" marT="45720" marB="45720">
                    <a:solidFill>
                      <a:srgbClr val="FAFAF6"/>
                    </a:solidFill>
                  </a:tcPr>
                </a:tc>
              </a:tr>
              <a:tr h="587829">
                <a:tc>
                  <a:txBody>
                    <a:bodyPr/>
                    <a:lstStyle/>
                    <a:p>
                      <a:r>
                        <a:rPr sz="1875" b="0">
                          <a:solidFill>
                            <a:srgbClr val="142B2C"/>
                          </a:solidFill>
                          <a:latin typeface="Apple SD Gothic Neo"/>
                          <a:ea typeface="Apple SD Gothic Neo"/>
                          <a:cs typeface="Apple SD Gothic Neo"/>
                        </a:rPr>
                        <a:t>Claude QM-001</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FAIL. 검사 제안 전 실행 실패</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0 (CLI 보고)</a:t>
                      </a:r>
                    </a:p>
                  </a:txBody>
                  <a:tcPr marL="91440" marR="91440" marT="45720" marB="45720">
                    <a:solidFill>
                      <a:srgbClr val="EAF0EA"/>
                    </a:solidFill>
                  </a:tcPr>
                </a:tc>
              </a:tr>
              <a:tr h="587829">
                <a:tc>
                  <a:txBody>
                    <a:bodyPr/>
                    <a:lstStyle/>
                    <a:p>
                      <a:r>
                        <a:rPr sz="1875" b="0">
                          <a:solidFill>
                            <a:srgbClr val="142B2C"/>
                          </a:solidFill>
                          <a:latin typeface="Apple SD Gothic Neo"/>
                          <a:ea typeface="Apple SD Gothic Neo"/>
                          <a:cs typeface="Apple SD Gothic Neo"/>
                        </a:rPr>
                        <a:t>Claude RC-001</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INCOMPLETE. native 종료·사용량 누락</a:t>
                      </a:r>
                    </a:p>
                  </a:txBody>
                  <a:tcPr marL="91440" marR="91440" marT="45720" marB="45720">
                    <a:solidFill>
                      <a:srgbClr val="FAFAF6"/>
                    </a:solidFill>
                  </a:tcPr>
                </a:tc>
                <a:tc>
                  <a:txBody>
                    <a:bodyPr/>
                    <a:lstStyle/>
                    <a:p>
                      <a:r>
                        <a:rPr sz="1875" b="0">
                          <a:solidFill>
                            <a:srgbClr val="142B2C"/>
                          </a:solidFill>
                          <a:latin typeface="Apple SD Gothic Neo"/>
                          <a:ea typeface="Apple SD Gothic Neo"/>
                          <a:cs typeface="Apple SD Gothic Neo"/>
                        </a:rPr>
                        <a:t>unknown</a:t>
                      </a:r>
                    </a:p>
                  </a:txBody>
                  <a:tcPr marL="91440" marR="91440" marT="45720" marB="45720">
                    <a:solidFill>
                      <a:srgbClr val="FAFAF6"/>
                    </a:solidFill>
                  </a:tcPr>
                </a:tc>
              </a:tr>
              <a:tr h="587829">
                <a:tc>
                  <a:txBody>
                    <a:bodyPr/>
                    <a:lstStyle/>
                    <a:p>
                      <a:r>
                        <a:rPr sz="1875" b="0">
                          <a:solidFill>
                            <a:srgbClr val="142B2C"/>
                          </a:solidFill>
                          <a:latin typeface="Apple SD Gothic Neo"/>
                          <a:ea typeface="Apple SD Gothic Neo"/>
                          <a:cs typeface="Apple SD Gothic Neo"/>
                        </a:rPr>
                        <a:t>Codex P2P-001</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FAIL. 제안 전 실행 실패, 사용량 미보고</a:t>
                      </a:r>
                    </a:p>
                  </a:txBody>
                  <a:tcPr marL="91440" marR="91440" marT="45720" marB="45720">
                    <a:solidFill>
                      <a:srgbClr val="EAF0EA"/>
                    </a:solidFill>
                  </a:tcPr>
                </a:tc>
                <a:tc>
                  <a:txBody>
                    <a:bodyPr/>
                    <a:lstStyle/>
                    <a:p>
                      <a:r>
                        <a:rPr sz="1875" b="0">
                          <a:solidFill>
                            <a:srgbClr val="142B2C"/>
                          </a:solidFill>
                          <a:latin typeface="Apple SD Gothic Neo"/>
                          <a:ea typeface="Apple SD Gothic Neo"/>
                          <a:cs typeface="Apple SD Gothic Neo"/>
                        </a:rPr>
                        <a:t>unknown</a:t>
                      </a:r>
                    </a:p>
                  </a:txBody>
                  <a:tcPr marL="91440" marR="91440" marT="45720" marB="45720">
                    <a:solidFill>
                      <a:srgbClr val="EAF0EA"/>
                    </a:solidFill>
                  </a:tcPr>
                </a:tc>
              </a:tr>
            </a:tbl>
          </a:graphicData>
        </a:graphic>
      </p:graphicFrame>
      <p:sp>
        <p:nvSpPr>
          <p:cNvPr id="4" name="">
            <a:extLst xmlns:a="http://schemas.openxmlformats.org/drawingml/2006/main">
              <a:ext uri="{FF2B5EF4-FFF2-40B4-BE49-F238E27FC236}">
                <a16:creationId xmlns:a16="http://schemas.microsoft.com/office/drawing/2014/main" id="{73D5F753-F692-436F-B035-89126717922F}"/>
              </a:ext>
            </a:extLst>
          </p:cNvPr>
          <p:cNvSpPr>
            <a:spLocks xmlns:a="http://schemas.openxmlformats.org/drawingml/2006/main" noGrp="1"/>
          </p:cNvSpPr>
          <p:nvPr/>
        </p:nvSpPr>
        <p:spPr>
          <a:xfrm xmlns:a="http://schemas.openxmlformats.org/drawingml/2006/main">
            <a:off x="685800" y="593407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667"/>
                </a:solidFill>
                <a:latin typeface="Apple SD Gothic Neo"/>
                <a:ea typeface="Apple SD Gothic Neo"/>
                <a:cs typeface="Apple SD Gothic Neo"/>
              </a:defRPr>
            </a:pPr>
            <a:r>
              <a:rPr sz="1575" b="0">
                <a:solidFill>
                  <a:srgbClr val="526667"/>
                </a:solidFill>
                <a:latin typeface="Apple SD Gothic Neo"/>
                <a:ea typeface="Apple SD Gothic Neo"/>
                <a:cs typeface="Apple SD Gothic Neo"/>
              </a:rPr>
              <a:t>알려진 보고 비용 USD 12.661439, 전체 비용 unknown. 현재 Codex 접근 gate: AUTHENTICATION</a:t>
            </a:r>
          </a:p>
        </p:txBody>
      </p:sp>
    </p:spTree>
    <p:extLst>
      <p:ext uri="{BB962C8B-B14F-4D97-AF65-F5344CB8AC3E}">
        <p14:creationId xmlns:p14="http://schemas.microsoft.com/office/powerpoint/2010/main" val="302678"/>
      </p:ext>
    </p:extLst>
  </p:cSld>
</p:sld>
</file>

<file path=ppt/slides/slide13.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2F8A784-0717-4E22-B958-561B6786750B}"/>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B2C"/>
                </a:solidFill>
                <a:latin typeface="Apple SD Gothic Neo"/>
                <a:ea typeface="Apple SD Gothic Neo"/>
                <a:cs typeface="Apple SD Gothic Neo"/>
              </a:defRPr>
            </a:pPr>
            <a:r>
              <a:rPr sz="3300" b="1">
                <a:solidFill>
                  <a:srgbClr val="142B2C"/>
                </a:solidFill>
                <a:latin typeface="Apple SD Gothic Neo"/>
                <a:ea typeface="Apple SD Gothic Neo"/>
                <a:cs typeface="Apple SD Gothic Neo"/>
              </a:rPr>
              <a:t>범위와 남은 인수 경계</a:t>
            </a:r>
          </a:p>
        </p:txBody>
      </p:sp>
      <p:sp>
        <p:nvSpPr>
          <p:cNvPr id="2" name="">
            <a:extLst xmlns:a="http://schemas.openxmlformats.org/drawingml/2006/main">
              <a:ext uri="{FF2B5EF4-FFF2-40B4-BE49-F238E27FC236}">
                <a16:creationId xmlns:a16="http://schemas.microsoft.com/office/drawing/2014/main" id="{BA6B2FFD-19F8-42C3-9299-349023A5B2F7}"/>
              </a:ext>
            </a:extLst>
          </p:cNvPr>
          <p:cNvSpPr>
            <a:spLocks xmlns:a="http://schemas.openxmlformats.org/drawingml/2006/main" noGrp="1"/>
          </p:cNvSpPr>
          <p:nvPr/>
        </p:nvSpPr>
        <p:spPr>
          <a:xfrm xmlns:a="http://schemas.openxmlformats.org/drawingml/2006/main">
            <a:off x="11049000" y="62769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667"/>
                </a:solidFill>
                <a:latin typeface="Apple SD Gothic Neo"/>
                <a:ea typeface="Apple SD Gothic Neo"/>
                <a:cs typeface="Apple SD Gothic Neo"/>
              </a:defRPr>
            </a:pPr>
            <a:r>
              <a:rPr sz="1425" b="0">
                <a:solidFill>
                  <a:srgbClr val="526667"/>
                </a:solidFill>
                <a:latin typeface="Apple SD Gothic Neo"/>
                <a:ea typeface="Apple SD Gothic Neo"/>
                <a:cs typeface="Apple SD Gothic Neo"/>
              </a:rPr>
              <a:t>13</a:t>
            </a:r>
          </a:p>
        </p:txBody>
      </p:sp>
      <p:sp>
        <p:nvSpPr>
          <p:cNvPr id="3" name="">
            <a:extLst xmlns:a="http://schemas.openxmlformats.org/drawingml/2006/main">
              <a:ext uri="{FF2B5EF4-FFF2-40B4-BE49-F238E27FC236}">
                <a16:creationId xmlns:a16="http://schemas.microsoft.com/office/drawing/2014/main" id="{3F742531-D99D-4550-B3BD-3C145A51D664}"/>
              </a:ext>
            </a:extLst>
          </p:cNvPr>
          <p:cNvSpPr>
            <a:spLocks xmlns:a="http://schemas.openxmlformats.org/drawingml/2006/main" noGrp="1"/>
          </p:cNvSpPr>
          <p:nvPr/>
        </p:nvSpPr>
        <p:spPr>
          <a:xfrm xmlns:a="http://schemas.openxmlformats.org/drawingml/2006/main">
            <a:off x="685800" y="15430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2C"/>
                </a:solidFill>
                <a:latin typeface="Apple SD Gothic Neo"/>
                <a:ea typeface="Apple SD Gothic Neo"/>
                <a:cs typeface="Apple SD Gothic Neo"/>
              </a:defRPr>
            </a:pPr>
            <a:r>
              <a:rPr sz="2250" b="1">
                <a:solidFill>
                  <a:srgbClr val="142B2C"/>
                </a:solidFill>
                <a:latin typeface="Apple SD Gothic Neo"/>
                <a:ea typeface="Apple SD Gothic Neo"/>
                <a:cs typeface="Apple SD Gothic Neo"/>
              </a:rPr>
              <a:t>전용 화면과 OAuth를 제외한다</a:t>
            </a:r>
          </a:p>
        </p:txBody>
      </p:sp>
      <p:sp>
        <p:nvSpPr>
          <p:cNvPr id="4" name="">
            <a:extLst xmlns:a="http://schemas.openxmlformats.org/drawingml/2006/main">
              <a:ext uri="{FF2B5EF4-FFF2-40B4-BE49-F238E27FC236}">
                <a16:creationId xmlns:a16="http://schemas.microsoft.com/office/drawing/2014/main" id="{A5C66684-416F-40EE-B5E4-1C26615AF0F5}"/>
              </a:ext>
            </a:extLst>
          </p:cNvPr>
          <p:cNvSpPr>
            <a:spLocks xmlns:a="http://schemas.openxmlformats.org/drawingml/2006/main" noGrp="1"/>
          </p:cNvSpPr>
          <p:nvPr/>
        </p:nvSpPr>
        <p:spPr>
          <a:xfrm xmlns:a="http://schemas.openxmlformats.org/drawingml/2006/main">
            <a:off x="685800" y="200977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B2C"/>
                </a:solidFill>
                <a:latin typeface="Apple SD Gothic Neo"/>
                <a:ea typeface="Apple SD Gothic Neo"/>
                <a:cs typeface="Apple SD Gothic Neo"/>
              </a:defRPr>
            </a:pPr>
            <a:r>
              <a:rPr sz="2025" b="0">
                <a:solidFill>
                  <a:srgbClr val="142B2C"/>
                </a:solidFill>
                <a:latin typeface="Apple SD Gothic Neo"/>
                <a:ea typeface="Apple SD Gothic Neo"/>
                <a:cs typeface="Apple SD Gothic Neo"/>
              </a:rPr>
              <a:t>MONITOR는 대화 MCP로 조회한다. 능동 알림은 별도 채널 과제다.</a:t>
            </a:r>
          </a:p>
        </p:txBody>
      </p:sp>
      <p:sp>
        <p:nvSpPr>
          <p:cNvPr id="5" name="">
            <a:extLst xmlns:a="http://schemas.openxmlformats.org/drawingml/2006/main">
              <a:ext uri="{FF2B5EF4-FFF2-40B4-BE49-F238E27FC236}">
                <a16:creationId xmlns:a16="http://schemas.microsoft.com/office/drawing/2014/main" id="{BBCAB269-72E4-45B0-8AA7-D5E442FEFB66}"/>
              </a:ext>
            </a:extLst>
          </p:cNvPr>
          <p:cNvSpPr>
            <a:spLocks xmlns:a="http://schemas.openxmlformats.org/drawingml/2006/main" noGrp="1"/>
          </p:cNvSpPr>
          <p:nvPr/>
        </p:nvSpPr>
        <p:spPr>
          <a:xfrm xmlns:a="http://schemas.openxmlformats.org/drawingml/2006/main">
            <a:off x="685800" y="29051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2C"/>
                </a:solidFill>
                <a:latin typeface="Apple SD Gothic Neo"/>
                <a:ea typeface="Apple SD Gothic Neo"/>
                <a:cs typeface="Apple SD Gothic Neo"/>
              </a:defRPr>
            </a:pPr>
            <a:r>
              <a:rPr sz="2250" b="1">
                <a:solidFill>
                  <a:srgbClr val="142B2C"/>
                </a:solidFill>
                <a:latin typeface="Apple SD Gothic Neo"/>
                <a:ea typeface="Apple SD Gothic Neo"/>
                <a:cs typeface="Apple SD Gothic Neo"/>
              </a:rPr>
              <a:t>규제 모델과 실제 신고를 구분한다</a:t>
            </a:r>
          </a:p>
        </p:txBody>
      </p:sp>
      <p:sp>
        <p:nvSpPr>
          <p:cNvPr id="6" name="">
            <a:extLst xmlns:a="http://schemas.openxmlformats.org/drawingml/2006/main">
              <a:ext uri="{FF2B5EF4-FFF2-40B4-BE49-F238E27FC236}">
                <a16:creationId xmlns:a16="http://schemas.microsoft.com/office/drawing/2014/main" id="{A2DE3CDA-D212-43A1-BFBD-F94FAB3C55D4}"/>
              </a:ext>
            </a:extLst>
          </p:cNvPr>
          <p:cNvSpPr>
            <a:spLocks xmlns:a="http://schemas.openxmlformats.org/drawingml/2006/main" noGrp="1"/>
          </p:cNvSpPr>
          <p:nvPr/>
        </p:nvSpPr>
        <p:spPr>
          <a:xfrm xmlns:a="http://schemas.openxmlformats.org/drawingml/2006/main">
            <a:off x="685800" y="337185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B2C"/>
                </a:solidFill>
                <a:latin typeface="Apple SD Gothic Neo"/>
                <a:ea typeface="Apple SD Gothic Neo"/>
                <a:cs typeface="Apple SD Gothic Neo"/>
              </a:defRPr>
            </a:pPr>
            <a:r>
              <a:rPr sz="2025" b="0">
                <a:solidFill>
                  <a:srgbClr val="142B2C"/>
                </a:solidFill>
                <a:latin typeface="Apple SD Gothic Neo"/>
                <a:ea typeface="Apple SD Gothic Neo"/>
                <a:cs typeface="Apple SD Gothic Neo"/>
              </a:rPr>
              <a:t>22개 알레르겐·보관 모델을 구현했다. 인증서 자동화와 실제 MFDS 신고는 남아 있다.</a:t>
            </a:r>
          </a:p>
        </p:txBody>
      </p:sp>
      <p:sp>
        <p:nvSpPr>
          <p:cNvPr id="7" name="">
            <a:extLst xmlns:a="http://schemas.openxmlformats.org/drawingml/2006/main">
              <a:ext uri="{FF2B5EF4-FFF2-40B4-BE49-F238E27FC236}">
                <a16:creationId xmlns:a16="http://schemas.microsoft.com/office/drawing/2014/main" id="{D569291D-EC9C-4A90-A963-78426FC32AD3}"/>
              </a:ext>
            </a:extLst>
          </p:cNvPr>
          <p:cNvSpPr>
            <a:spLocks xmlns:a="http://schemas.openxmlformats.org/drawingml/2006/main" noGrp="1"/>
          </p:cNvSpPr>
          <p:nvPr/>
        </p:nvSpPr>
        <p:spPr>
          <a:xfrm xmlns:a="http://schemas.openxmlformats.org/drawingml/2006/main">
            <a:off x="685800" y="42672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2C"/>
                </a:solidFill>
                <a:latin typeface="Apple SD Gothic Neo"/>
                <a:ea typeface="Apple SD Gothic Neo"/>
                <a:cs typeface="Apple SD Gothic Neo"/>
              </a:defRPr>
            </a:pPr>
            <a:r>
              <a:rPr sz="2250" b="1">
                <a:solidFill>
                  <a:srgbClr val="142B2C"/>
                </a:solidFill>
                <a:latin typeface="Apple SD Gothic Neo"/>
                <a:ea typeface="Apple SD Gothic Neo"/>
                <a:cs typeface="Apple SD Gothic Neo"/>
              </a:rPr>
              <a:t>로컬 승인과 운영 신원을 구분한다</a:t>
            </a:r>
          </a:p>
        </p:txBody>
      </p:sp>
      <p:sp>
        <p:nvSpPr>
          <p:cNvPr id="8" name="">
            <a:extLst xmlns:a="http://schemas.openxmlformats.org/drawingml/2006/main">
              <a:ext uri="{FF2B5EF4-FFF2-40B4-BE49-F238E27FC236}">
                <a16:creationId xmlns:a16="http://schemas.microsoft.com/office/drawing/2014/main" id="{96C2B4B2-DA46-4201-8856-00BBE57FB4CF}"/>
              </a:ext>
            </a:extLst>
          </p:cNvPr>
          <p:cNvSpPr>
            <a:spLocks xmlns:a="http://schemas.openxmlformats.org/drawingml/2006/main" noGrp="1"/>
          </p:cNvSpPr>
          <p:nvPr/>
        </p:nvSpPr>
        <p:spPr>
          <a:xfrm xmlns:a="http://schemas.openxmlformats.org/drawingml/2006/main">
            <a:off x="685800" y="473392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B2C"/>
                </a:solidFill>
                <a:latin typeface="Apple SD Gothic Neo"/>
                <a:ea typeface="Apple SD Gothic Neo"/>
                <a:cs typeface="Apple SD Gothic Neo"/>
              </a:defRPr>
            </a:pPr>
            <a:r>
              <a:rPr sz="2025" b="0">
                <a:solidFill>
                  <a:srgbClr val="142B2C"/>
                </a:solidFill>
                <a:latin typeface="Apple SD Gothic Neo"/>
                <a:ea typeface="Apple SD Gothic Neo"/>
                <a:cs typeface="Apple SD Gothic Neo"/>
              </a:rPr>
              <a:t>공유 local role/key를 사용한다. 개인별 운영 IAM·운영 배포·실제 클라이언트 인수는 미완료다.</a:t>
            </a:r>
          </a:p>
        </p:txBody>
      </p:sp>
      <p:sp>
        <p:nvSpPr>
          <p:cNvPr id="9" name="">
            <a:extLst xmlns:a="http://schemas.openxmlformats.org/drawingml/2006/main">
              <a:ext uri="{FF2B5EF4-FFF2-40B4-BE49-F238E27FC236}">
                <a16:creationId xmlns:a16="http://schemas.microsoft.com/office/drawing/2014/main" id="{F376C74C-CF54-4EF6-9225-1A96BD9C398D}"/>
              </a:ext>
            </a:extLst>
          </p:cNvPr>
          <p:cNvSpPr>
            <a:spLocks xmlns:a="http://schemas.openxmlformats.org/drawingml/2006/main" noGrp="1"/>
          </p:cNvSpPr>
          <p:nvPr/>
        </p:nvSpPr>
        <p:spPr>
          <a:xfrm xmlns:a="http://schemas.openxmlformats.org/drawingml/2006/main">
            <a:off x="685800" y="593407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667"/>
                </a:solidFill>
                <a:latin typeface="Apple SD Gothic Neo"/>
                <a:ea typeface="Apple SD Gothic Neo"/>
                <a:cs typeface="Apple SD Gothic Neo"/>
              </a:defRPr>
            </a:pPr>
            <a:r>
              <a:rPr sz="1575" b="0">
                <a:solidFill>
                  <a:srgbClr val="526667"/>
                </a:solidFill>
                <a:latin typeface="Apple SD Gothic Neo"/>
                <a:ea typeface="Apple SD Gothic Neo"/>
                <a:cs typeface="Apple SD Gothic Neo"/>
              </a:rPr>
              <a:t>VERIFIED는 인간 attestation이다. 법적 적합성 인증·외부 사실 검증을 주장하지 않는다.</a:t>
            </a:r>
          </a:p>
        </p:txBody>
      </p:sp>
    </p:spTree>
    <p:extLst>
      <p:ext uri="{BB962C8B-B14F-4D97-AF65-F5344CB8AC3E}">
        <p14:creationId xmlns:p14="http://schemas.microsoft.com/office/powerpoint/2010/main" val="1963465298"/>
      </p:ext>
    </p:extLst>
  </p:cSld>
</p:sld>
</file>

<file path=ppt/slides/slide14.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7316EA-2760-4BFC-B7FE-0CCE40E6F000}"/>
              </a:ext>
            </a:extLst>
          </p:cNvPr>
          <p:cNvSpPr>
            <a:spLocks xmlns:a="http://schemas.openxmlformats.org/drawingml/2006/main" noGrp="1"/>
          </p:cNvSpPr>
          <p:nvPr/>
        </p:nvSpPr>
        <p:spPr>
          <a:xfrm xmlns:a="http://schemas.openxmlformats.org/drawingml/2006/main">
            <a:off x="685800" y="4000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B2C"/>
                </a:solidFill>
                <a:latin typeface="Apple SD Gothic Neo"/>
                <a:ea typeface="Apple SD Gothic Neo"/>
                <a:cs typeface="Apple SD Gothic Neo"/>
              </a:defRPr>
            </a:pPr>
            <a:r>
              <a:rPr sz="3300" b="1">
                <a:solidFill>
                  <a:srgbClr val="142B2C"/>
                </a:solidFill>
                <a:latin typeface="Apple SD Gothic Neo"/>
                <a:ea typeface="Apple SD Gothic Neo"/>
                <a:cs typeface="Apple SD Gothic Neo"/>
              </a:rPr>
              <a:t>데모와 남은 runtime 인수 gate</a:t>
            </a:r>
          </a:p>
        </p:txBody>
      </p:sp>
      <p:sp>
        <p:nvSpPr>
          <p:cNvPr id="2" name="">
            <a:extLst xmlns:a="http://schemas.openxmlformats.org/drawingml/2006/main">
              <a:ext uri="{FF2B5EF4-FFF2-40B4-BE49-F238E27FC236}">
                <a16:creationId xmlns:a16="http://schemas.microsoft.com/office/drawing/2014/main" id="{0B18700B-C7D3-4A66-8F7D-B6BC99E19B23}"/>
              </a:ext>
            </a:extLst>
          </p:cNvPr>
          <p:cNvSpPr>
            <a:spLocks xmlns:a="http://schemas.openxmlformats.org/drawingml/2006/main" noGrp="1"/>
          </p:cNvSpPr>
          <p:nvPr/>
        </p:nvSpPr>
        <p:spPr>
          <a:xfrm xmlns:a="http://schemas.openxmlformats.org/drawingml/2006/main">
            <a:off x="11049000" y="62769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667"/>
                </a:solidFill>
                <a:latin typeface="Apple SD Gothic Neo"/>
                <a:ea typeface="Apple SD Gothic Neo"/>
                <a:cs typeface="Apple SD Gothic Neo"/>
              </a:defRPr>
            </a:pPr>
            <a:r>
              <a:rPr sz="1425" b="0">
                <a:solidFill>
                  <a:srgbClr val="526667"/>
                </a:solidFill>
                <a:latin typeface="Apple SD Gothic Neo"/>
                <a:ea typeface="Apple SD Gothic Neo"/>
                <a:cs typeface="Apple SD Gothic Neo"/>
              </a:rPr>
              <a:t>14</a:t>
            </a:r>
          </a:p>
        </p:txBody>
      </p:sp>
      <p:sp>
        <p:nvSpPr>
          <p:cNvPr id="3" name="">
            <a:extLst xmlns:a="http://schemas.openxmlformats.org/drawingml/2006/main">
              <a:ext uri="{FF2B5EF4-FFF2-40B4-BE49-F238E27FC236}">
                <a16:creationId xmlns:a16="http://schemas.microsoft.com/office/drawing/2014/main" id="{D574AB4E-9650-4AC0-AF00-990EBA94201B}"/>
              </a:ext>
            </a:extLst>
          </p:cNvPr>
          <p:cNvSpPr>
            <a:spLocks xmlns:a="http://schemas.openxmlformats.org/drawingml/2006/main" noGrp="1"/>
          </p:cNvSpPr>
          <p:nvPr/>
        </p:nvSpPr>
        <p:spPr>
          <a:xfrm xmlns:a="http://schemas.openxmlformats.org/drawingml/2006/main">
            <a:off x="685800" y="15430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2C"/>
                </a:solidFill>
                <a:latin typeface="Apple SD Gothic Neo"/>
                <a:ea typeface="Apple SD Gothic Neo"/>
                <a:cs typeface="Apple SD Gothic Neo"/>
              </a:defRPr>
            </a:pPr>
            <a:r>
              <a:rPr sz="2250" b="1">
                <a:solidFill>
                  <a:srgbClr val="142B2C"/>
                </a:solidFill>
                <a:latin typeface="Apple SD Gothic Neo"/>
                <a:ea typeface="Apple SD Gothic Neo"/>
                <a:cs typeface="Apple SD Gothic Neo"/>
              </a:rPr>
              <a:t>구매 데모와 현재 모델 결과를 구분한다</a:t>
            </a:r>
          </a:p>
        </p:txBody>
      </p:sp>
      <p:sp>
        <p:nvSpPr>
          <p:cNvPr id="4" name="">
            <a:extLst xmlns:a="http://schemas.openxmlformats.org/drawingml/2006/main">
              <a:ext uri="{FF2B5EF4-FFF2-40B4-BE49-F238E27FC236}">
                <a16:creationId xmlns:a16="http://schemas.microsoft.com/office/drawing/2014/main" id="{43D2F1ED-F537-41B6-8825-19FC861E2108}"/>
              </a:ext>
            </a:extLst>
          </p:cNvPr>
          <p:cNvSpPr>
            <a:spLocks xmlns:a="http://schemas.openxmlformats.org/drawingml/2006/main" noGrp="1"/>
          </p:cNvSpPr>
          <p:nvPr/>
        </p:nvSpPr>
        <p:spPr>
          <a:xfrm xmlns:a="http://schemas.openxmlformats.org/drawingml/2006/main">
            <a:off x="685800" y="200977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B2C"/>
                </a:solidFill>
                <a:latin typeface="Apple SD Gothic Neo"/>
                <a:ea typeface="Apple SD Gothic Neo"/>
                <a:cs typeface="Apple SD Gothic Neo"/>
              </a:defRPr>
            </a:pPr>
            <a:r>
              <a:rPr sz="2025" b="0">
                <a:solidFill>
                  <a:srgbClr val="142B2C"/>
                </a:solidFill>
                <a:latin typeface="Apple SD Gothic Neo"/>
                <a:ea typeface="Apple SD Gothic Neo"/>
                <a:cs typeface="Apple SD Gothic Neo"/>
              </a:rPr>
              <a:t>001·002는 PASS다. 004는 발주가 있어도 최종 조정 실패로 FAIL이다.</a:t>
            </a:r>
          </a:p>
        </p:txBody>
      </p:sp>
      <p:sp>
        <p:nvSpPr>
          <p:cNvPr id="5" name="">
            <a:extLst xmlns:a="http://schemas.openxmlformats.org/drawingml/2006/main">
              <a:ext uri="{FF2B5EF4-FFF2-40B4-BE49-F238E27FC236}">
                <a16:creationId xmlns:a16="http://schemas.microsoft.com/office/drawing/2014/main" id="{F0842A37-3BE8-42A9-A584-C37064C97C1E}"/>
              </a:ext>
            </a:extLst>
          </p:cNvPr>
          <p:cNvSpPr>
            <a:spLocks xmlns:a="http://schemas.openxmlformats.org/drawingml/2006/main" noGrp="1"/>
          </p:cNvSpPr>
          <p:nvPr/>
        </p:nvSpPr>
        <p:spPr>
          <a:xfrm xmlns:a="http://schemas.openxmlformats.org/drawingml/2006/main">
            <a:off x="685800" y="29051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2C"/>
                </a:solidFill>
                <a:latin typeface="Apple SD Gothic Neo"/>
                <a:ea typeface="Apple SD Gothic Neo"/>
                <a:cs typeface="Apple SD Gothic Neo"/>
              </a:defRPr>
            </a:pPr>
            <a:r>
              <a:rPr sz="2250" b="1">
                <a:solidFill>
                  <a:srgbClr val="142B2C"/>
                </a:solidFill>
                <a:latin typeface="Apple SD Gothic Neo"/>
                <a:ea typeface="Apple SD Gothic Neo"/>
                <a:cs typeface="Apple SD Gothic Neo"/>
              </a:rPr>
              <a:t>품질·리콜의 미인수 결과를 보존한다</a:t>
            </a:r>
          </a:p>
        </p:txBody>
      </p:sp>
      <p:sp>
        <p:nvSpPr>
          <p:cNvPr id="6" name="">
            <a:extLst xmlns:a="http://schemas.openxmlformats.org/drawingml/2006/main">
              <a:ext uri="{FF2B5EF4-FFF2-40B4-BE49-F238E27FC236}">
                <a16:creationId xmlns:a16="http://schemas.microsoft.com/office/drawing/2014/main" id="{999D2113-647A-46E3-97A4-11CEF0E3F8CB}"/>
              </a:ext>
            </a:extLst>
          </p:cNvPr>
          <p:cNvSpPr>
            <a:spLocks xmlns:a="http://schemas.openxmlformats.org/drawingml/2006/main" noGrp="1"/>
          </p:cNvSpPr>
          <p:nvPr/>
        </p:nvSpPr>
        <p:spPr>
          <a:xfrm xmlns:a="http://schemas.openxmlformats.org/drawingml/2006/main">
            <a:off x="685800" y="337185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B2C"/>
                </a:solidFill>
                <a:latin typeface="Apple SD Gothic Neo"/>
                <a:ea typeface="Apple SD Gothic Neo"/>
                <a:cs typeface="Apple SD Gothic Neo"/>
              </a:defRPr>
            </a:pPr>
            <a:r>
              <a:rPr sz="2025" b="0">
                <a:solidFill>
                  <a:srgbClr val="142B2C"/>
                </a:solidFill>
                <a:latin typeface="Apple SD Gothic Neo"/>
                <a:ea typeface="Apple SD Gothic Neo"/>
                <a:cs typeface="Apple SD Gothic Neo"/>
              </a:rPr>
              <a:t>QM은 검사 제안 전 FAIL, RC는 종료·사용량 누락으로 INCOMPLETE다.</a:t>
            </a:r>
          </a:p>
        </p:txBody>
      </p:sp>
      <p:sp>
        <p:nvSpPr>
          <p:cNvPr id="7" name="">
            <a:extLst xmlns:a="http://schemas.openxmlformats.org/drawingml/2006/main">
              <a:ext uri="{FF2B5EF4-FFF2-40B4-BE49-F238E27FC236}">
                <a16:creationId xmlns:a16="http://schemas.microsoft.com/office/drawing/2014/main" id="{3CD76AE9-4AEE-4850-8F33-92D0B18938D7}"/>
              </a:ext>
            </a:extLst>
          </p:cNvPr>
          <p:cNvSpPr>
            <a:spLocks xmlns:a="http://schemas.openxmlformats.org/drawingml/2006/main" noGrp="1"/>
          </p:cNvSpPr>
          <p:nvPr/>
        </p:nvSpPr>
        <p:spPr>
          <a:xfrm xmlns:a="http://schemas.openxmlformats.org/drawingml/2006/main">
            <a:off x="685800" y="42672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B2C"/>
                </a:solidFill>
                <a:latin typeface="Apple SD Gothic Neo"/>
                <a:ea typeface="Apple SD Gothic Neo"/>
                <a:cs typeface="Apple SD Gothic Neo"/>
              </a:defRPr>
            </a:pPr>
            <a:r>
              <a:rPr sz="2250" b="1">
                <a:solidFill>
                  <a:srgbClr val="142B2C"/>
                </a:solidFill>
                <a:latin typeface="Apple SD Gothic Neo"/>
                <a:ea typeface="Apple SD Gothic Neo"/>
                <a:cs typeface="Apple SD Gothic Neo"/>
              </a:rPr>
              <a:t>현재 접근 gate와 인간 절차를 명시한다</a:t>
            </a:r>
          </a:p>
        </p:txBody>
      </p:sp>
      <p:sp>
        <p:nvSpPr>
          <p:cNvPr id="8" name="">
            <a:extLst xmlns:a="http://schemas.openxmlformats.org/drawingml/2006/main">
              <a:ext uri="{FF2B5EF4-FFF2-40B4-BE49-F238E27FC236}">
                <a16:creationId xmlns:a16="http://schemas.microsoft.com/office/drawing/2014/main" id="{ED7B8A03-F1A8-4DDA-8D8E-29F3B37BD804}"/>
              </a:ext>
            </a:extLst>
          </p:cNvPr>
          <p:cNvSpPr>
            <a:spLocks xmlns:a="http://schemas.openxmlformats.org/drawingml/2006/main" noGrp="1"/>
          </p:cNvSpPr>
          <p:nvPr/>
        </p:nvSpPr>
        <p:spPr>
          <a:xfrm xmlns:a="http://schemas.openxmlformats.org/drawingml/2006/main">
            <a:off x="685800" y="473392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B2C"/>
                </a:solidFill>
                <a:latin typeface="Apple SD Gothic Neo"/>
                <a:ea typeface="Apple SD Gothic Neo"/>
                <a:cs typeface="Apple SD Gothic Neo"/>
              </a:defRPr>
            </a:pPr>
            <a:r>
              <a:rPr sz="2025" b="0">
                <a:solidFill>
                  <a:srgbClr val="142B2C"/>
                </a:solidFill>
                <a:latin typeface="Apple SD Gothic Neo"/>
                <a:ea typeface="Apple SD Gothic Neo"/>
                <a:cs typeface="Apple SD Gothic Neo"/>
              </a:rPr>
              <a:t>Codex account 접근은 AUTHENTICATION이다. 인간 login 갱신 절차는 준비했고 실행하지 않았다.</a:t>
            </a:r>
          </a:p>
        </p:txBody>
      </p:sp>
      <p:sp>
        <p:nvSpPr>
          <p:cNvPr id="9" name="">
            <a:extLst xmlns:a="http://schemas.openxmlformats.org/drawingml/2006/main">
              <a:ext uri="{FF2B5EF4-FFF2-40B4-BE49-F238E27FC236}">
                <a16:creationId xmlns:a16="http://schemas.microsoft.com/office/drawing/2014/main" id="{D5569BF2-DB5D-4F92-A50D-70386AD6F236}"/>
              </a:ext>
            </a:extLst>
          </p:cNvPr>
          <p:cNvSpPr>
            <a:spLocks xmlns:a="http://schemas.openxmlformats.org/drawingml/2006/main" noGrp="1"/>
          </p:cNvSpPr>
          <p:nvPr/>
        </p:nvSpPr>
        <p:spPr>
          <a:xfrm xmlns:a="http://schemas.openxmlformats.org/drawingml/2006/main">
            <a:off x="685800" y="593407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667"/>
                </a:solidFill>
                <a:latin typeface="Apple SD Gothic Neo"/>
                <a:ea typeface="Apple SD Gothic Neo"/>
                <a:cs typeface="Apple SD Gothic Neo"/>
              </a:defRPr>
            </a:pPr>
            <a:r>
              <a:rPr sz="1575" b="0">
                <a:solidFill>
                  <a:srgbClr val="526667"/>
                </a:solidFill>
                <a:latin typeface="Apple SD Gothic Neo"/>
                <a:ea typeface="Apple SD Gothic Neo"/>
                <a:cs typeface="Apple SD Gothic Neo"/>
              </a:rPr>
              <a:t>5개 native 인수·Codex parity·실제 클라이언트 #35는 미완료다. 과거 PASS를 현재 source로 이월하지 않는다.</a:t>
            </a:r>
          </a:p>
        </p:txBody>
      </p:sp>
    </p:spTree>
    <p:extLst>
      <p:ext uri="{BB962C8B-B14F-4D97-AF65-F5344CB8AC3E}">
        <p14:creationId xmlns:p14="http://schemas.microsoft.com/office/powerpoint/2010/main" val="19321858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2026-10-05T16:42:03.5480000Z</dcterms:created>
  <dcterms:modified xsi:type="dcterms:W3CDTF">2026-10-05T16:42:03.5480000Z</dcterms:modified>
</coreProperties>
</file>